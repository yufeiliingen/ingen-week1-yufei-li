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a7f2eb40eb4db0" /><Relationship Type="http://schemas.openxmlformats.org/officeDocument/2006/relationships/extended-properties" Target="/docProps/app.xml" Id="Rec7922afae2b4358" /><Relationship Type="http://schemas.openxmlformats.org/officeDocument/2006/relationships/officeDocument" Target="/ppt/presentation.xml" Id="R13997ac411e2444f" /></Relationships>
</file>

<file path=ppt/presentation.xml><?xml version="1.0" encoding="utf-8"?>
<p:presentation xmlns:p="http://schemas.openxmlformats.org/presentationml/2006/main">
  <p:sldMasterIdLst>
    <p:sldMasterId xmlns:r="http://schemas.openxmlformats.org/officeDocument/2006/relationships" id="2147483648" r:id="R5830942b57aa4647"/>
  </p:sldMasterIdLst>
  <p:notesMasterIdLst>
    <p:notesMasterId xmlns:r="http://schemas.openxmlformats.org/officeDocument/2006/relationships" r:id="Rd92684eaba2840ea"/>
  </p:notesMasterIdLst>
  <p:sldIdLst>
    <p:sldId xmlns:r="http://schemas.openxmlformats.org/officeDocument/2006/relationships" id="256" r:id="R3c96552e27fa4e94"/>
    <p:sldId xmlns:r="http://schemas.openxmlformats.org/officeDocument/2006/relationships" id="257" r:id="R926abcd4cd05465d"/>
    <p:sldId xmlns:r="http://schemas.openxmlformats.org/officeDocument/2006/relationships" id="258" r:id="Rfff54a6d76c14d84"/>
    <p:sldId xmlns:r="http://schemas.openxmlformats.org/officeDocument/2006/relationships" id="259" r:id="R20979556926749f3"/>
    <p:sldId xmlns:r="http://schemas.openxmlformats.org/officeDocument/2006/relationships" id="260" r:id="Rb504e9af29c340af"/>
    <p:sldId xmlns:r="http://schemas.openxmlformats.org/officeDocument/2006/relationships" id="261" r:id="R5f984b458de54325"/>
    <p:sldId xmlns:r="http://schemas.openxmlformats.org/officeDocument/2006/relationships" id="262" r:id="R909a82f37f764b95"/>
    <p:sldId xmlns:r="http://schemas.openxmlformats.org/officeDocument/2006/relationships" id="263" r:id="R489a644b94ec420d"/>
    <p:sldId xmlns:r="http://schemas.openxmlformats.org/officeDocument/2006/relationships" id="264" r:id="Rb7d711e868f44200"/>
    <p:sldId xmlns:r="http://schemas.openxmlformats.org/officeDocument/2006/relationships" id="265" r:id="Ra713640dba4b4937"/>
    <p:sldId xmlns:r="http://schemas.openxmlformats.org/officeDocument/2006/relationships" id="266" r:id="R9fc6d885f88948ba"/>
    <p:sldId xmlns:r="http://schemas.openxmlformats.org/officeDocument/2006/relationships" id="267" r:id="R3c4a9be34f54433e"/>
    <p:sldId xmlns:r="http://schemas.openxmlformats.org/officeDocument/2006/relationships" id="268" r:id="Rebf7a9f05bd945d5"/>
    <p:sldId xmlns:r="http://schemas.openxmlformats.org/officeDocument/2006/relationships" id="269" r:id="Rf4aa4abc716b4a99"/>
    <p:sldId xmlns:r="http://schemas.openxmlformats.org/officeDocument/2006/relationships" id="270" r:id="R6dcfeaeb42ad4767"/>
    <p:sldId xmlns:r="http://schemas.openxmlformats.org/officeDocument/2006/relationships" id="271" r:id="Rac8d7e467a8247f7"/>
    <p:sldId xmlns:r="http://schemas.openxmlformats.org/officeDocument/2006/relationships" id="272" r:id="Rccb2de29f7ff449e"/>
    <p:sldId xmlns:r="http://schemas.openxmlformats.org/officeDocument/2006/relationships" id="273" r:id="R92c0f66564c64096"/>
    <p:sldId xmlns:r="http://schemas.openxmlformats.org/officeDocument/2006/relationships" id="274" r:id="Rec35761fbf984dc8"/>
    <p:sldId xmlns:r="http://schemas.openxmlformats.org/officeDocument/2006/relationships" id="275" r:id="R94f9c9af4e3c40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592d84ec864c44" /><Relationship Type="http://schemas.openxmlformats.org/officeDocument/2006/relationships/slideMaster" Target="/ppt/slideMasters/slideMaster1.xml" Id="R5830942b57aa4647" /><Relationship Type="http://schemas.openxmlformats.org/officeDocument/2006/relationships/notesMaster" Target="/ppt/notesMasters/notesMaster1.xml" Id="Rd92684eaba2840ea" /><Relationship Type="http://schemas.openxmlformats.org/officeDocument/2006/relationships/presProps" Target="/ppt/presProps.xml" Id="R616930309aa74729" /><Relationship Type="http://schemas.openxmlformats.org/officeDocument/2006/relationships/tableStyles" Target="/ppt/tableStyles.xml" Id="R3164fbb73ff44a8a" /><Relationship Type="http://schemas.openxmlformats.org/officeDocument/2006/relationships/slide" Target="/ppt/slides/slide1.xml" Id="R3c96552e27fa4e94" /><Relationship Type="http://schemas.openxmlformats.org/officeDocument/2006/relationships/slide" Target="/ppt/slides/slide2.xml" Id="R926abcd4cd05465d" /><Relationship Type="http://schemas.openxmlformats.org/officeDocument/2006/relationships/slide" Target="/ppt/slides/slide3.xml" Id="Rfff54a6d76c14d84" /><Relationship Type="http://schemas.openxmlformats.org/officeDocument/2006/relationships/slide" Target="/ppt/slides/slide4.xml" Id="R20979556926749f3" /><Relationship Type="http://schemas.openxmlformats.org/officeDocument/2006/relationships/slide" Target="/ppt/slides/slide5.xml" Id="Rb504e9af29c340af" /><Relationship Type="http://schemas.openxmlformats.org/officeDocument/2006/relationships/slide" Target="/ppt/slides/slide6.xml" Id="R5f984b458de54325" /><Relationship Type="http://schemas.openxmlformats.org/officeDocument/2006/relationships/slide" Target="/ppt/slides/slide7.xml" Id="R909a82f37f764b95" /><Relationship Type="http://schemas.openxmlformats.org/officeDocument/2006/relationships/slide" Target="/ppt/slides/slide8.xml" Id="R489a644b94ec420d" /><Relationship Type="http://schemas.openxmlformats.org/officeDocument/2006/relationships/slide" Target="/ppt/slides/slide9.xml" Id="Rb7d711e868f44200" /><Relationship Type="http://schemas.openxmlformats.org/officeDocument/2006/relationships/slide" Target="/ppt/slides/slide10.xml" Id="Ra713640dba4b4937" /><Relationship Type="http://schemas.openxmlformats.org/officeDocument/2006/relationships/slide" Target="/ppt/slides/slide11.xml" Id="R9fc6d885f88948ba" /><Relationship Type="http://schemas.openxmlformats.org/officeDocument/2006/relationships/slide" Target="/ppt/slides/slide12.xml" Id="R3c4a9be34f54433e" /><Relationship Type="http://schemas.openxmlformats.org/officeDocument/2006/relationships/slide" Target="/ppt/slides/slide13.xml" Id="Rebf7a9f05bd945d5" /><Relationship Type="http://schemas.openxmlformats.org/officeDocument/2006/relationships/slide" Target="/ppt/slides/slide14.xml" Id="Rf4aa4abc716b4a99" /><Relationship Type="http://schemas.openxmlformats.org/officeDocument/2006/relationships/slide" Target="/ppt/slides/slide15.xml" Id="R6dcfeaeb42ad4767" /><Relationship Type="http://schemas.openxmlformats.org/officeDocument/2006/relationships/slide" Target="/ppt/slides/slide16.xml" Id="Rac8d7e467a8247f7" /><Relationship Type="http://schemas.openxmlformats.org/officeDocument/2006/relationships/slide" Target="/ppt/slides/slide17.xml" Id="Rccb2de29f7ff449e" /><Relationship Type="http://schemas.openxmlformats.org/officeDocument/2006/relationships/slide" Target="/ppt/slides/slide18.xml" Id="R92c0f66564c64096" /><Relationship Type="http://schemas.openxmlformats.org/officeDocument/2006/relationships/slide" Target="/ppt/slides/slide19.xml" Id="Rec35761fbf984dc8" /><Relationship Type="http://schemas.openxmlformats.org/officeDocument/2006/relationships/slide" Target="/ppt/slides/slide20.xml" Id="R94f9c9af4e3c40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b9e78406a44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be335731d24e02" /><Relationship Type="http://schemas.openxmlformats.org/officeDocument/2006/relationships/notesMaster" Target="/ppt/notesMasters/notesMaster1.xml" Id="R25dafc1418444a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cf2d81241f4f5a" /><Relationship Type="http://schemas.openxmlformats.org/officeDocument/2006/relationships/notesMaster" Target="/ppt/notesMasters/notesMaster1.xml" Id="Rf7eabc3e265c4f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d3ce19330d45d2" /><Relationship Type="http://schemas.openxmlformats.org/officeDocument/2006/relationships/notesMaster" Target="/ppt/notesMasters/notesMaster1.xml" Id="R7967c0ffd2b844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454ccbb8224ef9" /><Relationship Type="http://schemas.openxmlformats.org/officeDocument/2006/relationships/notesMaster" Target="/ppt/notesMasters/notesMaster1.xml" Id="R9e3812313f5f49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9a9ae0a40c4b98" /><Relationship Type="http://schemas.openxmlformats.org/officeDocument/2006/relationships/notesMaster" Target="/ppt/notesMasters/notesMaster1.xml" Id="R82024a633bda47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5a735da5fb4d7b" /><Relationship Type="http://schemas.openxmlformats.org/officeDocument/2006/relationships/notesMaster" Target="/ppt/notesMasters/notesMaster1.xml" Id="R1f128d7c957e41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e0c33a77894e76" /><Relationship Type="http://schemas.openxmlformats.org/officeDocument/2006/relationships/notesMaster" Target="/ppt/notesMasters/notesMaster1.xml" Id="R49ba03bcb73948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a352c54bc347f0" /><Relationship Type="http://schemas.openxmlformats.org/officeDocument/2006/relationships/notesMaster" Target="/ppt/notesMasters/notesMaster1.xml" Id="R910112e83b634e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da7c3fff084cd3" /><Relationship Type="http://schemas.openxmlformats.org/officeDocument/2006/relationships/notesMaster" Target="/ppt/notesMasters/notesMaster1.xml" Id="Rf80563fdd5b648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71431af352474d" /><Relationship Type="http://schemas.openxmlformats.org/officeDocument/2006/relationships/notesMaster" Target="/ppt/notesMasters/notesMaster1.xml" Id="Reb4a4751b9cf41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ca2be540394803" /><Relationship Type="http://schemas.openxmlformats.org/officeDocument/2006/relationships/notesMaster" Target="/ppt/notesMasters/notesMaster1.xml" Id="R7f4b06c71f0844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9f4a1e3dee4e5f" /><Relationship Type="http://schemas.openxmlformats.org/officeDocument/2006/relationships/notesMaster" Target="/ppt/notesMasters/notesMaster1.xml" Id="R6a3a76a1f2ec43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d296b816654cfa" /><Relationship Type="http://schemas.openxmlformats.org/officeDocument/2006/relationships/notesMaster" Target="/ppt/notesMasters/notesMaster1.xml" Id="Rd8886824dd3945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6cbb6c07664470" /><Relationship Type="http://schemas.openxmlformats.org/officeDocument/2006/relationships/notesMaster" Target="/ppt/notesMasters/notesMaster1.xml" Id="R68e171623cd640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74af1ae2854923" /><Relationship Type="http://schemas.openxmlformats.org/officeDocument/2006/relationships/notesMaster" Target="/ppt/notesMasters/notesMaster1.xml" Id="R6af8340491f044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cb21652dd94c22" /><Relationship Type="http://schemas.openxmlformats.org/officeDocument/2006/relationships/notesMaster" Target="/ppt/notesMasters/notesMaster1.xml" Id="Rca5154d40bdd4f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1ff85d6b484c41" /><Relationship Type="http://schemas.openxmlformats.org/officeDocument/2006/relationships/notesMaster" Target="/ppt/notesMasters/notesMaster1.xml" Id="R2bc7749877ed4e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6ab0adad904864" /><Relationship Type="http://schemas.openxmlformats.org/officeDocument/2006/relationships/notesMaster" Target="/ppt/notesMasters/notesMaster1.xml" Id="Rd71479761c944f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0e36931bf042f5" /><Relationship Type="http://schemas.openxmlformats.org/officeDocument/2006/relationships/notesMaster" Target="/ppt/notesMasters/notesMaster1.xml" Id="R82786bb375e241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79d918a4bb64df1" /><Relationship Type="http://schemas.openxmlformats.org/officeDocument/2006/relationships/notesMaster" Target="/ppt/notesMasters/notesMaster1.xml" Id="Rba1e8fe4207e4b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October 20, 2026:</a:t>
            </a:r>
          </a:p>
          <a:p xmlns:a="http://schemas.openxmlformats.org/drawingml/2006/main">
            <a:r>
              <a:t>C: https://www.ingendynamics.com/</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https://www.ingendynamics.com/images/ingen-roverandhumenaiod.jpg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October 20, 2026:</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https://www.ingendynamics.com/images/KaiserandSentinal.jpg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perspective is presenter analysis.</a:t>
            </a:r>
          </a:p>
          <a:p xmlns:a="http://schemas.openxmlformats.org/drawingml/2006/main">
            <a:r>
              <a:t/>
            </a:r>
          </a:p>
          <a:p xmlns:a="http://schemas.openxmlformats.org/drawingml/2006/main">
            <a:r>
              <a:t>Sources accessed October 20, 2026:</a:t>
            </a:r>
          </a:p>
          <a:p xmlns:a="http://schemas.openxmlformats.org/drawingml/2006/main">
            <a:r>
              <a:t>A: https://www.arshadhisham.com/</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https://ingendynamics.com/blog/wp-content/themes/getaido/PDF/thumbs/TheFutureOfWork.jpg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D: https://www.manchester.ac.uk/about/news/the-university-of-manchester-to-collaborate-with-leading-innovator-in-ai-driven-automation-and-robotics/</a:t>
            </a:r>
          </a:p>
          <a:p xmlns:a="http://schemas.openxmlformats.org/drawingml/2006/main">
            <a:r>
              <a:t>E: https://www.sec.gov/Archives/edgar/data/1690888/000169088826000003/ingen_form_c-ar_20251.htm</a:t>
            </a:r>
          </a:p>
          <a:p xmlns:a="http://schemas.openxmlformats.org/drawingml/2006/main">
            <a:r>
              <a:t>F: https://markets.financialcontent.com/wedbush/article/einpresswire-2021-5-18-ingen-dynamics-wins-silver-in-the-smart-productivity-tools-category-at-the-2021-edison-awards</a:t>
            </a:r>
          </a:p>
          <a:p xmlns:a="http://schemas.openxmlformats.org/drawingml/2006/main">
            <a:r>
              <a:t/>
            </a:r>
          </a:p>
          <a:p xmlns:a="http://schemas.openxmlformats.org/drawingml/2006/main">
            <a:r>
              <a:t>Official company imagery:</a:t>
            </a:r>
          </a:p>
          <a:p xmlns:a="http://schemas.openxmlformats.org/drawingml/2006/main">
            <a:r>
              <a:t>https://www.ingendynamics.com/images/getaido-home.png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follow the annual report dated April 30, 2026. The company has no separately designated COO or CFO in that filing.</a:t>
            </a:r>
          </a:p>
          <a:p xmlns:a="http://schemas.openxmlformats.org/drawingml/2006/main">
            <a:r>
              <a:t/>
            </a:r>
          </a:p>
          <a:p xmlns:a="http://schemas.openxmlformats.org/drawingml/2006/main">
            <a:r>
              <a:t>Sources accessed October 20, 2026:</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https://www.ingendynamics.com/images/team/photo-1.jpg</a:t>
            </a:r>
          </a:p>
          <a:p xmlns:a="http://schemas.openxmlformats.org/drawingml/2006/main">
            <a:r>
              <a:t>https://www.ingendynamics.com/images/team/Rajeeb-Verma.jpg</a:t>
            </a:r>
          </a:p>
          <a:p xmlns:a="http://schemas.openxmlformats.org/drawingml/2006/main">
            <a:r>
              <a:t>https://www.ingendynamics.com/images/team/Diana_Chuyko.jpg</a:t>
            </a:r>
          </a:p>
          <a:p xmlns:a="http://schemas.openxmlformats.org/drawingml/2006/main">
            <a:r>
              <a:t>Marketing role and responsibilities follow the April 30, 2026 annual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company website labels, not independent certifications. The 2026 annual report also describes earlier Aido shipments. Shipping an earlier generation does not establish that the full current platform is complete.</a:t>
            </a:r>
          </a:p>
          <a:p xmlns:a="http://schemas.openxmlformats.org/drawingml/2006/main">
            <a:r>
              <a:t/>
            </a:r>
          </a:p>
          <a:p xmlns:a="http://schemas.openxmlformats.org/drawingml/2006/main">
            <a:r>
              <a:t>Sources accessed October 20, 2026:</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https://www.ingendynamics.com/images/oursolution-Info-graphics.jpg</a:t>
            </a:r>
          </a:p>
          <a:p xmlns:a="http://schemas.openxmlformats.org/drawingml/2006/main">
            <a:r>
              <a:t>The roadmap artwork is a company illustration, not proof of product availability or a verified launch schedule. Current status follows the labels in the slide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implication is presenter analysis, not a proven cost saving.</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https://www.ingendynamics.com/images/origami-product.jpg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priority is presenter analysis. No independent accuracy measurement is provided.</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https://ingendynamics.com/blog/wp-content/themes/getaido/PDF/thumbs/04TheFutureOfSecurityandSurveilance.jpg</a:t>
            </a:r>
          </a:p>
          <a:p xmlns:a="http://schemas.openxmlformats.org/drawingml/2006/main">
            <a:r>
              <a:t>https://www.ingendynamics.com/images/Sentinel-Prime.jpg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priority is presenter analysis. This image is the company’s combined Kaiser and Sentinel artwork.</a:t>
            </a:r>
          </a:p>
          <a:p xmlns:a="http://schemas.openxmlformats.org/drawingml/2006/main">
            <a:r>
              <a:t/>
            </a:r>
          </a:p>
          <a:p xmlns:a="http://schemas.openxmlformats.org/drawingml/2006/main">
            <a:r>
              <a:t>Sources accessed October 20, 2026:</a:t>
            </a:r>
          </a:p>
          <a:p xmlns:a="http://schemas.openxmlformats.org/drawingml/2006/main">
            <a:r>
              <a:t>A: https://www.arshadhisham.com/</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https://www.ingendynamics.com/images/KaiserPicutre.jpg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website maturity and historical first-generation shipments describe different stages of the platform.</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E: https://www.sec.gov/Archives/edgar/data/1690888/000169088826000003/ingen_form_c-ar_20251.htm</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https://www.ingendynamics.com/images/Mobility-11.jpg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priority is presenter analysis. Intended functions do not establish deployed performance.</a:t>
            </a:r>
          </a:p>
          <a:p xmlns:a="http://schemas.openxmlformats.org/drawingml/2006/main">
            <a:r>
              <a:t/>
            </a:r>
          </a:p>
          <a:p xmlns:a="http://schemas.openxmlformats.org/drawingml/2006/main">
            <a:r>
              <a:t>Sources accessed October 20, 2026:</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https://www.ingendynamics.com/images/products/carry_go-1.jpg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priority is presenter analysis. No clinical effectiveness claim is made.</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D: https://www.manchester.ac.uk/about/news/the-university-of-manchester-to-collaborate-with-leading-innovator-in-ai-driven-automation-and-robotics/</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https://www.ingendynamics.com/images/fari.jpg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priority is presenter analysis. The university announcement sets out planned work, rather than completed outcome studies.</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D: https://www.manchester.ac.uk/about/news/the-university-of-manchester-to-collaborate-with-leading-innovator-in-ai-driven-automation-and-robotics/</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https://www.ingendynamics.com/images/senpai-picture.jpg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challenge is presenter analysis. The official image depicts a company research concept, not evidence of commercial availability.</a:t>
            </a:r>
          </a:p>
          <a:p xmlns:a="http://schemas.openxmlformats.org/drawingml/2006/main">
            <a:r>
              <a:t/>
            </a:r>
          </a:p>
          <a:p xmlns:a="http://schemas.openxmlformats.org/drawingml/2006/main">
            <a:r>
              <a:t>Sources accessed October 20, 2026:</a:t>
            </a:r>
          </a:p>
          <a:p xmlns:a="http://schemas.openxmlformats.org/drawingml/2006/main">
            <a:r>
              <a:t>C: https://www.ingendynamics.com/</a:t>
            </a:r>
          </a:p>
          <a:p xmlns:a="http://schemas.openxmlformats.org/drawingml/2006/main">
            <a:r>
              <a:t/>
            </a:r>
          </a:p>
          <a:p xmlns:a="http://schemas.openxmlformats.org/drawingml/2006/main">
            <a:r>
              <a:t>Official company imagery:</a:t>
            </a:r>
          </a:p>
          <a:p xmlns:a="http://schemas.openxmlformats.org/drawingml/2006/main">
            <a:r>
              <a:t>https://www.ingendynamics.com/images/inGen-Rover.jpg</a:t>
            </a:r>
          </a:p>
          <a:p xmlns:a="http://schemas.openxmlformats.org/drawingml/2006/main">
            <a:r>
              <a:t>https://www.ingendynamics.com/images/inGen-Humanoid0001.jpg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2025 annual report says recurring software and platform services remain under development. These channels are a business model, not an assertion that each generates material current revenue.</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https://www.ingendynamics.com/images/Kobe-picture.jpg</a:t>
            </a:r>
          </a:p>
          <a:p xmlns:a="http://schemas.openxmlformats.org/drawingml/2006/main">
            <a:r>
              <a:t>https://www.ingendynamics.com/images/products/wheel_Mobility.jpg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University of Manchester, April 10, 2025. An MoU sets out a collaboration agenda. Do not interpret proposed activities as completed programmes or measured outcomes.</a:t>
            </a:r>
          </a:p>
          <a:p xmlns:a="http://schemas.openxmlformats.org/drawingml/2006/main">
            <a:r>
              <a:t/>
            </a:r>
          </a:p>
          <a:p xmlns:a="http://schemas.openxmlformats.org/drawingml/2006/main">
            <a:r>
              <a:t>Sources accessed October 20, 2026:</a:t>
            </a:r>
          </a:p>
          <a:p xmlns:a="http://schemas.openxmlformats.org/drawingml/2006/main">
            <a:r>
              <a:t>D: https://www.manchester.ac.uk/about/news/the-university-of-manchester-to-collaborate-with-leading-innovator-in-ai-driven-automation-and-robotics/</a:t>
            </a:r>
          </a:p>
          <a:p xmlns:a="http://schemas.openxmlformats.org/drawingml/2006/main">
            <a:r>
              <a:t/>
            </a:r>
          </a:p>
          <a:p xmlns:a="http://schemas.openxmlformats.org/drawingml/2006/main">
            <a:r>
              <a:t>Official company imagery:</a:t>
            </a:r>
          </a:p>
          <a:p xmlns:a="http://schemas.openxmlformats.org/drawingml/2006/main">
            <a:r>
              <a:t>https://www.ingendynamics.com/images/products/inGen_futurenauts.jpg</a:t>
            </a:r>
          </a:p>
          <a:p xmlns:a="http://schemas.openxmlformats.org/drawingml/2006/main">
            <a:r>
              <a:t>https://assets.manchester.ac.uk/corporate/images/design/logo-university-of-manchester.png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annual report is dated April 30, 2026. Figures relate to the U.S. issuer and its reporting perimeter. Conditional capacity is not cash raised. Website revenue pipeline is not recognized revenue. India related-party activities are not consolidated as company revenue in this filing.</a:t>
            </a:r>
          </a:p>
          <a:p xmlns:a="http://schemas.openxmlformats.org/drawingml/2006/main">
            <a:r>
              <a:t/>
            </a:r>
          </a:p>
          <a:p xmlns:a="http://schemas.openxmlformats.org/drawingml/2006/main">
            <a:r>
              <a:t>Sources accessed October 20, 2026:</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presenter recommendations, not commitments or guidance issued by the company. Relevant disclosed risks include financing dependence, product development, competition and supply-chain disruption.</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E: https://www.sec.gov/Archives/edgar/data/1690888/000169088826000003/ingen_form_c-ar_20251.htm</a:t>
            </a:r>
          </a:p>
          <a:p xmlns:a="http://schemas.openxmlformats.org/drawingml/2006/main">
            <a:r>
              <a:t/>
            </a:r>
          </a:p>
          <a:p xmlns:a="http://schemas.openxmlformats.org/drawingml/2006/main">
            <a:r>
              <a:t>Official company imagery:</a:t>
            </a:r>
          </a:p>
          <a:p xmlns:a="http://schemas.openxmlformats.org/drawingml/2006/main">
            <a:r>
              <a:t>https://ingendynamics.com/blog/wp-content/themes/getaido/PDF/thumbs/12TheFutureofroboticsAIDevelopment.jpg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point is presenter analysis, not a forecast. Product availability, commitments and completed revenues should be assessed separately.</a:t>
            </a:r>
          </a:p>
          <a:p xmlns:a="http://schemas.openxmlformats.org/drawingml/2006/main">
            <a:r>
              <a:t/>
            </a:r>
          </a:p>
          <a:p xmlns:a="http://schemas.openxmlformats.org/drawingml/2006/main">
            <a:r>
              <a:t>Sources accessed October 20, 2026:</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D: https://www.manchester.ac.uk/about/news/the-university-of-manchester-to-collaborate-with-leading-innovator-in-ai-driven-automation-and-robotics/</a:t>
            </a:r>
          </a:p>
          <a:p xmlns:a="http://schemas.openxmlformats.org/drawingml/2006/main">
            <a:r>
              <a:t>E: https://www.sec.gov/Archives/edgar/data/1690888/000169088826000003/ingen_form_c-ar_20251.htm</a:t>
            </a:r>
          </a:p>
          <a:p xmlns:a="http://schemas.openxmlformats.org/drawingml/2006/main">
            <a:r>
              <a:t>F: https://markets.financialcontent.com/wedbush/article/einpresswire-2021-5-18-ingen-dynamics-wins-silver-in-the-smart-productivity-tools-category-at-the-2021-edison-awards</a:t>
            </a:r>
          </a:p>
          <a:p xmlns:a="http://schemas.openxmlformats.org/drawingml/2006/main">
            <a:r>
              <a:t/>
            </a:r>
          </a:p>
          <a:p xmlns:a="http://schemas.openxmlformats.org/drawingml/2006/main">
            <a:r>
              <a:t>Official company imagery:</a:t>
            </a:r>
          </a:p>
          <a:p xmlns:a="http://schemas.openxmlformats.org/drawingml/2006/main">
            <a:r>
              <a:t>https://ingendynamics.com/blog/wp-content/themes/getaido/PDF/thumbs/05TheFutureOfHomeAutomation.jpg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October 20, 2026:</a:t>
            </a:r>
          </a:p>
          <a:p xmlns:a="http://schemas.openxmlformats.org/drawingml/2006/main">
            <a:r>
              <a:t>A: https://www.arshadhisham.com/</a:t>
            </a:r>
          </a:p>
          <a:p xmlns:a="http://schemas.openxmlformats.org/drawingml/2006/main">
            <a:r>
              <a:t>B: https://www.sec.gov/Archives/edgar/data/1690888/000121390023031471/ea177248-1a_ingen.htm</a:t>
            </a:r>
          </a:p>
          <a:p xmlns:a="http://schemas.openxmlformats.org/drawingml/2006/main">
            <a:r>
              <a:t>C: https://www.ingendynamics.com/</a:t>
            </a:r>
          </a:p>
          <a:p xmlns:a="http://schemas.openxmlformats.org/drawingml/2006/main">
            <a:r>
              <a:t>D: https://www.manchester.ac.uk/about/news/the-university-of-manchester-to-collaborate-with-leading-innovator-in-ai-driven-automation-and-robotics/</a:t>
            </a:r>
          </a:p>
          <a:p xmlns:a="http://schemas.openxmlformats.org/drawingml/2006/main">
            <a:r>
              <a:t>E: https://www.sec.gov/Archives/edgar/data/1690888/000169088826000003/ingen_form_c-ar_20251.htm</a:t>
            </a:r>
          </a:p>
          <a:p xmlns:a="http://schemas.openxmlformats.org/drawingml/2006/main">
            <a:r>
              <a:t>F: https://markets.financialcontent.com/wedbush/article/einpresswire-2021-5-18-ingen-dynamics-wins-silver-in-the-smart-productivity-tools-category-at-the-2021-edison-awards</a:t>
            </a:r>
          </a:p>
          <a:p xmlns:a="http://schemas.openxmlformats.org/drawingml/2006/main">
            <a:r>
              <a:t/>
            </a:r>
          </a:p>
          <a:p xmlns:a="http://schemas.openxmlformats.org/drawingml/2006/main">
            <a:r>
              <a:t>Official company imagery: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69bb63327148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37b7b017f84b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6b0b20ff4b48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0190a29c754f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7783de493949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9f4f24796043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50D352-0D3E-4C8D-AA91-5E9FD86029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D6F4D0-7FFC-40A2-8E96-8EF0D90D0D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485D71-E211-4CC5-83AF-45C48C14F6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82DF22-DE42-4B7A-BD5C-E77E8837C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11AA03-A5CC-4DCF-8B12-1E290CDFE1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70FEF0-C126-4AEE-9E52-CD98C435D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75F6D7-351A-4994-8CC0-EF8ECCF3D5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EA9C54-5B43-41F1-9D2D-9091F5C7B7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7BFC05-6C3A-48CB-9806-BF89D767C3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E5B6B1-A3D0-4535-BFD1-6CCF60DAF7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9add7f24cc4d9c" /><Relationship Type="http://schemas.openxmlformats.org/officeDocument/2006/relationships/slideLayout" Target="/ppt/slideLayouts/slideLayout1.xml" Id="R861e72d68de24433" /><Relationship Type="http://schemas.openxmlformats.org/officeDocument/2006/relationships/slideLayout" Target="/ppt/slideLayouts/slideLayout2.xml" Id="R310a8f32709b4623" /><Relationship Type="http://schemas.openxmlformats.org/officeDocument/2006/relationships/slideLayout" Target="/ppt/slideLayouts/slideLayout3.xml" Id="R6b5c0a4af20b4787" /><Relationship Type="http://schemas.openxmlformats.org/officeDocument/2006/relationships/slideLayout" Target="/ppt/slideLayouts/slideLayout4.xml" Id="Red7a628a0aab45aa" /><Relationship Type="http://schemas.openxmlformats.org/officeDocument/2006/relationships/slideLayout" Target="/ppt/slideLayouts/slideLayout5.xml" Id="R609fbb208d24474c" /><Relationship Type="http://schemas.openxmlformats.org/officeDocument/2006/relationships/slideLayout" Target="/ppt/slideLayouts/slideLayout6.xml" Id="R7df259c862a04e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1e72d68de24433"/>
    <p:sldLayoutId xmlns:r="http://schemas.openxmlformats.org/officeDocument/2006/relationships" id="2147483650" r:id="R310a8f32709b4623"/>
    <p:sldLayoutId xmlns:r="http://schemas.openxmlformats.org/officeDocument/2006/relationships" id="2147483651" r:id="R6b5c0a4af20b4787"/>
    <p:sldLayoutId xmlns:r="http://schemas.openxmlformats.org/officeDocument/2006/relationships" id="2147483652" r:id="Red7a628a0aab45aa"/>
    <p:sldLayoutId xmlns:r="http://schemas.openxmlformats.org/officeDocument/2006/relationships" id="2147483653" r:id="R609fbb208d24474c"/>
    <p:sldLayoutId xmlns:r="http://schemas.openxmlformats.org/officeDocument/2006/relationships" id="2147483654" r:id="R7df259c862a04e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90c80d34dc48e3" /><Relationship Type="http://schemas.openxmlformats.org/officeDocument/2006/relationships/image" Target="/ppt/media/image.jpeg" Id="R685d81dc08634e36" /><Relationship Type="http://schemas.openxmlformats.org/officeDocument/2006/relationships/notesSlide" Target="/ppt/notesSlides/notesSlide1.xml" Id="Rb3890e1f663148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82bd01b5134f62" /><Relationship Type="http://schemas.openxmlformats.org/officeDocument/2006/relationships/image" Target="/ppt/media/image2.jpeg" Id="R29162f4e7f174418" /><Relationship Type="http://schemas.openxmlformats.org/officeDocument/2006/relationships/notesSlide" Target="/ppt/notesSlides/notesSlide2.xml" Id="R1a9f6d50f0ee47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9bfcd3e6bc4efd" /><Relationship Type="http://schemas.openxmlformats.org/officeDocument/2006/relationships/image" Target="/ppt/media/image3.jpeg" Id="R253588ff032943e6" /><Relationship Type="http://schemas.openxmlformats.org/officeDocument/2006/relationships/notesSlide" Target="/ppt/notesSlides/notesSlide3.xml" Id="R876c5d3cebe843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0b07b3233d4a1c" /><Relationship Type="http://schemas.openxmlformats.org/officeDocument/2006/relationships/image" Target="/ppt/media/image.png" Id="Rc5136757555b465b" /><Relationship Type="http://schemas.openxmlformats.org/officeDocument/2006/relationships/notesSlide" Target="/ppt/notesSlides/notesSlide4.xml" Id="Re1d8bf0373a34b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59c79ab8f54762" /><Relationship Type="http://schemas.openxmlformats.org/officeDocument/2006/relationships/image" Target="/ppt/media/image4.jpeg" Id="R646d7c7ad82943fc" /><Relationship Type="http://schemas.openxmlformats.org/officeDocument/2006/relationships/image" Target="/ppt/media/image5.jpeg" Id="R106b7b4a8a654c91" /><Relationship Type="http://schemas.openxmlformats.org/officeDocument/2006/relationships/image" Target="/ppt/media/image6.jpeg" Id="R8755850daf4749ff" /><Relationship Type="http://schemas.openxmlformats.org/officeDocument/2006/relationships/notesSlide" Target="/ppt/notesSlides/notesSlide5.xml" Id="Rbebbc8ec371447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d37c58b59846a8" /><Relationship Type="http://schemas.openxmlformats.org/officeDocument/2006/relationships/image" Target="/ppt/media/image7.jpeg" Id="R52ea9c87aee64808" /><Relationship Type="http://schemas.openxmlformats.org/officeDocument/2006/relationships/notesSlide" Target="/ppt/notesSlides/notesSlide6.xml" Id="R6d0a7bdc6d8641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5d3d0b0a694234" /><Relationship Type="http://schemas.openxmlformats.org/officeDocument/2006/relationships/image" Target="/ppt/media/image8.jpeg" Id="Ra1b6bb80de2a4b3e" /><Relationship Type="http://schemas.openxmlformats.org/officeDocument/2006/relationships/notesSlide" Target="/ppt/notesSlides/notesSlide7.xml" Id="R26e26564cda649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3e0cd65cfb4a9d" /><Relationship Type="http://schemas.openxmlformats.org/officeDocument/2006/relationships/image" Target="/ppt/media/image9.jpeg" Id="Rf9a83b16b1484678" /><Relationship Type="http://schemas.openxmlformats.org/officeDocument/2006/relationships/image" Target="/ppt/media/image10.jpeg" Id="Ra7185f2a01614e69" /><Relationship Type="http://schemas.openxmlformats.org/officeDocument/2006/relationships/notesSlide" Target="/ppt/notesSlides/notesSlide8.xml" Id="Rcd53eb101e374e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acada4df764071" /><Relationship Type="http://schemas.openxmlformats.org/officeDocument/2006/relationships/image" Target="/ppt/media/image11.jpeg" Id="Rc0514488fe6c4f07" /><Relationship Type="http://schemas.openxmlformats.org/officeDocument/2006/relationships/notesSlide" Target="/ppt/notesSlides/notesSlide9.xml" Id="R112508a2cd334f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c01f19916aa4b55" /><Relationship Type="http://schemas.openxmlformats.org/officeDocument/2006/relationships/image" Target="/ppt/media/image12.jpeg" Id="R2e5d4b4d48ab4388" /><Relationship Type="http://schemas.openxmlformats.org/officeDocument/2006/relationships/notesSlide" Target="/ppt/notesSlides/notesSlide10.xml" Id="R7ca0d50b171c43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974d53f2544846" /><Relationship Type="http://schemas.openxmlformats.org/officeDocument/2006/relationships/image" Target="/ppt/media/image13.jpeg" Id="Rd06341abbc3c43dd" /><Relationship Type="http://schemas.openxmlformats.org/officeDocument/2006/relationships/notesSlide" Target="/ppt/notesSlides/notesSlide11.xml" Id="Ra8ba980722ad47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704f439bb04256" /><Relationship Type="http://schemas.openxmlformats.org/officeDocument/2006/relationships/image" Target="/ppt/media/image14.jpeg" Id="R69daab975fba4bc9" /><Relationship Type="http://schemas.openxmlformats.org/officeDocument/2006/relationships/notesSlide" Target="/ppt/notesSlides/notesSlide12.xml" Id="R54346daa8c1f41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c5fb18b26784390" /><Relationship Type="http://schemas.openxmlformats.org/officeDocument/2006/relationships/image" Target="/ppt/media/image15.jpeg" Id="Rd840233e578440c0" /><Relationship Type="http://schemas.openxmlformats.org/officeDocument/2006/relationships/notesSlide" Target="/ppt/notesSlides/notesSlide13.xml" Id="R28cd4e66f9004f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04f96487e504806" /><Relationship Type="http://schemas.openxmlformats.org/officeDocument/2006/relationships/image" Target="/ppt/media/image16.jpeg" Id="Rb656deb3e6a14e47" /><Relationship Type="http://schemas.openxmlformats.org/officeDocument/2006/relationships/image" Target="/ppt/media/image17.jpeg" Id="R07dd97765b494645" /><Relationship Type="http://schemas.openxmlformats.org/officeDocument/2006/relationships/notesSlide" Target="/ppt/notesSlides/notesSlide14.xml" Id="R006d80fc6f9147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4481669a10242ba" /><Relationship Type="http://schemas.openxmlformats.org/officeDocument/2006/relationships/image" Target="/ppt/media/image18.jpeg" Id="R8bea7dadc92c405d" /><Relationship Type="http://schemas.openxmlformats.org/officeDocument/2006/relationships/image" Target="/ppt/media/image19.jpeg" Id="R1c3d47cf7a0b4b04" /><Relationship Type="http://schemas.openxmlformats.org/officeDocument/2006/relationships/notesSlide" Target="/ppt/notesSlides/notesSlide15.xml" Id="R0e4f59e2b4d14b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fdb74019914085" /><Relationship Type="http://schemas.openxmlformats.org/officeDocument/2006/relationships/image" Target="/ppt/media/image20.jpeg" Id="R8452e008c64d494d" /><Relationship Type="http://schemas.openxmlformats.org/officeDocument/2006/relationships/image" Target="/ppt/media/image2.png" Id="R14191bd02c9a47e0" /><Relationship Type="http://schemas.openxmlformats.org/officeDocument/2006/relationships/notesSlide" Target="/ppt/notesSlides/notesSlide16.xml" Id="R9a2c91cae1a14a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bd4795c6e54a21" /><Relationship Type="http://schemas.openxmlformats.org/officeDocument/2006/relationships/notesSlide" Target="/ppt/notesSlides/notesSlide17.xml" Id="Rece689edc1214f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ec635dd2c94c67" /><Relationship Type="http://schemas.openxmlformats.org/officeDocument/2006/relationships/image" Target="/ppt/media/image21.jpeg" Id="R0b8b29ceafeb451d" /><Relationship Type="http://schemas.openxmlformats.org/officeDocument/2006/relationships/notesSlide" Target="/ppt/notesSlides/notesSlide18.xml" Id="R0712d6f2ed4942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4b1474a4740465f" /><Relationship Type="http://schemas.openxmlformats.org/officeDocument/2006/relationships/image" Target="/ppt/media/image22.jpeg" Id="Rc9038e9c44574c0a" /><Relationship Type="http://schemas.openxmlformats.org/officeDocument/2006/relationships/notesSlide" Target="/ppt/notesSlides/notesSlide19.xml" Id="Rb72a6d7a065e41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9499879b7b24cc3" /><Relationship Type="http://schemas.openxmlformats.org/officeDocument/2006/relationships/notesSlide" Target="/ppt/notesSlides/notesSlide20.xml" Id="R008c4163c19e4526" /></Relationships>
</file>

<file path=ppt/slides/slide1.xml><?xml version="1.0" encoding="utf-8"?>
<p:sld xmlns:p="http://schemas.openxmlformats.org/presentationml/2006/main">
  <p:cSld>
    <p:bg>
      <p:bgPr>
        <a:solidFill xmlns:a="http://schemas.openxmlformats.org/drawingml/2006/main">
          <a:srgbClr val="12263D"/>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D9DD3A48-7857-4321-91C4-BF7F6EB8F395}"/>
              </a:ext>
            </a:extLst>
          </p:cNvPr>
          <p:cNvPicPr>
            <a:picLocks xmlns:a="http://schemas.openxmlformats.org/drawingml/2006/main" noChangeAspect="1"/>
          </p:cNvPicPr>
          <p:nvPr/>
        </p:nvPicPr>
        <p:blipFill>
          <a:blip xmlns:r="http://schemas.openxmlformats.org/officeDocument/2006/relationships" xmlns:a="http://schemas.openxmlformats.org/drawingml/2006/main" r:embed="R685d81dc08634e36"/>
          <a:stretch xmlns:a="http://schemas.openxmlformats.org/drawingml/2006/main"/>
        </p:blipFill>
        <p:spPr>
          <a:xfrm xmlns:a="http://schemas.openxmlformats.org/drawingml/2006/main">
            <a:off x="6686550" y="1698171"/>
            <a:ext cx="4953000" cy="3537857"/>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CF7D2449-EC3E-48AB-B834-2B5138C6BF58}"/>
              </a:ext>
            </a:extLst>
          </p:cNvPr>
          <p:cNvSpPr>
            <a:spLocks xmlns:a="http://schemas.openxmlformats.org/drawingml/2006/main" noGrp="1"/>
          </p:cNvSpPr>
          <p:nvPr/>
        </p:nvSpPr>
        <p:spPr>
          <a:xfrm xmlns:a="http://schemas.openxmlformats.org/drawingml/2006/main">
            <a:off x="685800" y="1714500"/>
            <a:ext cx="609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5700" b="1">
                <a:solidFill>
                  <a:srgbClr val="FFFFFF"/>
                </a:solidFill>
                <a:latin typeface="Aptos"/>
                <a:ea typeface="Aptos"/>
                <a:cs typeface="Aptos"/>
              </a:defRPr>
            </a:defPPr>
            <a:lvl1pPr>
              <a:defRPr sz="5700" b="1">
                <a:solidFill>
                  <a:srgbClr val="FFFFFF"/>
                </a:solidFill>
                <a:latin typeface="Aptos"/>
                <a:ea typeface="Aptos"/>
                <a:cs typeface="Aptos"/>
              </a:defRPr>
            </a:lvl1pPr>
            <a:lvl2pPr>
              <a:defRPr sz="5700" b="1">
                <a:solidFill>
                  <a:srgbClr val="FFFFFF"/>
                </a:solidFill>
                <a:latin typeface="Aptos"/>
                <a:ea typeface="Aptos"/>
                <a:cs typeface="Aptos"/>
              </a:defRPr>
            </a:lvl2pPr>
            <a:lvl3pPr>
              <a:defRPr sz="5700" b="1">
                <a:solidFill>
                  <a:srgbClr val="FFFFFF"/>
                </a:solidFill>
                <a:latin typeface="Aptos"/>
                <a:ea typeface="Aptos"/>
                <a:cs typeface="Aptos"/>
              </a:defRPr>
            </a:lvl3pPr>
            <a:lvl4pPr>
              <a:defRPr sz="5700" b="1">
                <a:solidFill>
                  <a:srgbClr val="FFFFFF"/>
                </a:solidFill>
                <a:latin typeface="Aptos"/>
                <a:ea typeface="Aptos"/>
                <a:cs typeface="Aptos"/>
              </a:defRPr>
            </a:lvl4pPr>
            <a:lvl5pPr>
              <a:defRPr sz="5700" b="1">
                <a:solidFill>
                  <a:srgbClr val="FFFFFF"/>
                </a:solidFill>
                <a:latin typeface="Aptos"/>
                <a:ea typeface="Aptos"/>
                <a:cs typeface="Aptos"/>
              </a:defRPr>
            </a:lvl5pPr>
            <a:lvl6pPr>
              <a:defRPr sz="5700" b="1">
                <a:solidFill>
                  <a:srgbClr val="FFFFFF"/>
                </a:solidFill>
                <a:latin typeface="Aptos"/>
                <a:ea typeface="Aptos"/>
                <a:cs typeface="Aptos"/>
              </a:defRPr>
            </a:lvl6pPr>
            <a:lvl7pPr>
              <a:defRPr sz="5700" b="1">
                <a:solidFill>
                  <a:srgbClr val="FFFFFF"/>
                </a:solidFill>
                <a:latin typeface="Aptos"/>
                <a:ea typeface="Aptos"/>
                <a:cs typeface="Aptos"/>
              </a:defRPr>
            </a:lvl7pPr>
            <a:lvl8pPr>
              <a:defRPr sz="5700" b="1">
                <a:solidFill>
                  <a:srgbClr val="FFFFFF"/>
                </a:solidFill>
                <a:latin typeface="Aptos"/>
                <a:ea typeface="Aptos"/>
                <a:cs typeface="Aptos"/>
              </a:defRPr>
            </a:lvl8pPr>
            <a:lvl9pPr>
              <a:defRPr sz="5700" b="1">
                <a:solidFill>
                  <a:srgbClr val="FFFFFF"/>
                </a:solidFill>
                <a:latin typeface="Aptos"/>
                <a:ea typeface="Aptos"/>
                <a:cs typeface="Aptos"/>
              </a:defRPr>
            </a:lvl9pPr>
          </a:lstStyle>
          <a:p xmlns:a="http://schemas.openxmlformats.org/drawingml/2006/main">
            <a:pPr>
              <a:defRPr sz="5700" b="1">
                <a:solidFill>
                  <a:srgbClr val="FFFFFF"/>
                </a:solidFill>
                <a:latin typeface="Aptos"/>
                <a:ea typeface="Aptos"/>
                <a:cs typeface="Aptos"/>
              </a:defRPr>
            </a:pPr>
            <a:r>
              <a:rPr sz="5700" b="1">
                <a:solidFill>
                  <a:srgbClr val="FFFFFF"/>
                </a:solidFill>
                <a:latin typeface="Aptos"/>
                <a:ea typeface="Aptos"/>
                <a:cs typeface="Aptos"/>
              </a:rPr>
              <a:t>inGen</a:t>
            </a:r>
          </a:p>
          <a:p xmlns:a="http://schemas.openxmlformats.org/drawingml/2006/main">
            <a:pPr>
              <a:defRPr sz="5700" b="1">
                <a:solidFill>
                  <a:srgbClr val="FFFFFF"/>
                </a:solidFill>
                <a:latin typeface="Aptos"/>
                <a:ea typeface="Aptos"/>
                <a:cs typeface="Aptos"/>
              </a:defRPr>
            </a:pPr>
            <a:r>
              <a:rPr sz="5700" b="1">
                <a:solidFill>
                  <a:srgbClr val="FFFFFF"/>
                </a:solidFill>
                <a:latin typeface="Aptos"/>
                <a:ea typeface="Aptos"/>
                <a:cs typeface="Aptos"/>
              </a:rPr>
              <a:t>Dynamics</a:t>
            </a:r>
          </a:p>
        </p:txBody>
      </p:sp>
      <p:sp>
        <p:nvSpPr>
          <p:cNvPr id="3" name="text-1">
            <a:extLst xmlns:a="http://schemas.openxmlformats.org/drawingml/2006/main">
              <a:ext uri="{FF2B5EF4-FFF2-40B4-BE49-F238E27FC236}">
                <a16:creationId xmlns:a16="http://schemas.microsoft.com/office/drawing/2014/main" id="{CD48646F-1D8E-4F9A-A41A-6FF3D838B2CD}"/>
              </a:ext>
            </a:extLst>
          </p:cNvPr>
          <p:cNvSpPr>
            <a:spLocks xmlns:a="http://schemas.openxmlformats.org/drawingml/2006/main" noGrp="1"/>
          </p:cNvSpPr>
          <p:nvPr/>
        </p:nvSpPr>
        <p:spPr>
          <a:xfrm xmlns:a="http://schemas.openxmlformats.org/drawingml/2006/main">
            <a:off x="723900" y="3857625"/>
            <a:ext cx="5667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0">
                <a:solidFill>
                  <a:srgbClr val="DCE5EF"/>
                </a:solidFill>
                <a:latin typeface="Aptos"/>
                <a:ea typeface="Aptos"/>
                <a:cs typeface="Aptos"/>
              </a:defRPr>
            </a:defPPr>
            <a:lvl1pPr>
              <a:defRPr sz="2100" b="0">
                <a:solidFill>
                  <a:srgbClr val="DCE5EF"/>
                </a:solidFill>
                <a:latin typeface="Aptos"/>
                <a:ea typeface="Aptos"/>
                <a:cs typeface="Aptos"/>
              </a:defRPr>
            </a:lvl1pPr>
            <a:lvl2pPr>
              <a:defRPr sz="2100" b="0">
                <a:solidFill>
                  <a:srgbClr val="DCE5EF"/>
                </a:solidFill>
                <a:latin typeface="Aptos"/>
                <a:ea typeface="Aptos"/>
                <a:cs typeface="Aptos"/>
              </a:defRPr>
            </a:lvl2pPr>
            <a:lvl3pPr>
              <a:defRPr sz="2100" b="0">
                <a:solidFill>
                  <a:srgbClr val="DCE5EF"/>
                </a:solidFill>
                <a:latin typeface="Aptos"/>
                <a:ea typeface="Aptos"/>
                <a:cs typeface="Aptos"/>
              </a:defRPr>
            </a:lvl3pPr>
            <a:lvl4pPr>
              <a:defRPr sz="2100" b="0">
                <a:solidFill>
                  <a:srgbClr val="DCE5EF"/>
                </a:solidFill>
                <a:latin typeface="Aptos"/>
                <a:ea typeface="Aptos"/>
                <a:cs typeface="Aptos"/>
              </a:defRPr>
            </a:lvl4pPr>
            <a:lvl5pPr>
              <a:defRPr sz="2100" b="0">
                <a:solidFill>
                  <a:srgbClr val="DCE5EF"/>
                </a:solidFill>
                <a:latin typeface="Aptos"/>
                <a:ea typeface="Aptos"/>
                <a:cs typeface="Aptos"/>
              </a:defRPr>
            </a:lvl5pPr>
            <a:lvl6pPr>
              <a:defRPr sz="2100" b="0">
                <a:solidFill>
                  <a:srgbClr val="DCE5EF"/>
                </a:solidFill>
                <a:latin typeface="Aptos"/>
                <a:ea typeface="Aptos"/>
                <a:cs typeface="Aptos"/>
              </a:defRPr>
            </a:lvl6pPr>
            <a:lvl7pPr>
              <a:defRPr sz="2100" b="0">
                <a:solidFill>
                  <a:srgbClr val="DCE5EF"/>
                </a:solidFill>
                <a:latin typeface="Aptos"/>
                <a:ea typeface="Aptos"/>
                <a:cs typeface="Aptos"/>
              </a:defRPr>
            </a:lvl7pPr>
            <a:lvl8pPr>
              <a:defRPr sz="2100" b="0">
                <a:solidFill>
                  <a:srgbClr val="DCE5EF"/>
                </a:solidFill>
                <a:latin typeface="Aptos"/>
                <a:ea typeface="Aptos"/>
                <a:cs typeface="Aptos"/>
              </a:defRPr>
            </a:lvl8pPr>
            <a:lvl9pPr>
              <a:defRPr sz="2100" b="0">
                <a:solidFill>
                  <a:srgbClr val="DCE5EF"/>
                </a:solidFill>
                <a:latin typeface="Aptos"/>
                <a:ea typeface="Aptos"/>
                <a:cs typeface="Aptos"/>
              </a:defRPr>
            </a:lvl9pPr>
          </a:lstStyle>
          <a:p xmlns:a="http://schemas.openxmlformats.org/drawingml/2006/main">
            <a:pPr>
              <a:defRPr sz="2100" b="0">
                <a:solidFill>
                  <a:srgbClr val="DCE5EF"/>
                </a:solidFill>
                <a:latin typeface="Aptos"/>
                <a:ea typeface="Aptos"/>
                <a:cs typeface="Aptos"/>
              </a:defRPr>
            </a:pPr>
            <a:r>
              <a:rPr sz="2100" b="0">
                <a:solidFill>
                  <a:srgbClr val="DCE5EF"/>
                </a:solidFill>
                <a:latin typeface="Aptos"/>
                <a:ea typeface="Aptos"/>
                <a:cs typeface="Aptos"/>
              </a:rPr>
              <a:t>Company overview</a:t>
            </a:r>
          </a:p>
          <a:p xmlns:a="http://schemas.openxmlformats.org/drawingml/2006/main">
            <a:pPr>
              <a:defRPr sz="2100" b="0">
                <a:solidFill>
                  <a:srgbClr val="DCE5EF"/>
                </a:solidFill>
                <a:latin typeface="Aptos"/>
                <a:ea typeface="Aptos"/>
                <a:cs typeface="Aptos"/>
              </a:defRPr>
            </a:pPr>
            <a:r>
              <a:rPr sz="2100" b="0">
                <a:solidFill>
                  <a:srgbClr val="DCE5EF"/>
                </a:solidFill>
                <a:latin typeface="Aptos"/>
                <a:ea typeface="Aptos"/>
                <a:cs typeface="Aptos"/>
              </a:rPr>
              <a:t>AI, automation and robotics</a:t>
            </a:r>
          </a:p>
        </p:txBody>
      </p:sp>
      <p:sp>
        <p:nvSpPr>
          <p:cNvPr id="4" name="text-2">
            <a:extLst xmlns:a="http://schemas.openxmlformats.org/drawingml/2006/main">
              <a:ext uri="{FF2B5EF4-FFF2-40B4-BE49-F238E27FC236}">
                <a16:creationId xmlns:a16="http://schemas.microsoft.com/office/drawing/2014/main" id="{CC18F5CD-039D-4C1E-B32A-993E55B729B0}"/>
              </a:ext>
            </a:extLst>
          </p:cNvPr>
          <p:cNvSpPr>
            <a:spLocks xmlns:a="http://schemas.openxmlformats.org/drawingml/2006/main" noGrp="1"/>
          </p:cNvSpPr>
          <p:nvPr/>
        </p:nvSpPr>
        <p:spPr>
          <a:xfrm xmlns:a="http://schemas.openxmlformats.org/drawingml/2006/main">
            <a:off x="723900" y="59626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DCE5EF"/>
                </a:solidFill>
                <a:latin typeface="Aptos"/>
                <a:ea typeface="Aptos"/>
                <a:cs typeface="Aptos"/>
              </a:defRPr>
            </a:defPPr>
            <a:lvl1pPr>
              <a:defRPr sz="1350" b="0">
                <a:solidFill>
                  <a:srgbClr val="DCE5EF"/>
                </a:solidFill>
                <a:latin typeface="Aptos"/>
                <a:ea typeface="Aptos"/>
                <a:cs typeface="Aptos"/>
              </a:defRPr>
            </a:lvl1pPr>
            <a:lvl2pPr>
              <a:defRPr sz="1350" b="0">
                <a:solidFill>
                  <a:srgbClr val="DCE5EF"/>
                </a:solidFill>
                <a:latin typeface="Aptos"/>
                <a:ea typeface="Aptos"/>
                <a:cs typeface="Aptos"/>
              </a:defRPr>
            </a:lvl2pPr>
            <a:lvl3pPr>
              <a:defRPr sz="1350" b="0">
                <a:solidFill>
                  <a:srgbClr val="DCE5EF"/>
                </a:solidFill>
                <a:latin typeface="Aptos"/>
                <a:ea typeface="Aptos"/>
                <a:cs typeface="Aptos"/>
              </a:defRPr>
            </a:lvl3pPr>
            <a:lvl4pPr>
              <a:defRPr sz="1350" b="0">
                <a:solidFill>
                  <a:srgbClr val="DCE5EF"/>
                </a:solidFill>
                <a:latin typeface="Aptos"/>
                <a:ea typeface="Aptos"/>
                <a:cs typeface="Aptos"/>
              </a:defRPr>
            </a:lvl4pPr>
            <a:lvl5pPr>
              <a:defRPr sz="1350" b="0">
                <a:solidFill>
                  <a:srgbClr val="DCE5EF"/>
                </a:solidFill>
                <a:latin typeface="Aptos"/>
                <a:ea typeface="Aptos"/>
                <a:cs typeface="Aptos"/>
              </a:defRPr>
            </a:lvl5pPr>
            <a:lvl6pPr>
              <a:defRPr sz="1350" b="0">
                <a:solidFill>
                  <a:srgbClr val="DCE5EF"/>
                </a:solidFill>
                <a:latin typeface="Aptos"/>
                <a:ea typeface="Aptos"/>
                <a:cs typeface="Aptos"/>
              </a:defRPr>
            </a:lvl6pPr>
            <a:lvl7pPr>
              <a:defRPr sz="1350" b="0">
                <a:solidFill>
                  <a:srgbClr val="DCE5EF"/>
                </a:solidFill>
                <a:latin typeface="Aptos"/>
                <a:ea typeface="Aptos"/>
                <a:cs typeface="Aptos"/>
              </a:defRPr>
            </a:lvl7pPr>
            <a:lvl8pPr>
              <a:defRPr sz="1350" b="0">
                <a:solidFill>
                  <a:srgbClr val="DCE5EF"/>
                </a:solidFill>
                <a:latin typeface="Aptos"/>
                <a:ea typeface="Aptos"/>
                <a:cs typeface="Aptos"/>
              </a:defRPr>
            </a:lvl8pPr>
            <a:lvl9pPr>
              <a:defRPr sz="1350" b="0">
                <a:solidFill>
                  <a:srgbClr val="DCE5EF"/>
                </a:solidFill>
                <a:latin typeface="Aptos"/>
                <a:ea typeface="Aptos"/>
                <a:cs typeface="Aptos"/>
              </a:defRPr>
            </a:lvl9pPr>
          </a:lstStyle>
          <a:p xmlns:a="http://schemas.openxmlformats.org/drawingml/2006/main">
            <a:pPr>
              <a:defRPr sz="1350" b="0">
                <a:solidFill>
                  <a:srgbClr val="DCE5EF"/>
                </a:solidFill>
                <a:latin typeface="Aptos"/>
                <a:ea typeface="Aptos"/>
                <a:cs typeface="Aptos"/>
              </a:defRPr>
            </a:pPr>
            <a:r>
              <a:rPr sz="1350" b="0">
                <a:solidFill>
                  <a:srgbClr val="DCE5EF"/>
                </a:solidFill>
                <a:latin typeface="Aptos"/>
                <a:ea typeface="Aptos"/>
                <a:cs typeface="Aptos"/>
              </a:rPr>
              <a:t>Prepared by Yufei Li  /  October 2026</a:t>
            </a:r>
          </a:p>
        </p:txBody>
      </p:sp>
    </p:spTree>
    <p:extLst>
      <p:ext uri="{BB962C8B-B14F-4D97-AF65-F5344CB8AC3E}">
        <p14:creationId xmlns:p14="http://schemas.microsoft.com/office/powerpoint/2010/main" val="7160968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D574B5B5-5AC1-4E7E-92CE-20E8C42CF5F9}"/>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Company at a glance</a:t>
            </a:r>
          </a:p>
        </p:txBody>
      </p:sp>
      <p:sp>
        <p:nvSpPr>
          <p:cNvPr id="2" name="text-1">
            <a:extLst xmlns:a="http://schemas.openxmlformats.org/drawingml/2006/main">
              <a:ext uri="{FF2B5EF4-FFF2-40B4-BE49-F238E27FC236}">
                <a16:creationId xmlns:a16="http://schemas.microsoft.com/office/drawing/2014/main" id="{B28EC9A9-655F-4953-8977-6CFD576590E5}"/>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An AI and robotics company based in Santa Clara, California</a:t>
            </a:r>
          </a:p>
        </p:txBody>
      </p:sp>
      <p:sp>
        <p:nvSpPr>
          <p:cNvPr id="3" name="text-2">
            <a:extLst xmlns:a="http://schemas.openxmlformats.org/drawingml/2006/main">
              <a:ext uri="{FF2B5EF4-FFF2-40B4-BE49-F238E27FC236}">
                <a16:creationId xmlns:a16="http://schemas.microsoft.com/office/drawing/2014/main" id="{C301B8F0-2341-4DDA-94D9-9350C03F382D}"/>
              </a:ext>
            </a:extLst>
          </p:cNvPr>
          <p:cNvSpPr>
            <a:spLocks xmlns:a="http://schemas.openxmlformats.org/drawingml/2006/main" noGrp="1"/>
          </p:cNvSpPr>
          <p:nvPr/>
        </p:nvSpPr>
        <p:spPr>
          <a:xfrm xmlns:a="http://schemas.openxmlformats.org/drawingml/2006/main">
            <a:off x="685800" y="2409825"/>
            <a:ext cx="4381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150" b="1">
                <a:solidFill>
                  <a:srgbClr val="B68743"/>
                </a:solidFill>
                <a:latin typeface="Aptos"/>
                <a:ea typeface="Aptos"/>
                <a:cs typeface="Aptos"/>
              </a:defRPr>
            </a:defPPr>
            <a:lvl1pPr>
              <a:defRPr sz="6150" b="1">
                <a:solidFill>
                  <a:srgbClr val="B68743"/>
                </a:solidFill>
                <a:latin typeface="Aptos"/>
                <a:ea typeface="Aptos"/>
                <a:cs typeface="Aptos"/>
              </a:defRPr>
            </a:lvl1pPr>
            <a:lvl2pPr>
              <a:defRPr sz="6150" b="1">
                <a:solidFill>
                  <a:srgbClr val="B68743"/>
                </a:solidFill>
                <a:latin typeface="Aptos"/>
                <a:ea typeface="Aptos"/>
                <a:cs typeface="Aptos"/>
              </a:defRPr>
            </a:lvl2pPr>
            <a:lvl3pPr>
              <a:defRPr sz="6150" b="1">
                <a:solidFill>
                  <a:srgbClr val="B68743"/>
                </a:solidFill>
                <a:latin typeface="Aptos"/>
                <a:ea typeface="Aptos"/>
                <a:cs typeface="Aptos"/>
              </a:defRPr>
            </a:lvl3pPr>
            <a:lvl4pPr>
              <a:defRPr sz="6150" b="1">
                <a:solidFill>
                  <a:srgbClr val="B68743"/>
                </a:solidFill>
                <a:latin typeface="Aptos"/>
                <a:ea typeface="Aptos"/>
                <a:cs typeface="Aptos"/>
              </a:defRPr>
            </a:lvl4pPr>
            <a:lvl5pPr>
              <a:defRPr sz="6150" b="1">
                <a:solidFill>
                  <a:srgbClr val="B68743"/>
                </a:solidFill>
                <a:latin typeface="Aptos"/>
                <a:ea typeface="Aptos"/>
                <a:cs typeface="Aptos"/>
              </a:defRPr>
            </a:lvl5pPr>
            <a:lvl6pPr>
              <a:defRPr sz="6150" b="1">
                <a:solidFill>
                  <a:srgbClr val="B68743"/>
                </a:solidFill>
                <a:latin typeface="Aptos"/>
                <a:ea typeface="Aptos"/>
                <a:cs typeface="Aptos"/>
              </a:defRPr>
            </a:lvl6pPr>
            <a:lvl7pPr>
              <a:defRPr sz="6150" b="1">
                <a:solidFill>
                  <a:srgbClr val="B68743"/>
                </a:solidFill>
                <a:latin typeface="Aptos"/>
                <a:ea typeface="Aptos"/>
                <a:cs typeface="Aptos"/>
              </a:defRPr>
            </a:lvl7pPr>
            <a:lvl8pPr>
              <a:defRPr sz="6150" b="1">
                <a:solidFill>
                  <a:srgbClr val="B68743"/>
                </a:solidFill>
                <a:latin typeface="Aptos"/>
                <a:ea typeface="Aptos"/>
                <a:cs typeface="Aptos"/>
              </a:defRPr>
            </a:lvl8pPr>
            <a:lvl9pPr>
              <a:defRPr sz="6150" b="1">
                <a:solidFill>
                  <a:srgbClr val="B68743"/>
                </a:solidFill>
                <a:latin typeface="Aptos"/>
                <a:ea typeface="Aptos"/>
                <a:cs typeface="Aptos"/>
              </a:defRPr>
            </a:lvl9pPr>
          </a:lstStyle>
          <a:p xmlns:a="http://schemas.openxmlformats.org/drawingml/2006/main">
            <a:pPr>
              <a:defRPr sz="6150" b="1">
                <a:solidFill>
                  <a:srgbClr val="B68743"/>
                </a:solidFill>
                <a:latin typeface="Aptos"/>
                <a:ea typeface="Aptos"/>
                <a:cs typeface="Aptos"/>
              </a:defRPr>
            </a:pPr>
            <a:r>
              <a:rPr sz="6150" b="1">
                <a:solidFill>
                  <a:srgbClr val="B68743"/>
                </a:solidFill>
                <a:latin typeface="Aptos"/>
                <a:ea typeface="Aptos"/>
                <a:cs typeface="Aptos"/>
              </a:rPr>
              <a:t>2015</a:t>
            </a:r>
          </a:p>
        </p:txBody>
      </p:sp>
      <p:sp>
        <p:nvSpPr>
          <p:cNvPr id="4" name="text-3">
            <a:extLst xmlns:a="http://schemas.openxmlformats.org/drawingml/2006/main">
              <a:ext uri="{FF2B5EF4-FFF2-40B4-BE49-F238E27FC236}">
                <a16:creationId xmlns:a16="http://schemas.microsoft.com/office/drawing/2014/main" id="{2C8624C4-0B9B-40F5-A012-CC4F85E2F289}"/>
              </a:ext>
            </a:extLst>
          </p:cNvPr>
          <p:cNvSpPr>
            <a:spLocks xmlns:a="http://schemas.openxmlformats.org/drawingml/2006/main" noGrp="1"/>
          </p:cNvSpPr>
          <p:nvPr/>
        </p:nvSpPr>
        <p:spPr>
          <a:xfrm xmlns:a="http://schemas.openxmlformats.org/drawingml/2006/main">
            <a:off x="685800" y="362902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Corporate identity</a:t>
            </a:r>
          </a:p>
        </p:txBody>
      </p:sp>
      <p:sp>
        <p:nvSpPr>
          <p:cNvPr id="5" name="text-4">
            <a:extLst xmlns:a="http://schemas.openxmlformats.org/drawingml/2006/main">
              <a:ext uri="{FF2B5EF4-FFF2-40B4-BE49-F238E27FC236}">
                <a16:creationId xmlns:a16="http://schemas.microsoft.com/office/drawing/2014/main" id="{BF9C3CD7-2881-41D2-B4D1-CA348DE7DDDF}"/>
              </a:ext>
            </a:extLst>
          </p:cNvPr>
          <p:cNvSpPr>
            <a:spLocks xmlns:a="http://schemas.openxmlformats.org/drawingml/2006/main" noGrp="1"/>
          </p:cNvSpPr>
          <p:nvPr/>
        </p:nvSpPr>
        <p:spPr>
          <a:xfrm xmlns:a="http://schemas.openxmlformats.org/drawingml/2006/main">
            <a:off x="685800" y="4038600"/>
            <a:ext cx="5238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InGen Dynamics, Inc., incorporated in Delaware in July 2015.</a:t>
            </a:r>
          </a:p>
        </p:txBody>
      </p:sp>
      <p:sp>
        <p:nvSpPr>
          <p:cNvPr id="6" name="text-5">
            <a:extLst xmlns:a="http://schemas.openxmlformats.org/drawingml/2006/main">
              <a:ext uri="{FF2B5EF4-FFF2-40B4-BE49-F238E27FC236}">
                <a16:creationId xmlns:a16="http://schemas.microsoft.com/office/drawing/2014/main" id="{60CA4C4F-AAFB-419C-821F-88FBC4AFA863}"/>
              </a:ext>
            </a:extLst>
          </p:cNvPr>
          <p:cNvSpPr>
            <a:spLocks xmlns:a="http://schemas.openxmlformats.org/drawingml/2006/main" noGrp="1"/>
          </p:cNvSpPr>
          <p:nvPr/>
        </p:nvSpPr>
        <p:spPr>
          <a:xfrm xmlns:a="http://schemas.openxmlformats.org/drawingml/2006/main">
            <a:off x="685800" y="48196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Leadership</a:t>
            </a:r>
          </a:p>
        </p:txBody>
      </p:sp>
      <p:sp>
        <p:nvSpPr>
          <p:cNvPr id="7" name="text-6">
            <a:extLst xmlns:a="http://schemas.openxmlformats.org/drawingml/2006/main">
              <a:ext uri="{FF2B5EF4-FFF2-40B4-BE49-F238E27FC236}">
                <a16:creationId xmlns:a16="http://schemas.microsoft.com/office/drawing/2014/main" id="{8BDB6AF9-1E03-4314-8CC9-018C1E9F7983}"/>
              </a:ext>
            </a:extLst>
          </p:cNvPr>
          <p:cNvSpPr>
            <a:spLocks xmlns:a="http://schemas.openxmlformats.org/drawingml/2006/main" noGrp="1"/>
          </p:cNvSpPr>
          <p:nvPr/>
        </p:nvSpPr>
        <p:spPr>
          <a:xfrm xmlns:a="http://schemas.openxmlformats.org/drawingml/2006/main">
            <a:off x="685800" y="5229225"/>
            <a:ext cx="5238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Founder and CEO Arshad Hisham leads product strategy and business operations.</a:t>
            </a:r>
          </a:p>
        </p:txBody>
      </p:sp>
      <p:pic>
        <p:nvPicPr>
          <p:cNvPr id="8" name="">
            <a:extLst xmlns:a="http://schemas.openxmlformats.org/drawingml/2006/main">
              <a:ext uri="{FF2B5EF4-FFF2-40B4-BE49-F238E27FC236}">
                <a16:creationId xmlns:a16="http://schemas.microsoft.com/office/drawing/2014/main" id="{E834E241-46D4-4C48-B9A3-895CF7CE25E1}"/>
              </a:ext>
            </a:extLst>
          </p:cNvPr>
          <p:cNvPicPr>
            <a:picLocks xmlns:a="http://schemas.openxmlformats.org/drawingml/2006/main" noChangeAspect="1"/>
          </p:cNvPicPr>
          <p:nvPr/>
        </p:nvPicPr>
        <p:blipFill>
          <a:blip xmlns:r="http://schemas.openxmlformats.org/officeDocument/2006/relationships" xmlns:a="http://schemas.openxmlformats.org/drawingml/2006/main" r:embed="R29162f4e7f174418"/>
          <a:stretch xmlns:a="http://schemas.openxmlformats.org/drawingml/2006/main"/>
        </p:blipFill>
        <p:spPr>
          <a:xfrm xmlns:a="http://schemas.openxmlformats.org/drawingml/2006/main">
            <a:off x="6705600" y="2404382"/>
            <a:ext cx="4762500" cy="3401786"/>
          </a:xfrm>
          <a:prstGeom xmlns:a="http://schemas.openxmlformats.org/drawingml/2006/main" prst="rect">
            <a:avLst/>
          </a:prstGeom>
        </p:spPr>
      </p:pic>
      <p:sp>
        <p:nvSpPr>
          <p:cNvPr id="9" name="text-7">
            <a:extLst xmlns:a="http://schemas.openxmlformats.org/drawingml/2006/main">
              <a:ext uri="{FF2B5EF4-FFF2-40B4-BE49-F238E27FC236}">
                <a16:creationId xmlns:a16="http://schemas.microsoft.com/office/drawing/2014/main" id="{C7811E1A-9125-402A-9B45-E7B5EAA870DD}"/>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0" name="text-8">
            <a:extLst xmlns:a="http://schemas.openxmlformats.org/drawingml/2006/main">
              <a:ext uri="{FF2B5EF4-FFF2-40B4-BE49-F238E27FC236}">
                <a16:creationId xmlns:a16="http://schemas.microsoft.com/office/drawing/2014/main" id="{61F6870F-A120-4EAE-A6E6-6B5F16A3CD47}"/>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02</a:t>
            </a:r>
          </a:p>
        </p:txBody>
      </p:sp>
      <p:sp>
        <p:nvSpPr>
          <p:cNvPr id="11" name="text-9">
            <a:extLst xmlns:a="http://schemas.openxmlformats.org/drawingml/2006/main">
              <a:ext uri="{FF2B5EF4-FFF2-40B4-BE49-F238E27FC236}">
                <a16:creationId xmlns:a16="http://schemas.microsoft.com/office/drawing/2014/main" id="{A916DC5A-9775-4D13-A0BD-D429BE99466D}"/>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E</a:t>
            </a:r>
          </a:p>
        </p:txBody>
      </p:sp>
    </p:spTree>
    <p:extLst>
      <p:ext uri="{BB962C8B-B14F-4D97-AF65-F5344CB8AC3E}">
        <p14:creationId xmlns:p14="http://schemas.microsoft.com/office/powerpoint/2010/main" val="19183596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8DD900D-F820-4B8E-BA52-40CE50199B06}"/>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Mission and strategic focus</a:t>
            </a:r>
          </a:p>
        </p:txBody>
      </p:sp>
      <p:sp>
        <p:nvSpPr>
          <p:cNvPr id="2" name="text-1">
            <a:extLst xmlns:a="http://schemas.openxmlformats.org/drawingml/2006/main">
              <a:ext uri="{FF2B5EF4-FFF2-40B4-BE49-F238E27FC236}">
                <a16:creationId xmlns:a16="http://schemas.microsoft.com/office/drawing/2014/main" id="{90B16AE2-4209-4E6D-A582-531CF5F7B5B9}"/>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Practical applications of intelligent machines</a:t>
            </a:r>
          </a:p>
        </p:txBody>
      </p:sp>
      <p:sp>
        <p:nvSpPr>
          <p:cNvPr id="3" name="text-2">
            <a:extLst xmlns:a="http://schemas.openxmlformats.org/drawingml/2006/main">
              <a:ext uri="{FF2B5EF4-FFF2-40B4-BE49-F238E27FC236}">
                <a16:creationId xmlns:a16="http://schemas.microsoft.com/office/drawing/2014/main" id="{983F019F-6BE0-41DA-8D26-8D31E79DE612}"/>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Mission</a:t>
            </a:r>
          </a:p>
        </p:txBody>
      </p:sp>
      <p:sp>
        <p:nvSpPr>
          <p:cNvPr id="4" name="text-3">
            <a:extLst xmlns:a="http://schemas.openxmlformats.org/drawingml/2006/main">
              <a:ext uri="{FF2B5EF4-FFF2-40B4-BE49-F238E27FC236}">
                <a16:creationId xmlns:a16="http://schemas.microsoft.com/office/drawing/2014/main" id="{49DC10A7-326C-41A4-8962-C60FFF299291}"/>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Improve daily life through affordable AI and robotics.</a:t>
            </a:r>
          </a:p>
        </p:txBody>
      </p:sp>
      <p:sp>
        <p:nvSpPr>
          <p:cNvPr id="5" name="text-4">
            <a:extLst xmlns:a="http://schemas.openxmlformats.org/drawingml/2006/main">
              <a:ext uri="{FF2B5EF4-FFF2-40B4-BE49-F238E27FC236}">
                <a16:creationId xmlns:a16="http://schemas.microsoft.com/office/drawing/2014/main" id="{F39CE9F8-3316-4706-B383-4B9F9E988C24}"/>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Strategic direction</a:t>
            </a:r>
          </a:p>
        </p:txBody>
      </p:sp>
      <p:sp>
        <p:nvSpPr>
          <p:cNvPr id="6" name="text-5">
            <a:extLst xmlns:a="http://schemas.openxmlformats.org/drawingml/2006/main">
              <a:ext uri="{FF2B5EF4-FFF2-40B4-BE49-F238E27FC236}">
                <a16:creationId xmlns:a16="http://schemas.microsoft.com/office/drawing/2014/main" id="{EE212E7D-BABC-4234-97C3-DED3FE6CFDE7}"/>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Connect software intelligence with devices that interact with the physical world.</a:t>
            </a:r>
          </a:p>
        </p:txBody>
      </p:sp>
      <p:sp>
        <p:nvSpPr>
          <p:cNvPr id="7" name="text-6">
            <a:extLst xmlns:a="http://schemas.openxmlformats.org/drawingml/2006/main">
              <a:ext uri="{FF2B5EF4-FFF2-40B4-BE49-F238E27FC236}">
                <a16:creationId xmlns:a16="http://schemas.microsoft.com/office/drawing/2014/main" id="{E602C89F-A1A2-46ED-9AB5-58CAC36C0DEF}"/>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Business perspective</a:t>
            </a:r>
          </a:p>
        </p:txBody>
      </p:sp>
      <p:sp>
        <p:nvSpPr>
          <p:cNvPr id="8" name="text-7">
            <a:extLst xmlns:a="http://schemas.openxmlformats.org/drawingml/2006/main">
              <a:ext uri="{FF2B5EF4-FFF2-40B4-BE49-F238E27FC236}">
                <a16:creationId xmlns:a16="http://schemas.microsoft.com/office/drawing/2014/main" id="{CE622092-874D-44FD-8E76-9824353B5C23}"/>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Customer adoption depends on useful, reliable applications.</a:t>
            </a:r>
          </a:p>
        </p:txBody>
      </p:sp>
      <p:pic>
        <p:nvPicPr>
          <p:cNvPr id="9" name="">
            <a:extLst xmlns:a="http://schemas.openxmlformats.org/drawingml/2006/main">
              <a:ext uri="{FF2B5EF4-FFF2-40B4-BE49-F238E27FC236}">
                <a16:creationId xmlns:a16="http://schemas.microsoft.com/office/drawing/2014/main" id="{EBEA8EE3-11D1-49A2-AA41-1CFB4E589E3F}"/>
              </a:ext>
            </a:extLst>
          </p:cNvPr>
          <p:cNvPicPr>
            <a:picLocks xmlns:a="http://schemas.openxmlformats.org/drawingml/2006/main" noChangeAspect="1"/>
          </p:cNvPicPr>
          <p:nvPr/>
        </p:nvPicPr>
        <p:blipFill>
          <a:blip xmlns:r="http://schemas.openxmlformats.org/officeDocument/2006/relationships" xmlns:a="http://schemas.openxmlformats.org/drawingml/2006/main" r:embed="R253588ff032943e6"/>
          <a:stretch xmlns:a="http://schemas.openxmlformats.org/drawingml/2006/main"/>
        </p:blipFill>
        <p:spPr>
          <a:xfrm xmlns:a="http://schemas.openxmlformats.org/drawingml/2006/main">
            <a:off x="6788150" y="2476500"/>
            <a:ext cx="4445000" cy="333375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E2528EF9-D2F9-4EBA-81A9-B0175E4F6153}"/>
              </a:ext>
            </a:extLst>
          </p:cNvPr>
          <p:cNvSpPr>
            <a:spLocks xmlns:a="http://schemas.openxmlformats.org/drawingml/2006/main" noGrp="1"/>
          </p:cNvSpPr>
          <p:nvPr/>
        </p:nvSpPr>
        <p:spPr>
          <a:xfrm xmlns:a="http://schemas.openxmlformats.org/drawingml/2006/main">
            <a:off x="6515100" y="5943600"/>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Company publication: The Future of Work</a:t>
            </a:r>
          </a:p>
        </p:txBody>
      </p:sp>
      <p:sp>
        <p:nvSpPr>
          <p:cNvPr id="11" name="text-9">
            <a:extLst xmlns:a="http://schemas.openxmlformats.org/drawingml/2006/main">
              <a:ext uri="{FF2B5EF4-FFF2-40B4-BE49-F238E27FC236}">
                <a16:creationId xmlns:a16="http://schemas.microsoft.com/office/drawing/2014/main" id="{ACA59683-BE23-4320-B74E-C7C490DD34F2}"/>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2" name="text-10">
            <a:extLst xmlns:a="http://schemas.openxmlformats.org/drawingml/2006/main">
              <a:ext uri="{FF2B5EF4-FFF2-40B4-BE49-F238E27FC236}">
                <a16:creationId xmlns:a16="http://schemas.microsoft.com/office/drawing/2014/main" id="{8AF3AA03-2ADF-42D4-8F29-F100A100925F}"/>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03</a:t>
            </a:r>
          </a:p>
        </p:txBody>
      </p:sp>
      <p:sp>
        <p:nvSpPr>
          <p:cNvPr id="13" name="text-11">
            <a:extLst xmlns:a="http://schemas.openxmlformats.org/drawingml/2006/main">
              <a:ext uri="{FF2B5EF4-FFF2-40B4-BE49-F238E27FC236}">
                <a16:creationId xmlns:a16="http://schemas.microsoft.com/office/drawing/2014/main" id="{647639CF-D486-48F6-BA69-F3898B5987A1}"/>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A B C</a:t>
            </a:r>
          </a:p>
        </p:txBody>
      </p:sp>
    </p:spTree>
    <p:extLst>
      <p:ext uri="{BB962C8B-B14F-4D97-AF65-F5344CB8AC3E}">
        <p14:creationId xmlns:p14="http://schemas.microsoft.com/office/powerpoint/2010/main" val="9174407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1B85B3AB-F2DD-4555-94A6-355754EC1FCA}"/>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Development milestones</a:t>
            </a:r>
          </a:p>
        </p:txBody>
      </p:sp>
      <p:sp>
        <p:nvSpPr>
          <p:cNvPr id="2" name="text-1">
            <a:extLst xmlns:a="http://schemas.openxmlformats.org/drawingml/2006/main">
              <a:ext uri="{FF2B5EF4-FFF2-40B4-BE49-F238E27FC236}">
                <a16:creationId xmlns:a16="http://schemas.microsoft.com/office/drawing/2014/main" id="{DD0571BC-51BE-4E35-AE55-ED741FDFB606}"/>
              </a:ext>
            </a:extLst>
          </p:cNvPr>
          <p:cNvSpPr>
            <a:spLocks xmlns:a="http://schemas.openxmlformats.org/drawingml/2006/main" noGrp="1"/>
          </p:cNvSpPr>
          <p:nvPr/>
        </p:nvSpPr>
        <p:spPr>
          <a:xfrm xmlns:a="http://schemas.openxmlformats.org/drawingml/2006/main">
            <a:off x="685800" y="1971675"/>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B68743"/>
                </a:solidFill>
                <a:latin typeface="Aptos"/>
                <a:ea typeface="Aptos"/>
                <a:cs typeface="Aptos"/>
              </a:defRPr>
            </a:defPPr>
            <a:lvl1pPr>
              <a:defRPr sz="2250" b="1">
                <a:solidFill>
                  <a:srgbClr val="B68743"/>
                </a:solidFill>
                <a:latin typeface="Aptos"/>
                <a:ea typeface="Aptos"/>
                <a:cs typeface="Aptos"/>
              </a:defRPr>
            </a:lvl1pPr>
            <a:lvl2pPr>
              <a:defRPr sz="2250" b="1">
                <a:solidFill>
                  <a:srgbClr val="B68743"/>
                </a:solidFill>
                <a:latin typeface="Aptos"/>
                <a:ea typeface="Aptos"/>
                <a:cs typeface="Aptos"/>
              </a:defRPr>
            </a:lvl2pPr>
            <a:lvl3pPr>
              <a:defRPr sz="2250" b="1">
                <a:solidFill>
                  <a:srgbClr val="B68743"/>
                </a:solidFill>
                <a:latin typeface="Aptos"/>
                <a:ea typeface="Aptos"/>
                <a:cs typeface="Aptos"/>
              </a:defRPr>
            </a:lvl3pPr>
            <a:lvl4pPr>
              <a:defRPr sz="2250" b="1">
                <a:solidFill>
                  <a:srgbClr val="B68743"/>
                </a:solidFill>
                <a:latin typeface="Aptos"/>
                <a:ea typeface="Aptos"/>
                <a:cs typeface="Aptos"/>
              </a:defRPr>
            </a:lvl4pPr>
            <a:lvl5pPr>
              <a:defRPr sz="2250" b="1">
                <a:solidFill>
                  <a:srgbClr val="B68743"/>
                </a:solidFill>
                <a:latin typeface="Aptos"/>
                <a:ea typeface="Aptos"/>
                <a:cs typeface="Aptos"/>
              </a:defRPr>
            </a:lvl5pPr>
            <a:lvl6pPr>
              <a:defRPr sz="2250" b="1">
                <a:solidFill>
                  <a:srgbClr val="B68743"/>
                </a:solidFill>
                <a:latin typeface="Aptos"/>
                <a:ea typeface="Aptos"/>
                <a:cs typeface="Aptos"/>
              </a:defRPr>
            </a:lvl6pPr>
            <a:lvl7pPr>
              <a:defRPr sz="2250" b="1">
                <a:solidFill>
                  <a:srgbClr val="B68743"/>
                </a:solidFill>
                <a:latin typeface="Aptos"/>
                <a:ea typeface="Aptos"/>
                <a:cs typeface="Aptos"/>
              </a:defRPr>
            </a:lvl7pPr>
            <a:lvl8pPr>
              <a:defRPr sz="2250" b="1">
                <a:solidFill>
                  <a:srgbClr val="B68743"/>
                </a:solidFill>
                <a:latin typeface="Aptos"/>
                <a:ea typeface="Aptos"/>
                <a:cs typeface="Aptos"/>
              </a:defRPr>
            </a:lvl8pPr>
            <a:lvl9pPr>
              <a:defRPr sz="2250" b="1">
                <a:solidFill>
                  <a:srgbClr val="B68743"/>
                </a:solidFill>
                <a:latin typeface="Aptos"/>
                <a:ea typeface="Aptos"/>
                <a:cs typeface="Aptos"/>
              </a:defRPr>
            </a:lvl9pPr>
          </a:lstStyle>
          <a:p xmlns:a="http://schemas.openxmlformats.org/drawingml/2006/main">
            <a:pPr>
              <a:defRPr sz="2250" b="1">
                <a:solidFill>
                  <a:srgbClr val="B68743"/>
                </a:solidFill>
                <a:latin typeface="Aptos"/>
                <a:ea typeface="Aptos"/>
                <a:cs typeface="Aptos"/>
              </a:defRPr>
            </a:pPr>
            <a:r>
              <a:rPr sz="2250" b="1">
                <a:solidFill>
                  <a:srgbClr val="B68743"/>
                </a:solidFill>
                <a:latin typeface="Aptos"/>
                <a:ea typeface="Aptos"/>
                <a:cs typeface="Aptos"/>
              </a:rPr>
              <a:t>2015</a:t>
            </a:r>
          </a:p>
        </p:txBody>
      </p:sp>
      <p:sp>
        <p:nvSpPr>
          <p:cNvPr id="3" name="text-2">
            <a:extLst xmlns:a="http://schemas.openxmlformats.org/drawingml/2006/main">
              <a:ext uri="{FF2B5EF4-FFF2-40B4-BE49-F238E27FC236}">
                <a16:creationId xmlns:a16="http://schemas.microsoft.com/office/drawing/2014/main" id="{33E6FE76-C1CA-484F-A503-3AB08F013626}"/>
              </a:ext>
            </a:extLst>
          </p:cNvPr>
          <p:cNvSpPr>
            <a:spLocks xmlns:a="http://schemas.openxmlformats.org/drawingml/2006/main" noGrp="1"/>
          </p:cNvSpPr>
          <p:nvPr/>
        </p:nvSpPr>
        <p:spPr>
          <a:xfrm xmlns:a="http://schemas.openxmlformats.org/drawingml/2006/main">
            <a:off x="2162175" y="1971675"/>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Incorporation and the start of Aido development.</a:t>
            </a:r>
          </a:p>
        </p:txBody>
      </p:sp>
      <p:sp>
        <p:nvSpPr>
          <p:cNvPr id="4" name="text-3">
            <a:extLst xmlns:a="http://schemas.openxmlformats.org/drawingml/2006/main">
              <a:ext uri="{FF2B5EF4-FFF2-40B4-BE49-F238E27FC236}">
                <a16:creationId xmlns:a16="http://schemas.microsoft.com/office/drawing/2014/main" id="{153B9E08-F46F-4E7E-B80A-BD1B52BE35AE}"/>
              </a:ext>
            </a:extLst>
          </p:cNvPr>
          <p:cNvSpPr>
            <a:spLocks xmlns:a="http://schemas.openxmlformats.org/drawingml/2006/main" noGrp="1"/>
          </p:cNvSpPr>
          <p:nvPr/>
        </p:nvSpPr>
        <p:spPr>
          <a:xfrm xmlns:a="http://schemas.openxmlformats.org/drawingml/2006/main">
            <a:off x="685800" y="2924175"/>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B68743"/>
                </a:solidFill>
                <a:latin typeface="Aptos"/>
                <a:ea typeface="Aptos"/>
                <a:cs typeface="Aptos"/>
              </a:defRPr>
            </a:defPPr>
            <a:lvl1pPr>
              <a:defRPr sz="2250" b="1">
                <a:solidFill>
                  <a:srgbClr val="B68743"/>
                </a:solidFill>
                <a:latin typeface="Aptos"/>
                <a:ea typeface="Aptos"/>
                <a:cs typeface="Aptos"/>
              </a:defRPr>
            </a:lvl1pPr>
            <a:lvl2pPr>
              <a:defRPr sz="2250" b="1">
                <a:solidFill>
                  <a:srgbClr val="B68743"/>
                </a:solidFill>
                <a:latin typeface="Aptos"/>
                <a:ea typeface="Aptos"/>
                <a:cs typeface="Aptos"/>
              </a:defRPr>
            </a:lvl2pPr>
            <a:lvl3pPr>
              <a:defRPr sz="2250" b="1">
                <a:solidFill>
                  <a:srgbClr val="B68743"/>
                </a:solidFill>
                <a:latin typeface="Aptos"/>
                <a:ea typeface="Aptos"/>
                <a:cs typeface="Aptos"/>
              </a:defRPr>
            </a:lvl3pPr>
            <a:lvl4pPr>
              <a:defRPr sz="2250" b="1">
                <a:solidFill>
                  <a:srgbClr val="B68743"/>
                </a:solidFill>
                <a:latin typeface="Aptos"/>
                <a:ea typeface="Aptos"/>
                <a:cs typeface="Aptos"/>
              </a:defRPr>
            </a:lvl4pPr>
            <a:lvl5pPr>
              <a:defRPr sz="2250" b="1">
                <a:solidFill>
                  <a:srgbClr val="B68743"/>
                </a:solidFill>
                <a:latin typeface="Aptos"/>
                <a:ea typeface="Aptos"/>
                <a:cs typeface="Aptos"/>
              </a:defRPr>
            </a:lvl5pPr>
            <a:lvl6pPr>
              <a:defRPr sz="2250" b="1">
                <a:solidFill>
                  <a:srgbClr val="B68743"/>
                </a:solidFill>
                <a:latin typeface="Aptos"/>
                <a:ea typeface="Aptos"/>
                <a:cs typeface="Aptos"/>
              </a:defRPr>
            </a:lvl6pPr>
            <a:lvl7pPr>
              <a:defRPr sz="2250" b="1">
                <a:solidFill>
                  <a:srgbClr val="B68743"/>
                </a:solidFill>
                <a:latin typeface="Aptos"/>
                <a:ea typeface="Aptos"/>
                <a:cs typeface="Aptos"/>
              </a:defRPr>
            </a:lvl7pPr>
            <a:lvl8pPr>
              <a:defRPr sz="2250" b="1">
                <a:solidFill>
                  <a:srgbClr val="B68743"/>
                </a:solidFill>
                <a:latin typeface="Aptos"/>
                <a:ea typeface="Aptos"/>
                <a:cs typeface="Aptos"/>
              </a:defRPr>
            </a:lvl8pPr>
            <a:lvl9pPr>
              <a:defRPr sz="2250" b="1">
                <a:solidFill>
                  <a:srgbClr val="B68743"/>
                </a:solidFill>
                <a:latin typeface="Aptos"/>
                <a:ea typeface="Aptos"/>
                <a:cs typeface="Aptos"/>
              </a:defRPr>
            </a:lvl9pPr>
          </a:lstStyle>
          <a:p xmlns:a="http://schemas.openxmlformats.org/drawingml/2006/main">
            <a:pPr>
              <a:defRPr sz="2250" b="1">
                <a:solidFill>
                  <a:srgbClr val="B68743"/>
                </a:solidFill>
                <a:latin typeface="Aptos"/>
                <a:ea typeface="Aptos"/>
                <a:cs typeface="Aptos"/>
              </a:defRPr>
            </a:pPr>
            <a:r>
              <a:rPr sz="2250" b="1">
                <a:solidFill>
                  <a:srgbClr val="B68743"/>
                </a:solidFill>
                <a:latin typeface="Aptos"/>
                <a:ea typeface="Aptos"/>
                <a:cs typeface="Aptos"/>
              </a:rPr>
              <a:t>2021</a:t>
            </a:r>
          </a:p>
        </p:txBody>
      </p:sp>
      <p:sp>
        <p:nvSpPr>
          <p:cNvPr id="5" name="text-4">
            <a:extLst xmlns:a="http://schemas.openxmlformats.org/drawingml/2006/main">
              <a:ext uri="{FF2B5EF4-FFF2-40B4-BE49-F238E27FC236}">
                <a16:creationId xmlns:a16="http://schemas.microsoft.com/office/drawing/2014/main" id="{9C3DA1C7-3DD0-4504-8A27-A687427A9FBD}"/>
              </a:ext>
            </a:extLst>
          </p:cNvPr>
          <p:cNvSpPr>
            <a:spLocks xmlns:a="http://schemas.openxmlformats.org/drawingml/2006/main" noGrp="1"/>
          </p:cNvSpPr>
          <p:nvPr/>
        </p:nvSpPr>
        <p:spPr>
          <a:xfrm xmlns:a="http://schemas.openxmlformats.org/drawingml/2006/main">
            <a:off x="2162175" y="2924175"/>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Aido receives an Edison Awards silver medal.</a:t>
            </a:r>
          </a:p>
        </p:txBody>
      </p:sp>
      <p:sp>
        <p:nvSpPr>
          <p:cNvPr id="6" name="text-5">
            <a:extLst xmlns:a="http://schemas.openxmlformats.org/drawingml/2006/main">
              <a:ext uri="{FF2B5EF4-FFF2-40B4-BE49-F238E27FC236}">
                <a16:creationId xmlns:a16="http://schemas.microsoft.com/office/drawing/2014/main" id="{293FD6E7-BF80-4685-B4BF-EBB681131A7C}"/>
              </a:ext>
            </a:extLst>
          </p:cNvPr>
          <p:cNvSpPr>
            <a:spLocks xmlns:a="http://schemas.openxmlformats.org/drawingml/2006/main" noGrp="1"/>
          </p:cNvSpPr>
          <p:nvPr/>
        </p:nvSpPr>
        <p:spPr>
          <a:xfrm xmlns:a="http://schemas.openxmlformats.org/drawingml/2006/main">
            <a:off x="685800" y="3876675"/>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B68743"/>
                </a:solidFill>
                <a:latin typeface="Aptos"/>
                <a:ea typeface="Aptos"/>
                <a:cs typeface="Aptos"/>
              </a:defRPr>
            </a:defPPr>
            <a:lvl1pPr>
              <a:defRPr sz="2250" b="1">
                <a:solidFill>
                  <a:srgbClr val="B68743"/>
                </a:solidFill>
                <a:latin typeface="Aptos"/>
                <a:ea typeface="Aptos"/>
                <a:cs typeface="Aptos"/>
              </a:defRPr>
            </a:lvl1pPr>
            <a:lvl2pPr>
              <a:defRPr sz="2250" b="1">
                <a:solidFill>
                  <a:srgbClr val="B68743"/>
                </a:solidFill>
                <a:latin typeface="Aptos"/>
                <a:ea typeface="Aptos"/>
                <a:cs typeface="Aptos"/>
              </a:defRPr>
            </a:lvl2pPr>
            <a:lvl3pPr>
              <a:defRPr sz="2250" b="1">
                <a:solidFill>
                  <a:srgbClr val="B68743"/>
                </a:solidFill>
                <a:latin typeface="Aptos"/>
                <a:ea typeface="Aptos"/>
                <a:cs typeface="Aptos"/>
              </a:defRPr>
            </a:lvl3pPr>
            <a:lvl4pPr>
              <a:defRPr sz="2250" b="1">
                <a:solidFill>
                  <a:srgbClr val="B68743"/>
                </a:solidFill>
                <a:latin typeface="Aptos"/>
                <a:ea typeface="Aptos"/>
                <a:cs typeface="Aptos"/>
              </a:defRPr>
            </a:lvl4pPr>
            <a:lvl5pPr>
              <a:defRPr sz="2250" b="1">
                <a:solidFill>
                  <a:srgbClr val="B68743"/>
                </a:solidFill>
                <a:latin typeface="Aptos"/>
                <a:ea typeface="Aptos"/>
                <a:cs typeface="Aptos"/>
              </a:defRPr>
            </a:lvl5pPr>
            <a:lvl6pPr>
              <a:defRPr sz="2250" b="1">
                <a:solidFill>
                  <a:srgbClr val="B68743"/>
                </a:solidFill>
                <a:latin typeface="Aptos"/>
                <a:ea typeface="Aptos"/>
                <a:cs typeface="Aptos"/>
              </a:defRPr>
            </a:lvl6pPr>
            <a:lvl7pPr>
              <a:defRPr sz="2250" b="1">
                <a:solidFill>
                  <a:srgbClr val="B68743"/>
                </a:solidFill>
                <a:latin typeface="Aptos"/>
                <a:ea typeface="Aptos"/>
                <a:cs typeface="Aptos"/>
              </a:defRPr>
            </a:lvl7pPr>
            <a:lvl8pPr>
              <a:defRPr sz="2250" b="1">
                <a:solidFill>
                  <a:srgbClr val="B68743"/>
                </a:solidFill>
                <a:latin typeface="Aptos"/>
                <a:ea typeface="Aptos"/>
                <a:cs typeface="Aptos"/>
              </a:defRPr>
            </a:lvl8pPr>
            <a:lvl9pPr>
              <a:defRPr sz="2250" b="1">
                <a:solidFill>
                  <a:srgbClr val="B68743"/>
                </a:solidFill>
                <a:latin typeface="Aptos"/>
                <a:ea typeface="Aptos"/>
                <a:cs typeface="Aptos"/>
              </a:defRPr>
            </a:lvl9pPr>
          </a:lstStyle>
          <a:p xmlns:a="http://schemas.openxmlformats.org/drawingml/2006/main">
            <a:pPr>
              <a:defRPr sz="2250" b="1">
                <a:solidFill>
                  <a:srgbClr val="B68743"/>
                </a:solidFill>
                <a:latin typeface="Aptos"/>
                <a:ea typeface="Aptos"/>
                <a:cs typeface="Aptos"/>
              </a:defRPr>
            </a:pPr>
            <a:r>
              <a:rPr sz="2250" b="1">
                <a:solidFill>
                  <a:srgbClr val="B68743"/>
                </a:solidFill>
                <a:latin typeface="Aptos"/>
                <a:ea typeface="Aptos"/>
                <a:cs typeface="Aptos"/>
              </a:rPr>
              <a:t>2022</a:t>
            </a:r>
          </a:p>
        </p:txBody>
      </p:sp>
      <p:sp>
        <p:nvSpPr>
          <p:cNvPr id="7" name="text-6">
            <a:extLst xmlns:a="http://schemas.openxmlformats.org/drawingml/2006/main">
              <a:ext uri="{FF2B5EF4-FFF2-40B4-BE49-F238E27FC236}">
                <a16:creationId xmlns:a16="http://schemas.microsoft.com/office/drawing/2014/main" id="{DC996CDD-00F9-4028-9A19-E17BACE1ADCB}"/>
              </a:ext>
            </a:extLst>
          </p:cNvPr>
          <p:cNvSpPr>
            <a:spLocks xmlns:a="http://schemas.openxmlformats.org/drawingml/2006/main" noGrp="1"/>
          </p:cNvSpPr>
          <p:nvPr/>
        </p:nvSpPr>
        <p:spPr>
          <a:xfrm xmlns:a="http://schemas.openxmlformats.org/drawingml/2006/main">
            <a:off x="2162175" y="3876675"/>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First-generation Aido units begin shipping, per company filings.</a:t>
            </a:r>
          </a:p>
        </p:txBody>
      </p:sp>
      <p:sp>
        <p:nvSpPr>
          <p:cNvPr id="8" name="text-7">
            <a:extLst xmlns:a="http://schemas.openxmlformats.org/drawingml/2006/main">
              <a:ext uri="{FF2B5EF4-FFF2-40B4-BE49-F238E27FC236}">
                <a16:creationId xmlns:a16="http://schemas.microsoft.com/office/drawing/2014/main" id="{1123C29F-D604-4C14-822E-680F89A69F49}"/>
              </a:ext>
            </a:extLst>
          </p:cNvPr>
          <p:cNvSpPr>
            <a:spLocks xmlns:a="http://schemas.openxmlformats.org/drawingml/2006/main" noGrp="1"/>
          </p:cNvSpPr>
          <p:nvPr/>
        </p:nvSpPr>
        <p:spPr>
          <a:xfrm xmlns:a="http://schemas.openxmlformats.org/drawingml/2006/main">
            <a:off x="685800" y="4829175"/>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B68743"/>
                </a:solidFill>
                <a:latin typeface="Aptos"/>
                <a:ea typeface="Aptos"/>
                <a:cs typeface="Aptos"/>
              </a:defRPr>
            </a:defPPr>
            <a:lvl1pPr>
              <a:defRPr sz="2250" b="1">
                <a:solidFill>
                  <a:srgbClr val="B68743"/>
                </a:solidFill>
                <a:latin typeface="Aptos"/>
                <a:ea typeface="Aptos"/>
                <a:cs typeface="Aptos"/>
              </a:defRPr>
            </a:lvl1pPr>
            <a:lvl2pPr>
              <a:defRPr sz="2250" b="1">
                <a:solidFill>
                  <a:srgbClr val="B68743"/>
                </a:solidFill>
                <a:latin typeface="Aptos"/>
                <a:ea typeface="Aptos"/>
                <a:cs typeface="Aptos"/>
              </a:defRPr>
            </a:lvl2pPr>
            <a:lvl3pPr>
              <a:defRPr sz="2250" b="1">
                <a:solidFill>
                  <a:srgbClr val="B68743"/>
                </a:solidFill>
                <a:latin typeface="Aptos"/>
                <a:ea typeface="Aptos"/>
                <a:cs typeface="Aptos"/>
              </a:defRPr>
            </a:lvl3pPr>
            <a:lvl4pPr>
              <a:defRPr sz="2250" b="1">
                <a:solidFill>
                  <a:srgbClr val="B68743"/>
                </a:solidFill>
                <a:latin typeface="Aptos"/>
                <a:ea typeface="Aptos"/>
                <a:cs typeface="Aptos"/>
              </a:defRPr>
            </a:lvl4pPr>
            <a:lvl5pPr>
              <a:defRPr sz="2250" b="1">
                <a:solidFill>
                  <a:srgbClr val="B68743"/>
                </a:solidFill>
                <a:latin typeface="Aptos"/>
                <a:ea typeface="Aptos"/>
                <a:cs typeface="Aptos"/>
              </a:defRPr>
            </a:lvl5pPr>
            <a:lvl6pPr>
              <a:defRPr sz="2250" b="1">
                <a:solidFill>
                  <a:srgbClr val="B68743"/>
                </a:solidFill>
                <a:latin typeface="Aptos"/>
                <a:ea typeface="Aptos"/>
                <a:cs typeface="Aptos"/>
              </a:defRPr>
            </a:lvl6pPr>
            <a:lvl7pPr>
              <a:defRPr sz="2250" b="1">
                <a:solidFill>
                  <a:srgbClr val="B68743"/>
                </a:solidFill>
                <a:latin typeface="Aptos"/>
                <a:ea typeface="Aptos"/>
                <a:cs typeface="Aptos"/>
              </a:defRPr>
            </a:lvl7pPr>
            <a:lvl8pPr>
              <a:defRPr sz="2250" b="1">
                <a:solidFill>
                  <a:srgbClr val="B68743"/>
                </a:solidFill>
                <a:latin typeface="Aptos"/>
                <a:ea typeface="Aptos"/>
                <a:cs typeface="Aptos"/>
              </a:defRPr>
            </a:lvl8pPr>
            <a:lvl9pPr>
              <a:defRPr sz="2250" b="1">
                <a:solidFill>
                  <a:srgbClr val="B68743"/>
                </a:solidFill>
                <a:latin typeface="Aptos"/>
                <a:ea typeface="Aptos"/>
                <a:cs typeface="Aptos"/>
              </a:defRPr>
            </a:lvl9pPr>
          </a:lstStyle>
          <a:p xmlns:a="http://schemas.openxmlformats.org/drawingml/2006/main">
            <a:pPr>
              <a:defRPr sz="2250" b="1">
                <a:solidFill>
                  <a:srgbClr val="B68743"/>
                </a:solidFill>
                <a:latin typeface="Aptos"/>
                <a:ea typeface="Aptos"/>
                <a:cs typeface="Aptos"/>
              </a:defRPr>
            </a:pPr>
            <a:r>
              <a:rPr sz="2250" b="1">
                <a:solidFill>
                  <a:srgbClr val="B68743"/>
                </a:solidFill>
                <a:latin typeface="Aptos"/>
                <a:ea typeface="Aptos"/>
                <a:cs typeface="Aptos"/>
              </a:rPr>
              <a:t>2025</a:t>
            </a:r>
          </a:p>
        </p:txBody>
      </p:sp>
      <p:sp>
        <p:nvSpPr>
          <p:cNvPr id="9" name="text-8">
            <a:extLst xmlns:a="http://schemas.openxmlformats.org/drawingml/2006/main">
              <a:ext uri="{FF2B5EF4-FFF2-40B4-BE49-F238E27FC236}">
                <a16:creationId xmlns:a16="http://schemas.microsoft.com/office/drawing/2014/main" id="{96681DAB-0DB3-460F-BF4B-C31B06C57741}"/>
              </a:ext>
            </a:extLst>
          </p:cNvPr>
          <p:cNvSpPr>
            <a:spLocks xmlns:a="http://schemas.openxmlformats.org/drawingml/2006/main" noGrp="1"/>
          </p:cNvSpPr>
          <p:nvPr/>
        </p:nvSpPr>
        <p:spPr>
          <a:xfrm xmlns:a="http://schemas.openxmlformats.org/drawingml/2006/main">
            <a:off x="2162175" y="4829175"/>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Manchester announces an academic collaboration MoU.</a:t>
            </a:r>
          </a:p>
        </p:txBody>
      </p:sp>
      <p:pic>
        <p:nvPicPr>
          <p:cNvPr id="10" name="">
            <a:extLst xmlns:a="http://schemas.openxmlformats.org/drawingml/2006/main">
              <a:ext uri="{FF2B5EF4-FFF2-40B4-BE49-F238E27FC236}">
                <a16:creationId xmlns:a16="http://schemas.microsoft.com/office/drawing/2014/main" id="{D04B04FA-EE4D-427D-9735-49CA1C904F7D}"/>
              </a:ext>
            </a:extLst>
          </p:cNvPr>
          <p:cNvPicPr>
            <a:picLocks xmlns:a="http://schemas.openxmlformats.org/drawingml/2006/main" noChangeAspect="1"/>
          </p:cNvPicPr>
          <p:nvPr/>
        </p:nvPicPr>
        <p:blipFill>
          <a:blip xmlns:r="http://schemas.openxmlformats.org/officeDocument/2006/relationships" xmlns:a="http://schemas.openxmlformats.org/drawingml/2006/main" r:embed="Rc5136757555b465b"/>
          <a:stretch xmlns:a="http://schemas.openxmlformats.org/drawingml/2006/main"/>
        </p:blipFill>
        <p:spPr>
          <a:xfrm xmlns:a="http://schemas.openxmlformats.org/drawingml/2006/main">
            <a:off x="7019925" y="2296886"/>
            <a:ext cx="4476750" cy="3197679"/>
          </a:xfrm>
          <a:prstGeom xmlns:a="http://schemas.openxmlformats.org/drawingml/2006/main" prst="rect">
            <a:avLst/>
          </a:prstGeom>
        </p:spPr>
      </p:pic>
      <p:sp>
        <p:nvSpPr>
          <p:cNvPr id="11" name="text-9">
            <a:extLst xmlns:a="http://schemas.openxmlformats.org/drawingml/2006/main">
              <a:ext uri="{FF2B5EF4-FFF2-40B4-BE49-F238E27FC236}">
                <a16:creationId xmlns:a16="http://schemas.microsoft.com/office/drawing/2014/main" id="{C90A8B22-F5B6-43F8-ADC4-794E8A4A83CB}"/>
              </a:ext>
            </a:extLst>
          </p:cNvPr>
          <p:cNvSpPr>
            <a:spLocks xmlns:a="http://schemas.openxmlformats.org/drawingml/2006/main" noGrp="1"/>
          </p:cNvSpPr>
          <p:nvPr/>
        </p:nvSpPr>
        <p:spPr>
          <a:xfrm xmlns:a="http://schemas.openxmlformats.org/drawingml/2006/main">
            <a:off x="7019925" y="5810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Aido modular platform</a:t>
            </a:r>
          </a:p>
        </p:txBody>
      </p:sp>
      <p:sp>
        <p:nvSpPr>
          <p:cNvPr id="12" name="text-10">
            <a:extLst xmlns:a="http://schemas.openxmlformats.org/drawingml/2006/main">
              <a:ext uri="{FF2B5EF4-FFF2-40B4-BE49-F238E27FC236}">
                <a16:creationId xmlns:a16="http://schemas.microsoft.com/office/drawing/2014/main" id="{5001B129-F2AE-4829-BEAE-216691B85814}"/>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3" name="text-11">
            <a:extLst xmlns:a="http://schemas.openxmlformats.org/drawingml/2006/main">
              <a:ext uri="{FF2B5EF4-FFF2-40B4-BE49-F238E27FC236}">
                <a16:creationId xmlns:a16="http://schemas.microsoft.com/office/drawing/2014/main" id="{F1516D84-4C85-4CAA-A547-45BEA1478A15}"/>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04</a:t>
            </a:r>
          </a:p>
        </p:txBody>
      </p:sp>
      <p:sp>
        <p:nvSpPr>
          <p:cNvPr id="14" name="text-12">
            <a:extLst xmlns:a="http://schemas.openxmlformats.org/drawingml/2006/main">
              <a:ext uri="{FF2B5EF4-FFF2-40B4-BE49-F238E27FC236}">
                <a16:creationId xmlns:a16="http://schemas.microsoft.com/office/drawing/2014/main" id="{231116D3-BEC7-48EB-B495-934A678CB0FB}"/>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D E F</a:t>
            </a:r>
          </a:p>
        </p:txBody>
      </p:sp>
    </p:spTree>
    <p:extLst>
      <p:ext uri="{BB962C8B-B14F-4D97-AF65-F5344CB8AC3E}">
        <p14:creationId xmlns:p14="http://schemas.microsoft.com/office/powerpoint/2010/main" val="3343661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8963C54F-CE97-4BA6-9E99-511297D2A75F}"/>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Leadership and operating capabilities</a:t>
            </a:r>
          </a:p>
        </p:txBody>
      </p:sp>
      <p:pic>
        <p:nvPicPr>
          <p:cNvPr id="2" name="">
            <a:extLst xmlns:a="http://schemas.openxmlformats.org/drawingml/2006/main">
              <a:ext uri="{FF2B5EF4-FFF2-40B4-BE49-F238E27FC236}">
                <a16:creationId xmlns:a16="http://schemas.microsoft.com/office/drawing/2014/main" id="{B080F75A-1CB0-4241-B53B-3C300BFCC83E}"/>
              </a:ext>
            </a:extLst>
          </p:cNvPr>
          <p:cNvPicPr>
            <a:picLocks xmlns:a="http://schemas.openxmlformats.org/drawingml/2006/main" noChangeAspect="1"/>
          </p:cNvPicPr>
          <p:nvPr/>
        </p:nvPicPr>
        <p:blipFill>
          <a:blip xmlns:r="http://schemas.openxmlformats.org/officeDocument/2006/relationships" xmlns:a="http://schemas.openxmlformats.org/drawingml/2006/main" r:embed="R646d7c7ad82943fc"/>
          <a:stretch xmlns:a="http://schemas.openxmlformats.org/drawingml/2006/main"/>
        </p:blipFill>
        <p:spPr>
          <a:xfrm xmlns:a="http://schemas.openxmlformats.org/drawingml/2006/main">
            <a:off x="828675" y="1809750"/>
            <a:ext cx="2857500" cy="285750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BEE23ABF-D356-458C-AF0F-F157EC9F71AA}"/>
              </a:ext>
            </a:extLst>
          </p:cNvPr>
          <p:cNvSpPr>
            <a:spLocks xmlns:a="http://schemas.openxmlformats.org/drawingml/2006/main" noGrp="1"/>
          </p:cNvSpPr>
          <p:nvPr/>
        </p:nvSpPr>
        <p:spPr>
          <a:xfrm xmlns:a="http://schemas.openxmlformats.org/drawingml/2006/main">
            <a:off x="685800" y="4857750"/>
            <a:ext cx="3190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Arshad Hisham</a:t>
            </a:r>
          </a:p>
        </p:txBody>
      </p:sp>
      <p:sp>
        <p:nvSpPr>
          <p:cNvPr id="4" name="text-2">
            <a:extLst xmlns:a="http://schemas.openxmlformats.org/drawingml/2006/main">
              <a:ext uri="{FF2B5EF4-FFF2-40B4-BE49-F238E27FC236}">
                <a16:creationId xmlns:a16="http://schemas.microsoft.com/office/drawing/2014/main" id="{D12E19BD-8361-4EB8-9B42-86921957451E}"/>
              </a:ext>
            </a:extLst>
          </p:cNvPr>
          <p:cNvSpPr>
            <a:spLocks xmlns:a="http://schemas.openxmlformats.org/drawingml/2006/main" noGrp="1"/>
          </p:cNvSpPr>
          <p:nvPr/>
        </p:nvSpPr>
        <p:spPr>
          <a:xfrm xmlns:a="http://schemas.openxmlformats.org/drawingml/2006/main">
            <a:off x="685800" y="5267325"/>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172C43"/>
                </a:solidFill>
                <a:latin typeface="Aptos"/>
                <a:ea typeface="Aptos"/>
                <a:cs typeface="Aptos"/>
              </a:defRPr>
            </a:defPPr>
            <a:lvl1pPr>
              <a:defRPr sz="1725" b="1">
                <a:solidFill>
                  <a:srgbClr val="172C43"/>
                </a:solidFill>
                <a:latin typeface="Aptos"/>
                <a:ea typeface="Aptos"/>
                <a:cs typeface="Aptos"/>
              </a:defRPr>
            </a:lvl1pPr>
            <a:lvl2pPr>
              <a:defRPr sz="1725" b="1">
                <a:solidFill>
                  <a:srgbClr val="172C43"/>
                </a:solidFill>
                <a:latin typeface="Aptos"/>
                <a:ea typeface="Aptos"/>
                <a:cs typeface="Aptos"/>
              </a:defRPr>
            </a:lvl2pPr>
            <a:lvl3pPr>
              <a:defRPr sz="1725" b="1">
                <a:solidFill>
                  <a:srgbClr val="172C43"/>
                </a:solidFill>
                <a:latin typeface="Aptos"/>
                <a:ea typeface="Aptos"/>
                <a:cs typeface="Aptos"/>
              </a:defRPr>
            </a:lvl3pPr>
            <a:lvl4pPr>
              <a:defRPr sz="1725" b="1">
                <a:solidFill>
                  <a:srgbClr val="172C43"/>
                </a:solidFill>
                <a:latin typeface="Aptos"/>
                <a:ea typeface="Aptos"/>
                <a:cs typeface="Aptos"/>
              </a:defRPr>
            </a:lvl4pPr>
            <a:lvl5pPr>
              <a:defRPr sz="1725" b="1">
                <a:solidFill>
                  <a:srgbClr val="172C43"/>
                </a:solidFill>
                <a:latin typeface="Aptos"/>
                <a:ea typeface="Aptos"/>
                <a:cs typeface="Aptos"/>
              </a:defRPr>
            </a:lvl5pPr>
            <a:lvl6pPr>
              <a:defRPr sz="1725" b="1">
                <a:solidFill>
                  <a:srgbClr val="172C43"/>
                </a:solidFill>
                <a:latin typeface="Aptos"/>
                <a:ea typeface="Aptos"/>
                <a:cs typeface="Aptos"/>
              </a:defRPr>
            </a:lvl6pPr>
            <a:lvl7pPr>
              <a:defRPr sz="1725" b="1">
                <a:solidFill>
                  <a:srgbClr val="172C43"/>
                </a:solidFill>
                <a:latin typeface="Aptos"/>
                <a:ea typeface="Aptos"/>
                <a:cs typeface="Aptos"/>
              </a:defRPr>
            </a:lvl7pPr>
            <a:lvl8pPr>
              <a:defRPr sz="1725" b="1">
                <a:solidFill>
                  <a:srgbClr val="172C43"/>
                </a:solidFill>
                <a:latin typeface="Aptos"/>
                <a:ea typeface="Aptos"/>
                <a:cs typeface="Aptos"/>
              </a:defRPr>
            </a:lvl8pPr>
            <a:lvl9pPr>
              <a:defRPr sz="1725" b="1">
                <a:solidFill>
                  <a:srgbClr val="172C43"/>
                </a:solidFill>
                <a:latin typeface="Aptos"/>
                <a:ea typeface="Aptos"/>
                <a:cs typeface="Aptos"/>
              </a:defRPr>
            </a:lvl9pPr>
          </a:lstStyle>
          <a:p xmlns:a="http://schemas.openxmlformats.org/drawingml/2006/main">
            <a:pPr>
              <a:defRPr sz="1725" b="1">
                <a:solidFill>
                  <a:srgbClr val="172C43"/>
                </a:solidFill>
                <a:latin typeface="Aptos"/>
                <a:ea typeface="Aptos"/>
                <a:cs typeface="Aptos"/>
              </a:defRPr>
            </a:pPr>
            <a:r>
              <a:rPr sz="1725" b="1">
                <a:solidFill>
                  <a:srgbClr val="172C43"/>
                </a:solidFill>
                <a:latin typeface="Aptos"/>
                <a:ea typeface="Aptos"/>
                <a:cs typeface="Aptos"/>
              </a:rPr>
              <a:t>Founder &amp; CEO</a:t>
            </a:r>
          </a:p>
        </p:txBody>
      </p:sp>
      <p:sp>
        <p:nvSpPr>
          <p:cNvPr id="5" name="text-3">
            <a:extLst xmlns:a="http://schemas.openxmlformats.org/drawingml/2006/main">
              <a:ext uri="{FF2B5EF4-FFF2-40B4-BE49-F238E27FC236}">
                <a16:creationId xmlns:a16="http://schemas.microsoft.com/office/drawing/2014/main" id="{4B8FA5AA-A218-464E-B4FC-C8E9E660CBB1}"/>
              </a:ext>
            </a:extLst>
          </p:cNvPr>
          <p:cNvSpPr>
            <a:spLocks xmlns:a="http://schemas.openxmlformats.org/drawingml/2006/main" noGrp="1"/>
          </p:cNvSpPr>
          <p:nvPr/>
        </p:nvSpPr>
        <p:spPr>
          <a:xfrm xmlns:a="http://schemas.openxmlformats.org/drawingml/2006/main">
            <a:off x="685800" y="5705475"/>
            <a:ext cx="3190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650" b="0">
                <a:solidFill>
                  <a:srgbClr val="526477"/>
                </a:solidFill>
                <a:latin typeface="Aptos"/>
                <a:ea typeface="Aptos"/>
                <a:cs typeface="Aptos"/>
              </a:defRPr>
            </a:defPPr>
            <a:lvl1pPr>
              <a:defRPr sz="1650" b="0">
                <a:solidFill>
                  <a:srgbClr val="526477"/>
                </a:solidFill>
                <a:latin typeface="Aptos"/>
                <a:ea typeface="Aptos"/>
                <a:cs typeface="Aptos"/>
              </a:defRPr>
            </a:lvl1pPr>
            <a:lvl2pPr>
              <a:defRPr sz="1650" b="0">
                <a:solidFill>
                  <a:srgbClr val="526477"/>
                </a:solidFill>
                <a:latin typeface="Aptos"/>
                <a:ea typeface="Aptos"/>
                <a:cs typeface="Aptos"/>
              </a:defRPr>
            </a:lvl2pPr>
            <a:lvl3pPr>
              <a:defRPr sz="1650" b="0">
                <a:solidFill>
                  <a:srgbClr val="526477"/>
                </a:solidFill>
                <a:latin typeface="Aptos"/>
                <a:ea typeface="Aptos"/>
                <a:cs typeface="Aptos"/>
              </a:defRPr>
            </a:lvl3pPr>
            <a:lvl4pPr>
              <a:defRPr sz="1650" b="0">
                <a:solidFill>
                  <a:srgbClr val="526477"/>
                </a:solidFill>
                <a:latin typeface="Aptos"/>
                <a:ea typeface="Aptos"/>
                <a:cs typeface="Aptos"/>
              </a:defRPr>
            </a:lvl4pPr>
            <a:lvl5pPr>
              <a:defRPr sz="1650" b="0">
                <a:solidFill>
                  <a:srgbClr val="526477"/>
                </a:solidFill>
                <a:latin typeface="Aptos"/>
                <a:ea typeface="Aptos"/>
                <a:cs typeface="Aptos"/>
              </a:defRPr>
            </a:lvl5pPr>
            <a:lvl6pPr>
              <a:defRPr sz="1650" b="0">
                <a:solidFill>
                  <a:srgbClr val="526477"/>
                </a:solidFill>
                <a:latin typeface="Aptos"/>
                <a:ea typeface="Aptos"/>
                <a:cs typeface="Aptos"/>
              </a:defRPr>
            </a:lvl6pPr>
            <a:lvl7pPr>
              <a:defRPr sz="1650" b="0">
                <a:solidFill>
                  <a:srgbClr val="526477"/>
                </a:solidFill>
                <a:latin typeface="Aptos"/>
                <a:ea typeface="Aptos"/>
                <a:cs typeface="Aptos"/>
              </a:defRPr>
            </a:lvl7pPr>
            <a:lvl8pPr>
              <a:defRPr sz="1650" b="0">
                <a:solidFill>
                  <a:srgbClr val="526477"/>
                </a:solidFill>
                <a:latin typeface="Aptos"/>
                <a:ea typeface="Aptos"/>
                <a:cs typeface="Aptos"/>
              </a:defRPr>
            </a:lvl8pPr>
            <a:lvl9pPr>
              <a:defRPr sz="1650" b="0">
                <a:solidFill>
                  <a:srgbClr val="526477"/>
                </a:solidFill>
                <a:latin typeface="Aptos"/>
                <a:ea typeface="Aptos"/>
                <a:cs typeface="Aptos"/>
              </a:defRPr>
            </a:lvl9pPr>
          </a:lstStyle>
          <a:p xmlns:a="http://schemas.openxmlformats.org/drawingml/2006/main">
            <a:pPr>
              <a:defRPr sz="1650" b="0">
                <a:solidFill>
                  <a:srgbClr val="526477"/>
                </a:solidFill>
                <a:latin typeface="Aptos"/>
                <a:ea typeface="Aptos"/>
                <a:cs typeface="Aptos"/>
              </a:defRPr>
            </a:pPr>
            <a:r>
              <a:rPr sz="1650" b="0">
                <a:solidFill>
                  <a:srgbClr val="526477"/>
                </a:solidFill>
                <a:latin typeface="Aptos"/>
                <a:ea typeface="Aptos"/>
                <a:cs typeface="Aptos"/>
              </a:rPr>
              <a:t>Product strategy and business leadership</a:t>
            </a:r>
          </a:p>
        </p:txBody>
      </p:sp>
      <p:pic>
        <p:nvPicPr>
          <p:cNvPr id="6" name="">
            <a:extLst xmlns:a="http://schemas.openxmlformats.org/drawingml/2006/main">
              <a:ext uri="{FF2B5EF4-FFF2-40B4-BE49-F238E27FC236}">
                <a16:creationId xmlns:a16="http://schemas.microsoft.com/office/drawing/2014/main" id="{96A268CA-9C49-48C0-8A60-FFD868125D3F}"/>
              </a:ext>
            </a:extLst>
          </p:cNvPr>
          <p:cNvPicPr>
            <a:picLocks xmlns:a="http://schemas.openxmlformats.org/drawingml/2006/main" noChangeAspect="1"/>
          </p:cNvPicPr>
          <p:nvPr/>
        </p:nvPicPr>
        <p:blipFill>
          <a:blip xmlns:r="http://schemas.openxmlformats.org/officeDocument/2006/relationships" xmlns:a="http://schemas.openxmlformats.org/drawingml/2006/main" r:embed="R106b7b4a8a654c91"/>
          <a:stretch xmlns:a="http://schemas.openxmlformats.org/drawingml/2006/main"/>
        </p:blipFill>
        <p:spPr>
          <a:xfrm xmlns:a="http://schemas.openxmlformats.org/drawingml/2006/main">
            <a:off x="4524375" y="1809750"/>
            <a:ext cx="2857500" cy="285750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544D0CD1-EED2-4DD4-9DB2-D17DC7DBA1C4}"/>
              </a:ext>
            </a:extLst>
          </p:cNvPr>
          <p:cNvSpPr>
            <a:spLocks xmlns:a="http://schemas.openxmlformats.org/drawingml/2006/main" noGrp="1"/>
          </p:cNvSpPr>
          <p:nvPr/>
        </p:nvSpPr>
        <p:spPr>
          <a:xfrm xmlns:a="http://schemas.openxmlformats.org/drawingml/2006/main">
            <a:off x="4381500" y="4857750"/>
            <a:ext cx="3190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Rajeev Verma</a:t>
            </a:r>
          </a:p>
        </p:txBody>
      </p:sp>
      <p:sp>
        <p:nvSpPr>
          <p:cNvPr id="8" name="text-5">
            <a:extLst xmlns:a="http://schemas.openxmlformats.org/drawingml/2006/main">
              <a:ext uri="{FF2B5EF4-FFF2-40B4-BE49-F238E27FC236}">
                <a16:creationId xmlns:a16="http://schemas.microsoft.com/office/drawing/2014/main" id="{3A2BD9E2-07CB-456D-A129-CFA647CD31CE}"/>
              </a:ext>
            </a:extLst>
          </p:cNvPr>
          <p:cNvSpPr>
            <a:spLocks xmlns:a="http://schemas.openxmlformats.org/drawingml/2006/main" noGrp="1"/>
          </p:cNvSpPr>
          <p:nvPr/>
        </p:nvSpPr>
        <p:spPr>
          <a:xfrm xmlns:a="http://schemas.openxmlformats.org/drawingml/2006/main">
            <a:off x="4381500" y="5267325"/>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172C43"/>
                </a:solidFill>
                <a:latin typeface="Aptos"/>
                <a:ea typeface="Aptos"/>
                <a:cs typeface="Aptos"/>
              </a:defRPr>
            </a:defPPr>
            <a:lvl1pPr>
              <a:defRPr sz="1725" b="1">
                <a:solidFill>
                  <a:srgbClr val="172C43"/>
                </a:solidFill>
                <a:latin typeface="Aptos"/>
                <a:ea typeface="Aptos"/>
                <a:cs typeface="Aptos"/>
              </a:defRPr>
            </a:lvl1pPr>
            <a:lvl2pPr>
              <a:defRPr sz="1725" b="1">
                <a:solidFill>
                  <a:srgbClr val="172C43"/>
                </a:solidFill>
                <a:latin typeface="Aptos"/>
                <a:ea typeface="Aptos"/>
                <a:cs typeface="Aptos"/>
              </a:defRPr>
            </a:lvl2pPr>
            <a:lvl3pPr>
              <a:defRPr sz="1725" b="1">
                <a:solidFill>
                  <a:srgbClr val="172C43"/>
                </a:solidFill>
                <a:latin typeface="Aptos"/>
                <a:ea typeface="Aptos"/>
                <a:cs typeface="Aptos"/>
              </a:defRPr>
            </a:lvl3pPr>
            <a:lvl4pPr>
              <a:defRPr sz="1725" b="1">
                <a:solidFill>
                  <a:srgbClr val="172C43"/>
                </a:solidFill>
                <a:latin typeface="Aptos"/>
                <a:ea typeface="Aptos"/>
                <a:cs typeface="Aptos"/>
              </a:defRPr>
            </a:lvl4pPr>
            <a:lvl5pPr>
              <a:defRPr sz="1725" b="1">
                <a:solidFill>
                  <a:srgbClr val="172C43"/>
                </a:solidFill>
                <a:latin typeface="Aptos"/>
                <a:ea typeface="Aptos"/>
                <a:cs typeface="Aptos"/>
              </a:defRPr>
            </a:lvl5pPr>
            <a:lvl6pPr>
              <a:defRPr sz="1725" b="1">
                <a:solidFill>
                  <a:srgbClr val="172C43"/>
                </a:solidFill>
                <a:latin typeface="Aptos"/>
                <a:ea typeface="Aptos"/>
                <a:cs typeface="Aptos"/>
              </a:defRPr>
            </a:lvl6pPr>
            <a:lvl7pPr>
              <a:defRPr sz="1725" b="1">
                <a:solidFill>
                  <a:srgbClr val="172C43"/>
                </a:solidFill>
                <a:latin typeface="Aptos"/>
                <a:ea typeface="Aptos"/>
                <a:cs typeface="Aptos"/>
              </a:defRPr>
            </a:lvl7pPr>
            <a:lvl8pPr>
              <a:defRPr sz="1725" b="1">
                <a:solidFill>
                  <a:srgbClr val="172C43"/>
                </a:solidFill>
                <a:latin typeface="Aptos"/>
                <a:ea typeface="Aptos"/>
                <a:cs typeface="Aptos"/>
              </a:defRPr>
            </a:lvl8pPr>
            <a:lvl9pPr>
              <a:defRPr sz="1725" b="1">
                <a:solidFill>
                  <a:srgbClr val="172C43"/>
                </a:solidFill>
                <a:latin typeface="Aptos"/>
                <a:ea typeface="Aptos"/>
                <a:cs typeface="Aptos"/>
              </a:defRPr>
            </a:lvl9pPr>
          </a:lstStyle>
          <a:p xmlns:a="http://schemas.openxmlformats.org/drawingml/2006/main">
            <a:pPr>
              <a:defRPr sz="1725" b="1">
                <a:solidFill>
                  <a:srgbClr val="172C43"/>
                </a:solidFill>
                <a:latin typeface="Aptos"/>
                <a:ea typeface="Aptos"/>
                <a:cs typeface="Aptos"/>
              </a:defRPr>
            </a:pPr>
            <a:r>
              <a:rPr sz="1725" b="1">
                <a:solidFill>
                  <a:srgbClr val="172C43"/>
                </a:solidFill>
                <a:latin typeface="Aptos"/>
                <a:ea typeface="Aptos"/>
                <a:cs typeface="Aptos"/>
              </a:rPr>
              <a:t>Chief Technology Officer</a:t>
            </a:r>
          </a:p>
        </p:txBody>
      </p:sp>
      <p:sp>
        <p:nvSpPr>
          <p:cNvPr id="9" name="text-6">
            <a:extLst xmlns:a="http://schemas.openxmlformats.org/drawingml/2006/main">
              <a:ext uri="{FF2B5EF4-FFF2-40B4-BE49-F238E27FC236}">
                <a16:creationId xmlns:a16="http://schemas.microsoft.com/office/drawing/2014/main" id="{4E01601C-A18E-40C6-A421-844D77E1B411}"/>
              </a:ext>
            </a:extLst>
          </p:cNvPr>
          <p:cNvSpPr>
            <a:spLocks xmlns:a="http://schemas.openxmlformats.org/drawingml/2006/main" noGrp="1"/>
          </p:cNvSpPr>
          <p:nvPr/>
        </p:nvSpPr>
        <p:spPr>
          <a:xfrm xmlns:a="http://schemas.openxmlformats.org/drawingml/2006/main">
            <a:off x="4381500" y="5705475"/>
            <a:ext cx="3190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650" b="0">
                <a:solidFill>
                  <a:srgbClr val="526477"/>
                </a:solidFill>
                <a:latin typeface="Aptos"/>
                <a:ea typeface="Aptos"/>
                <a:cs typeface="Aptos"/>
              </a:defRPr>
            </a:defPPr>
            <a:lvl1pPr>
              <a:defRPr sz="1650" b="0">
                <a:solidFill>
                  <a:srgbClr val="526477"/>
                </a:solidFill>
                <a:latin typeface="Aptos"/>
                <a:ea typeface="Aptos"/>
                <a:cs typeface="Aptos"/>
              </a:defRPr>
            </a:lvl1pPr>
            <a:lvl2pPr>
              <a:defRPr sz="1650" b="0">
                <a:solidFill>
                  <a:srgbClr val="526477"/>
                </a:solidFill>
                <a:latin typeface="Aptos"/>
                <a:ea typeface="Aptos"/>
                <a:cs typeface="Aptos"/>
              </a:defRPr>
            </a:lvl2pPr>
            <a:lvl3pPr>
              <a:defRPr sz="1650" b="0">
                <a:solidFill>
                  <a:srgbClr val="526477"/>
                </a:solidFill>
                <a:latin typeface="Aptos"/>
                <a:ea typeface="Aptos"/>
                <a:cs typeface="Aptos"/>
              </a:defRPr>
            </a:lvl3pPr>
            <a:lvl4pPr>
              <a:defRPr sz="1650" b="0">
                <a:solidFill>
                  <a:srgbClr val="526477"/>
                </a:solidFill>
                <a:latin typeface="Aptos"/>
                <a:ea typeface="Aptos"/>
                <a:cs typeface="Aptos"/>
              </a:defRPr>
            </a:lvl4pPr>
            <a:lvl5pPr>
              <a:defRPr sz="1650" b="0">
                <a:solidFill>
                  <a:srgbClr val="526477"/>
                </a:solidFill>
                <a:latin typeface="Aptos"/>
                <a:ea typeface="Aptos"/>
                <a:cs typeface="Aptos"/>
              </a:defRPr>
            </a:lvl5pPr>
            <a:lvl6pPr>
              <a:defRPr sz="1650" b="0">
                <a:solidFill>
                  <a:srgbClr val="526477"/>
                </a:solidFill>
                <a:latin typeface="Aptos"/>
                <a:ea typeface="Aptos"/>
                <a:cs typeface="Aptos"/>
              </a:defRPr>
            </a:lvl6pPr>
            <a:lvl7pPr>
              <a:defRPr sz="1650" b="0">
                <a:solidFill>
                  <a:srgbClr val="526477"/>
                </a:solidFill>
                <a:latin typeface="Aptos"/>
                <a:ea typeface="Aptos"/>
                <a:cs typeface="Aptos"/>
              </a:defRPr>
            </a:lvl7pPr>
            <a:lvl8pPr>
              <a:defRPr sz="1650" b="0">
                <a:solidFill>
                  <a:srgbClr val="526477"/>
                </a:solidFill>
                <a:latin typeface="Aptos"/>
                <a:ea typeface="Aptos"/>
                <a:cs typeface="Aptos"/>
              </a:defRPr>
            </a:lvl8pPr>
            <a:lvl9pPr>
              <a:defRPr sz="1650" b="0">
                <a:solidFill>
                  <a:srgbClr val="526477"/>
                </a:solidFill>
                <a:latin typeface="Aptos"/>
                <a:ea typeface="Aptos"/>
                <a:cs typeface="Aptos"/>
              </a:defRPr>
            </a:lvl9pPr>
          </a:lstStyle>
          <a:p xmlns:a="http://schemas.openxmlformats.org/drawingml/2006/main">
            <a:pPr>
              <a:defRPr sz="1650" b="0">
                <a:solidFill>
                  <a:srgbClr val="526477"/>
                </a:solidFill>
                <a:latin typeface="Aptos"/>
                <a:ea typeface="Aptos"/>
                <a:cs typeface="Aptos"/>
              </a:defRPr>
            </a:pPr>
            <a:r>
              <a:rPr sz="1650" b="0">
                <a:solidFill>
                  <a:srgbClr val="526477"/>
                </a:solidFill>
                <a:latin typeface="Aptos"/>
                <a:ea typeface="Aptos"/>
                <a:cs typeface="Aptos"/>
              </a:rPr>
              <a:t>Engineering and product development</a:t>
            </a:r>
          </a:p>
        </p:txBody>
      </p:sp>
      <p:pic>
        <p:nvPicPr>
          <p:cNvPr id="10" name="">
            <a:extLst xmlns:a="http://schemas.openxmlformats.org/drawingml/2006/main">
              <a:ext uri="{FF2B5EF4-FFF2-40B4-BE49-F238E27FC236}">
                <a16:creationId xmlns:a16="http://schemas.microsoft.com/office/drawing/2014/main" id="{C8B037EF-E7DB-4F6C-8B0F-428746FBFB3B}"/>
              </a:ext>
            </a:extLst>
          </p:cNvPr>
          <p:cNvPicPr>
            <a:picLocks xmlns:a="http://schemas.openxmlformats.org/drawingml/2006/main" noChangeAspect="1"/>
          </p:cNvPicPr>
          <p:nvPr/>
        </p:nvPicPr>
        <p:blipFill>
          <a:blip xmlns:r="http://schemas.openxmlformats.org/officeDocument/2006/relationships" xmlns:a="http://schemas.openxmlformats.org/drawingml/2006/main" r:embed="R8755850daf4749ff"/>
          <a:stretch xmlns:a="http://schemas.openxmlformats.org/drawingml/2006/main"/>
        </p:blipFill>
        <p:spPr>
          <a:xfrm xmlns:a="http://schemas.openxmlformats.org/drawingml/2006/main">
            <a:off x="8474510" y="1809750"/>
            <a:ext cx="2348630" cy="2857500"/>
          </a:xfrm>
          <a:prstGeom xmlns:a="http://schemas.openxmlformats.org/drawingml/2006/main" prst="rect">
            <a:avLst/>
          </a:prstGeom>
        </p:spPr>
      </p:pic>
      <p:sp>
        <p:nvSpPr>
          <p:cNvPr id="11" name="text-7">
            <a:extLst xmlns:a="http://schemas.openxmlformats.org/drawingml/2006/main">
              <a:ext uri="{FF2B5EF4-FFF2-40B4-BE49-F238E27FC236}">
                <a16:creationId xmlns:a16="http://schemas.microsoft.com/office/drawing/2014/main" id="{36397943-E4A9-4989-BEB0-71DA6C7AD2AE}"/>
              </a:ext>
            </a:extLst>
          </p:cNvPr>
          <p:cNvSpPr>
            <a:spLocks xmlns:a="http://schemas.openxmlformats.org/drawingml/2006/main" noGrp="1"/>
          </p:cNvSpPr>
          <p:nvPr/>
        </p:nvSpPr>
        <p:spPr>
          <a:xfrm xmlns:a="http://schemas.openxmlformats.org/drawingml/2006/main">
            <a:off x="8077200" y="4857750"/>
            <a:ext cx="3190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Diana Chuyko</a:t>
            </a:r>
          </a:p>
        </p:txBody>
      </p:sp>
      <p:sp>
        <p:nvSpPr>
          <p:cNvPr id="12" name="text-8">
            <a:extLst xmlns:a="http://schemas.openxmlformats.org/drawingml/2006/main">
              <a:ext uri="{FF2B5EF4-FFF2-40B4-BE49-F238E27FC236}">
                <a16:creationId xmlns:a16="http://schemas.microsoft.com/office/drawing/2014/main" id="{0DB5C1C1-8F63-4332-B731-2A889AAB5ED9}"/>
              </a:ext>
            </a:extLst>
          </p:cNvPr>
          <p:cNvSpPr>
            <a:spLocks xmlns:a="http://schemas.openxmlformats.org/drawingml/2006/main" noGrp="1"/>
          </p:cNvSpPr>
          <p:nvPr/>
        </p:nvSpPr>
        <p:spPr>
          <a:xfrm xmlns:a="http://schemas.openxmlformats.org/drawingml/2006/main">
            <a:off x="8077200" y="5267325"/>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172C43"/>
                </a:solidFill>
                <a:latin typeface="Aptos"/>
                <a:ea typeface="Aptos"/>
                <a:cs typeface="Aptos"/>
              </a:defRPr>
            </a:defPPr>
            <a:lvl1pPr>
              <a:defRPr sz="1725" b="1">
                <a:solidFill>
                  <a:srgbClr val="172C43"/>
                </a:solidFill>
                <a:latin typeface="Aptos"/>
                <a:ea typeface="Aptos"/>
                <a:cs typeface="Aptos"/>
              </a:defRPr>
            </a:lvl1pPr>
            <a:lvl2pPr>
              <a:defRPr sz="1725" b="1">
                <a:solidFill>
                  <a:srgbClr val="172C43"/>
                </a:solidFill>
                <a:latin typeface="Aptos"/>
                <a:ea typeface="Aptos"/>
                <a:cs typeface="Aptos"/>
              </a:defRPr>
            </a:lvl2pPr>
            <a:lvl3pPr>
              <a:defRPr sz="1725" b="1">
                <a:solidFill>
                  <a:srgbClr val="172C43"/>
                </a:solidFill>
                <a:latin typeface="Aptos"/>
                <a:ea typeface="Aptos"/>
                <a:cs typeface="Aptos"/>
              </a:defRPr>
            </a:lvl3pPr>
            <a:lvl4pPr>
              <a:defRPr sz="1725" b="1">
                <a:solidFill>
                  <a:srgbClr val="172C43"/>
                </a:solidFill>
                <a:latin typeface="Aptos"/>
                <a:ea typeface="Aptos"/>
                <a:cs typeface="Aptos"/>
              </a:defRPr>
            </a:lvl4pPr>
            <a:lvl5pPr>
              <a:defRPr sz="1725" b="1">
                <a:solidFill>
                  <a:srgbClr val="172C43"/>
                </a:solidFill>
                <a:latin typeface="Aptos"/>
                <a:ea typeface="Aptos"/>
                <a:cs typeface="Aptos"/>
              </a:defRPr>
            </a:lvl5pPr>
            <a:lvl6pPr>
              <a:defRPr sz="1725" b="1">
                <a:solidFill>
                  <a:srgbClr val="172C43"/>
                </a:solidFill>
                <a:latin typeface="Aptos"/>
                <a:ea typeface="Aptos"/>
                <a:cs typeface="Aptos"/>
              </a:defRPr>
            </a:lvl6pPr>
            <a:lvl7pPr>
              <a:defRPr sz="1725" b="1">
                <a:solidFill>
                  <a:srgbClr val="172C43"/>
                </a:solidFill>
                <a:latin typeface="Aptos"/>
                <a:ea typeface="Aptos"/>
                <a:cs typeface="Aptos"/>
              </a:defRPr>
            </a:lvl7pPr>
            <a:lvl8pPr>
              <a:defRPr sz="1725" b="1">
                <a:solidFill>
                  <a:srgbClr val="172C43"/>
                </a:solidFill>
                <a:latin typeface="Aptos"/>
                <a:ea typeface="Aptos"/>
                <a:cs typeface="Aptos"/>
              </a:defRPr>
            </a:lvl8pPr>
            <a:lvl9pPr>
              <a:defRPr sz="1725" b="1">
                <a:solidFill>
                  <a:srgbClr val="172C43"/>
                </a:solidFill>
                <a:latin typeface="Aptos"/>
                <a:ea typeface="Aptos"/>
                <a:cs typeface="Aptos"/>
              </a:defRPr>
            </a:lvl9pPr>
          </a:lstStyle>
          <a:p xmlns:a="http://schemas.openxmlformats.org/drawingml/2006/main">
            <a:pPr>
              <a:defRPr sz="1725" b="1">
                <a:solidFill>
                  <a:srgbClr val="172C43"/>
                </a:solidFill>
                <a:latin typeface="Aptos"/>
                <a:ea typeface="Aptos"/>
                <a:cs typeface="Aptos"/>
              </a:defRPr>
            </a:pPr>
            <a:r>
              <a:rPr sz="1725" b="1">
                <a:solidFill>
                  <a:srgbClr val="172C43"/>
                </a:solidFill>
                <a:latin typeface="Aptos"/>
                <a:ea typeface="Aptos"/>
                <a:cs typeface="Aptos"/>
              </a:rPr>
              <a:t>Vice President, Marketing</a:t>
            </a:r>
          </a:p>
        </p:txBody>
      </p:sp>
      <p:sp>
        <p:nvSpPr>
          <p:cNvPr id="13" name="text-9">
            <a:extLst xmlns:a="http://schemas.openxmlformats.org/drawingml/2006/main">
              <a:ext uri="{FF2B5EF4-FFF2-40B4-BE49-F238E27FC236}">
                <a16:creationId xmlns:a16="http://schemas.microsoft.com/office/drawing/2014/main" id="{D8E5CF65-4944-4550-9ABE-B05B0D2DF468}"/>
              </a:ext>
            </a:extLst>
          </p:cNvPr>
          <p:cNvSpPr>
            <a:spLocks xmlns:a="http://schemas.openxmlformats.org/drawingml/2006/main" noGrp="1"/>
          </p:cNvSpPr>
          <p:nvPr/>
        </p:nvSpPr>
        <p:spPr>
          <a:xfrm xmlns:a="http://schemas.openxmlformats.org/drawingml/2006/main">
            <a:off x="8077200" y="5705475"/>
            <a:ext cx="3190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650" b="0">
                <a:solidFill>
                  <a:srgbClr val="526477"/>
                </a:solidFill>
                <a:latin typeface="Aptos"/>
                <a:ea typeface="Aptos"/>
                <a:cs typeface="Aptos"/>
              </a:defRPr>
            </a:defPPr>
            <a:lvl1pPr>
              <a:defRPr sz="1650" b="0">
                <a:solidFill>
                  <a:srgbClr val="526477"/>
                </a:solidFill>
                <a:latin typeface="Aptos"/>
                <a:ea typeface="Aptos"/>
                <a:cs typeface="Aptos"/>
              </a:defRPr>
            </a:lvl1pPr>
            <a:lvl2pPr>
              <a:defRPr sz="1650" b="0">
                <a:solidFill>
                  <a:srgbClr val="526477"/>
                </a:solidFill>
                <a:latin typeface="Aptos"/>
                <a:ea typeface="Aptos"/>
                <a:cs typeface="Aptos"/>
              </a:defRPr>
            </a:lvl2pPr>
            <a:lvl3pPr>
              <a:defRPr sz="1650" b="0">
                <a:solidFill>
                  <a:srgbClr val="526477"/>
                </a:solidFill>
                <a:latin typeface="Aptos"/>
                <a:ea typeface="Aptos"/>
                <a:cs typeface="Aptos"/>
              </a:defRPr>
            </a:lvl3pPr>
            <a:lvl4pPr>
              <a:defRPr sz="1650" b="0">
                <a:solidFill>
                  <a:srgbClr val="526477"/>
                </a:solidFill>
                <a:latin typeface="Aptos"/>
                <a:ea typeface="Aptos"/>
                <a:cs typeface="Aptos"/>
              </a:defRPr>
            </a:lvl4pPr>
            <a:lvl5pPr>
              <a:defRPr sz="1650" b="0">
                <a:solidFill>
                  <a:srgbClr val="526477"/>
                </a:solidFill>
                <a:latin typeface="Aptos"/>
                <a:ea typeface="Aptos"/>
                <a:cs typeface="Aptos"/>
              </a:defRPr>
            </a:lvl5pPr>
            <a:lvl6pPr>
              <a:defRPr sz="1650" b="0">
                <a:solidFill>
                  <a:srgbClr val="526477"/>
                </a:solidFill>
                <a:latin typeface="Aptos"/>
                <a:ea typeface="Aptos"/>
                <a:cs typeface="Aptos"/>
              </a:defRPr>
            </a:lvl6pPr>
            <a:lvl7pPr>
              <a:defRPr sz="1650" b="0">
                <a:solidFill>
                  <a:srgbClr val="526477"/>
                </a:solidFill>
                <a:latin typeface="Aptos"/>
                <a:ea typeface="Aptos"/>
                <a:cs typeface="Aptos"/>
              </a:defRPr>
            </a:lvl7pPr>
            <a:lvl8pPr>
              <a:defRPr sz="1650" b="0">
                <a:solidFill>
                  <a:srgbClr val="526477"/>
                </a:solidFill>
                <a:latin typeface="Aptos"/>
                <a:ea typeface="Aptos"/>
                <a:cs typeface="Aptos"/>
              </a:defRPr>
            </a:lvl8pPr>
            <a:lvl9pPr>
              <a:defRPr sz="1650" b="0">
                <a:solidFill>
                  <a:srgbClr val="526477"/>
                </a:solidFill>
                <a:latin typeface="Aptos"/>
                <a:ea typeface="Aptos"/>
                <a:cs typeface="Aptos"/>
              </a:defRPr>
            </a:lvl9pPr>
          </a:lstStyle>
          <a:p xmlns:a="http://schemas.openxmlformats.org/drawingml/2006/main">
            <a:pPr>
              <a:defRPr sz="1650" b="0">
                <a:solidFill>
                  <a:srgbClr val="526477"/>
                </a:solidFill>
                <a:latin typeface="Aptos"/>
                <a:ea typeface="Aptos"/>
                <a:cs typeface="Aptos"/>
              </a:defRPr>
            </a:pPr>
            <a:r>
              <a:rPr sz="1650" b="0">
                <a:solidFill>
                  <a:srgbClr val="526477"/>
                </a:solidFill>
                <a:latin typeface="Aptos"/>
                <a:ea typeface="Aptos"/>
                <a:cs typeface="Aptos"/>
              </a:rPr>
              <a:t>Brand positioning and demand generation</a:t>
            </a:r>
          </a:p>
        </p:txBody>
      </p:sp>
      <p:sp>
        <p:nvSpPr>
          <p:cNvPr id="14" name="text-10">
            <a:extLst xmlns:a="http://schemas.openxmlformats.org/drawingml/2006/main">
              <a:ext uri="{FF2B5EF4-FFF2-40B4-BE49-F238E27FC236}">
                <a16:creationId xmlns:a16="http://schemas.microsoft.com/office/drawing/2014/main" id="{2BFE8F6D-EB2D-4522-A0E0-839CB1581BA4}"/>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5" name="text-11">
            <a:extLst xmlns:a="http://schemas.openxmlformats.org/drawingml/2006/main">
              <a:ext uri="{FF2B5EF4-FFF2-40B4-BE49-F238E27FC236}">
                <a16:creationId xmlns:a16="http://schemas.microsoft.com/office/drawing/2014/main" id="{C9DF972B-3049-44D9-9BFC-697F6CE588DE}"/>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05</a:t>
            </a:r>
          </a:p>
        </p:txBody>
      </p:sp>
      <p:sp>
        <p:nvSpPr>
          <p:cNvPr id="16" name="text-12">
            <a:extLst xmlns:a="http://schemas.openxmlformats.org/drawingml/2006/main">
              <a:ext uri="{FF2B5EF4-FFF2-40B4-BE49-F238E27FC236}">
                <a16:creationId xmlns:a16="http://schemas.microsoft.com/office/drawing/2014/main" id="{E54291C1-BF00-4027-A3FE-90D6EE662718}"/>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E</a:t>
            </a:r>
          </a:p>
        </p:txBody>
      </p:sp>
    </p:spTree>
    <p:extLst>
      <p:ext uri="{BB962C8B-B14F-4D97-AF65-F5344CB8AC3E}">
        <p14:creationId xmlns:p14="http://schemas.microsoft.com/office/powerpoint/2010/main" val="19883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B2FA9849-FF85-41CA-B07D-AB5B37A634EC}"/>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Product portfolio and maturity</a:t>
            </a:r>
          </a:p>
        </p:txBody>
      </p:sp>
      <p:sp>
        <p:nvSpPr>
          <p:cNvPr id="2" name="text-1">
            <a:extLst xmlns:a="http://schemas.openxmlformats.org/drawingml/2006/main">
              <a:ext uri="{FF2B5EF4-FFF2-40B4-BE49-F238E27FC236}">
                <a16:creationId xmlns:a16="http://schemas.microsoft.com/office/drawing/2014/main" id="{E8B2816E-724B-471F-9763-4167FA7607F6}"/>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Company website status as of October 2026</a:t>
            </a:r>
          </a:p>
        </p:txBody>
      </p:sp>
      <p:sp>
        <p:nvSpPr>
          <p:cNvPr id="3" name="text-2">
            <a:extLst xmlns:a="http://schemas.openxmlformats.org/drawingml/2006/main">
              <a:ext uri="{FF2B5EF4-FFF2-40B4-BE49-F238E27FC236}">
                <a16:creationId xmlns:a16="http://schemas.microsoft.com/office/drawing/2014/main" id="{AF60749D-B267-4257-A13C-28C0A3E07669}"/>
              </a:ext>
            </a:extLst>
          </p:cNvPr>
          <p:cNvSpPr>
            <a:spLocks xmlns:a="http://schemas.openxmlformats.org/drawingml/2006/main" noGrp="1"/>
          </p:cNvSpPr>
          <p:nvPr/>
        </p:nvSpPr>
        <p:spPr>
          <a:xfrm xmlns:a="http://schemas.openxmlformats.org/drawingml/2006/main">
            <a:off x="685800" y="2476500"/>
            <a:ext cx="490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Operational</a:t>
            </a:r>
          </a:p>
        </p:txBody>
      </p:sp>
      <p:sp>
        <p:nvSpPr>
          <p:cNvPr id="4" name="text-3">
            <a:extLst xmlns:a="http://schemas.openxmlformats.org/drawingml/2006/main">
              <a:ext uri="{FF2B5EF4-FFF2-40B4-BE49-F238E27FC236}">
                <a16:creationId xmlns:a16="http://schemas.microsoft.com/office/drawing/2014/main" id="{8273AF1B-B908-416D-AE8D-5C5E53125B7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Sentinel Prime, Kaiser.Haus, Futurenauts</a:t>
            </a:r>
          </a:p>
        </p:txBody>
      </p:sp>
      <p:sp>
        <p:nvSpPr>
          <p:cNvPr id="5" name="text-4">
            <a:extLst xmlns:a="http://schemas.openxmlformats.org/drawingml/2006/main">
              <a:ext uri="{FF2B5EF4-FFF2-40B4-BE49-F238E27FC236}">
                <a16:creationId xmlns:a16="http://schemas.microsoft.com/office/drawing/2014/main" id="{97A6315B-7787-4BBF-BD00-D3E2332B154C}"/>
              </a:ext>
            </a:extLst>
          </p:cNvPr>
          <p:cNvSpPr>
            <a:spLocks xmlns:a="http://schemas.openxmlformats.org/drawingml/2006/main" noGrp="1"/>
          </p:cNvSpPr>
          <p:nvPr/>
        </p:nvSpPr>
        <p:spPr>
          <a:xfrm xmlns:a="http://schemas.openxmlformats.org/drawingml/2006/main">
            <a:off x="685800" y="3629025"/>
            <a:ext cx="490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In development</a:t>
            </a:r>
          </a:p>
        </p:txBody>
      </p:sp>
      <p:sp>
        <p:nvSpPr>
          <p:cNvPr id="6" name="text-5">
            <a:extLst xmlns:a="http://schemas.openxmlformats.org/drawingml/2006/main">
              <a:ext uri="{FF2B5EF4-FFF2-40B4-BE49-F238E27FC236}">
                <a16:creationId xmlns:a16="http://schemas.microsoft.com/office/drawing/2014/main" id="{134021B9-B95D-43EE-A9C6-37E3FD9E1D1F}"/>
              </a:ext>
            </a:extLst>
          </p:cNvPr>
          <p:cNvSpPr>
            <a:spLocks xmlns:a="http://schemas.openxmlformats.org/drawingml/2006/main" noGrp="1"/>
          </p:cNvSpPr>
          <p:nvPr/>
        </p:nvSpPr>
        <p:spPr>
          <a:xfrm xmlns:a="http://schemas.openxmlformats.org/drawingml/2006/main">
            <a:off x="685800" y="4057650"/>
            <a:ext cx="4905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Aido, Carry &amp; Go, Fari, Senpai, Kobe, Origami AI</a:t>
            </a:r>
          </a:p>
        </p:txBody>
      </p:sp>
      <p:sp>
        <p:nvSpPr>
          <p:cNvPr id="7" name="text-6">
            <a:extLst xmlns:a="http://schemas.openxmlformats.org/drawingml/2006/main">
              <a:ext uri="{FF2B5EF4-FFF2-40B4-BE49-F238E27FC236}">
                <a16:creationId xmlns:a16="http://schemas.microsoft.com/office/drawing/2014/main" id="{CAAF0238-4C22-4472-A721-A6F077C6F2AB}"/>
              </a:ext>
            </a:extLst>
          </p:cNvPr>
          <p:cNvSpPr>
            <a:spLocks xmlns:a="http://schemas.openxmlformats.org/drawingml/2006/main" noGrp="1"/>
          </p:cNvSpPr>
          <p:nvPr/>
        </p:nvSpPr>
        <p:spPr>
          <a:xfrm xmlns:a="http://schemas.openxmlformats.org/drawingml/2006/main">
            <a:off x="685800" y="4781550"/>
            <a:ext cx="490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B68743"/>
                </a:solidFill>
                <a:latin typeface="Aptos"/>
                <a:ea typeface="Aptos"/>
                <a:cs typeface="Aptos"/>
              </a:defRPr>
            </a:defPPr>
            <a:lvl1pPr>
              <a:defRPr sz="2100" b="1">
                <a:solidFill>
                  <a:srgbClr val="B68743"/>
                </a:solidFill>
                <a:latin typeface="Aptos"/>
                <a:ea typeface="Aptos"/>
                <a:cs typeface="Aptos"/>
              </a:defRPr>
            </a:lvl1pPr>
            <a:lvl2pPr>
              <a:defRPr sz="2100" b="1">
                <a:solidFill>
                  <a:srgbClr val="B68743"/>
                </a:solidFill>
                <a:latin typeface="Aptos"/>
                <a:ea typeface="Aptos"/>
                <a:cs typeface="Aptos"/>
              </a:defRPr>
            </a:lvl2pPr>
            <a:lvl3pPr>
              <a:defRPr sz="2100" b="1">
                <a:solidFill>
                  <a:srgbClr val="B68743"/>
                </a:solidFill>
                <a:latin typeface="Aptos"/>
                <a:ea typeface="Aptos"/>
                <a:cs typeface="Aptos"/>
              </a:defRPr>
            </a:lvl3pPr>
            <a:lvl4pPr>
              <a:defRPr sz="2100" b="1">
                <a:solidFill>
                  <a:srgbClr val="B68743"/>
                </a:solidFill>
                <a:latin typeface="Aptos"/>
                <a:ea typeface="Aptos"/>
                <a:cs typeface="Aptos"/>
              </a:defRPr>
            </a:lvl4pPr>
            <a:lvl5pPr>
              <a:defRPr sz="2100" b="1">
                <a:solidFill>
                  <a:srgbClr val="B68743"/>
                </a:solidFill>
                <a:latin typeface="Aptos"/>
                <a:ea typeface="Aptos"/>
                <a:cs typeface="Aptos"/>
              </a:defRPr>
            </a:lvl5pPr>
            <a:lvl6pPr>
              <a:defRPr sz="2100" b="1">
                <a:solidFill>
                  <a:srgbClr val="B68743"/>
                </a:solidFill>
                <a:latin typeface="Aptos"/>
                <a:ea typeface="Aptos"/>
                <a:cs typeface="Aptos"/>
              </a:defRPr>
            </a:lvl6pPr>
            <a:lvl7pPr>
              <a:defRPr sz="2100" b="1">
                <a:solidFill>
                  <a:srgbClr val="B68743"/>
                </a:solidFill>
                <a:latin typeface="Aptos"/>
                <a:ea typeface="Aptos"/>
                <a:cs typeface="Aptos"/>
              </a:defRPr>
            </a:lvl7pPr>
            <a:lvl8pPr>
              <a:defRPr sz="2100" b="1">
                <a:solidFill>
                  <a:srgbClr val="B68743"/>
                </a:solidFill>
                <a:latin typeface="Aptos"/>
                <a:ea typeface="Aptos"/>
                <a:cs typeface="Aptos"/>
              </a:defRPr>
            </a:lvl8pPr>
            <a:lvl9pPr>
              <a:defRPr sz="2100" b="1">
                <a:solidFill>
                  <a:srgbClr val="B68743"/>
                </a:solidFill>
                <a:latin typeface="Aptos"/>
                <a:ea typeface="Aptos"/>
                <a:cs typeface="Aptos"/>
              </a:defRPr>
            </a:lvl9pPr>
          </a:lstStyle>
          <a:p xmlns:a="http://schemas.openxmlformats.org/drawingml/2006/main">
            <a:pPr>
              <a:defRPr sz="2100" b="1">
                <a:solidFill>
                  <a:srgbClr val="B68743"/>
                </a:solidFill>
                <a:latin typeface="Aptos"/>
                <a:ea typeface="Aptos"/>
                <a:cs typeface="Aptos"/>
              </a:defRPr>
            </a:pPr>
            <a:r>
              <a:rPr sz="2100" b="1">
                <a:solidFill>
                  <a:srgbClr val="B68743"/>
                </a:solidFill>
                <a:latin typeface="Aptos"/>
                <a:ea typeface="Aptos"/>
                <a:cs typeface="Aptos"/>
              </a:rPr>
              <a:t>Research</a:t>
            </a:r>
          </a:p>
        </p:txBody>
      </p:sp>
      <p:sp>
        <p:nvSpPr>
          <p:cNvPr id="8" name="text-7">
            <a:extLst xmlns:a="http://schemas.openxmlformats.org/drawingml/2006/main">
              <a:ext uri="{FF2B5EF4-FFF2-40B4-BE49-F238E27FC236}">
                <a16:creationId xmlns:a16="http://schemas.microsoft.com/office/drawing/2014/main" id="{B4C43845-9229-4B63-AAE0-BA74B40544B7}"/>
              </a:ext>
            </a:extLst>
          </p:cNvPr>
          <p:cNvSpPr>
            <a:spLocks xmlns:a="http://schemas.openxmlformats.org/drawingml/2006/main" noGrp="1"/>
          </p:cNvSpPr>
          <p:nvPr/>
        </p:nvSpPr>
        <p:spPr>
          <a:xfrm xmlns:a="http://schemas.openxmlformats.org/drawingml/2006/main">
            <a:off x="685800" y="5210175"/>
            <a:ext cx="4905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Aido Rover and Aido Humanoid</a:t>
            </a:r>
          </a:p>
        </p:txBody>
      </p:sp>
      <p:pic>
        <p:nvPicPr>
          <p:cNvPr id="9" name="">
            <a:extLst xmlns:a="http://schemas.openxmlformats.org/drawingml/2006/main">
              <a:ext uri="{FF2B5EF4-FFF2-40B4-BE49-F238E27FC236}">
                <a16:creationId xmlns:a16="http://schemas.microsoft.com/office/drawing/2014/main" id="{3447E859-AB23-4DEC-BA3D-CB945C2C2CB5}"/>
              </a:ext>
            </a:extLst>
          </p:cNvPr>
          <p:cNvPicPr>
            <a:picLocks xmlns:a="http://schemas.openxmlformats.org/drawingml/2006/main" noChangeAspect="1"/>
          </p:cNvPicPr>
          <p:nvPr/>
        </p:nvPicPr>
        <p:blipFill>
          <a:blip xmlns:r="http://schemas.openxmlformats.org/officeDocument/2006/relationships" xmlns:a="http://schemas.openxmlformats.org/drawingml/2006/main" r:embed="R52ea9c87aee64808"/>
          <a:stretch xmlns:a="http://schemas.openxmlformats.org/drawingml/2006/main"/>
        </p:blipFill>
        <p:spPr>
          <a:xfrm xmlns:a="http://schemas.openxmlformats.org/drawingml/2006/main">
            <a:off x="6909086" y="1895475"/>
            <a:ext cx="4088828" cy="426720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81BCDEC7-6E5C-4A72-8FE1-67CDC29E4545}"/>
              </a:ext>
            </a:extLst>
          </p:cNvPr>
          <p:cNvSpPr>
            <a:spLocks xmlns:a="http://schemas.openxmlformats.org/drawingml/2006/main" noGrp="1"/>
          </p:cNvSpPr>
          <p:nvPr/>
        </p:nvSpPr>
        <p:spPr>
          <a:xfrm xmlns:a="http://schemas.openxmlformats.org/drawingml/2006/main">
            <a:off x="6400800" y="6200775"/>
            <a:ext cx="510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526477"/>
                </a:solidFill>
                <a:latin typeface="Aptos"/>
                <a:ea typeface="Aptos"/>
                <a:cs typeface="Aptos"/>
              </a:defRPr>
            </a:defPPr>
            <a:lvl1pPr>
              <a:defRPr sz="1125" b="0">
                <a:solidFill>
                  <a:srgbClr val="526477"/>
                </a:solidFill>
                <a:latin typeface="Aptos"/>
                <a:ea typeface="Aptos"/>
                <a:cs typeface="Aptos"/>
              </a:defRPr>
            </a:lvl1pPr>
            <a:lvl2pPr>
              <a:defRPr sz="1125" b="0">
                <a:solidFill>
                  <a:srgbClr val="526477"/>
                </a:solidFill>
                <a:latin typeface="Aptos"/>
                <a:ea typeface="Aptos"/>
                <a:cs typeface="Aptos"/>
              </a:defRPr>
            </a:lvl2pPr>
            <a:lvl3pPr>
              <a:defRPr sz="1125" b="0">
                <a:solidFill>
                  <a:srgbClr val="526477"/>
                </a:solidFill>
                <a:latin typeface="Aptos"/>
                <a:ea typeface="Aptos"/>
                <a:cs typeface="Aptos"/>
              </a:defRPr>
            </a:lvl3pPr>
            <a:lvl4pPr>
              <a:defRPr sz="1125" b="0">
                <a:solidFill>
                  <a:srgbClr val="526477"/>
                </a:solidFill>
                <a:latin typeface="Aptos"/>
                <a:ea typeface="Aptos"/>
                <a:cs typeface="Aptos"/>
              </a:defRPr>
            </a:lvl4pPr>
            <a:lvl5pPr>
              <a:defRPr sz="1125" b="0">
                <a:solidFill>
                  <a:srgbClr val="526477"/>
                </a:solidFill>
                <a:latin typeface="Aptos"/>
                <a:ea typeface="Aptos"/>
                <a:cs typeface="Aptos"/>
              </a:defRPr>
            </a:lvl5pPr>
            <a:lvl6pPr>
              <a:defRPr sz="1125" b="0">
                <a:solidFill>
                  <a:srgbClr val="526477"/>
                </a:solidFill>
                <a:latin typeface="Aptos"/>
                <a:ea typeface="Aptos"/>
                <a:cs typeface="Aptos"/>
              </a:defRPr>
            </a:lvl6pPr>
            <a:lvl7pPr>
              <a:defRPr sz="1125" b="0">
                <a:solidFill>
                  <a:srgbClr val="526477"/>
                </a:solidFill>
                <a:latin typeface="Aptos"/>
                <a:ea typeface="Aptos"/>
                <a:cs typeface="Aptos"/>
              </a:defRPr>
            </a:lvl7pPr>
            <a:lvl8pPr>
              <a:defRPr sz="1125" b="0">
                <a:solidFill>
                  <a:srgbClr val="526477"/>
                </a:solidFill>
                <a:latin typeface="Aptos"/>
                <a:ea typeface="Aptos"/>
                <a:cs typeface="Aptos"/>
              </a:defRPr>
            </a:lvl8pPr>
            <a:lvl9pPr>
              <a:defRPr sz="1125" b="0">
                <a:solidFill>
                  <a:srgbClr val="526477"/>
                </a:solidFill>
                <a:latin typeface="Aptos"/>
                <a:ea typeface="Aptos"/>
                <a:cs typeface="Aptos"/>
              </a:defRPr>
            </a:lvl9pPr>
          </a:lstStyle>
          <a:p xmlns:a="http://schemas.openxmlformats.org/drawingml/2006/main">
            <a:pPr>
              <a:defRPr sz="1125" b="0">
                <a:solidFill>
                  <a:srgbClr val="526477"/>
                </a:solidFill>
                <a:latin typeface="Aptos"/>
                <a:ea typeface="Aptos"/>
                <a:cs typeface="Aptos"/>
              </a:defRPr>
            </a:pPr>
            <a:r>
              <a:rPr sz="1125" b="0">
                <a:solidFill>
                  <a:srgbClr val="526477"/>
                </a:solidFill>
                <a:latin typeface="Aptos"/>
                <a:ea typeface="Aptos"/>
                <a:cs typeface="Aptos"/>
              </a:rPr>
              <a:t>Official roadmap illustration; current status at left</a:t>
            </a:r>
          </a:p>
        </p:txBody>
      </p:sp>
      <p:sp>
        <p:nvSpPr>
          <p:cNvPr id="11" name="text-9">
            <a:extLst xmlns:a="http://schemas.openxmlformats.org/drawingml/2006/main">
              <a:ext uri="{FF2B5EF4-FFF2-40B4-BE49-F238E27FC236}">
                <a16:creationId xmlns:a16="http://schemas.microsoft.com/office/drawing/2014/main" id="{46FF17C0-AAB1-45DE-9EFA-573E5D3E4C12}"/>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2" name="text-10">
            <a:extLst xmlns:a="http://schemas.openxmlformats.org/drawingml/2006/main">
              <a:ext uri="{FF2B5EF4-FFF2-40B4-BE49-F238E27FC236}">
                <a16:creationId xmlns:a16="http://schemas.microsoft.com/office/drawing/2014/main" id="{713D5F57-C1E1-4ABB-BC1E-1A7286ED7D27}"/>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06</a:t>
            </a:r>
          </a:p>
        </p:txBody>
      </p:sp>
      <p:sp>
        <p:nvSpPr>
          <p:cNvPr id="13" name="text-11">
            <a:extLst xmlns:a="http://schemas.openxmlformats.org/drawingml/2006/main">
              <a:ext uri="{FF2B5EF4-FFF2-40B4-BE49-F238E27FC236}">
                <a16:creationId xmlns:a16="http://schemas.microsoft.com/office/drawing/2014/main" id="{074A9267-DABA-416D-AD2A-F1861C3E81A3}"/>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C</a:t>
            </a:r>
          </a:p>
        </p:txBody>
      </p:sp>
    </p:spTree>
    <p:extLst>
      <p:ext uri="{BB962C8B-B14F-4D97-AF65-F5344CB8AC3E}">
        <p14:creationId xmlns:p14="http://schemas.microsoft.com/office/powerpoint/2010/main" val="1235131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62721453-C754-4EAF-8530-C8F52BEBAD87}"/>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Origami AI</a:t>
            </a:r>
          </a:p>
        </p:txBody>
      </p:sp>
      <p:sp>
        <p:nvSpPr>
          <p:cNvPr id="2" name="text-1">
            <a:extLst xmlns:a="http://schemas.openxmlformats.org/drawingml/2006/main">
              <a:ext uri="{FF2B5EF4-FFF2-40B4-BE49-F238E27FC236}">
                <a16:creationId xmlns:a16="http://schemas.microsoft.com/office/drawing/2014/main" id="{9C49BB6B-9902-4593-A2F6-52716937AB4B}"/>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Shared intelligence platform  /  In development</a:t>
            </a:r>
          </a:p>
        </p:txBody>
      </p:sp>
      <p:sp>
        <p:nvSpPr>
          <p:cNvPr id="3" name="text-2">
            <a:extLst xmlns:a="http://schemas.openxmlformats.org/drawingml/2006/main">
              <a:ext uri="{FF2B5EF4-FFF2-40B4-BE49-F238E27FC236}">
                <a16:creationId xmlns:a16="http://schemas.microsoft.com/office/drawing/2014/main" id="{9A00182B-7A9B-45EB-A81A-2F43AA2A5DCE}"/>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Platform concept</a:t>
            </a:r>
          </a:p>
        </p:txBody>
      </p:sp>
      <p:sp>
        <p:nvSpPr>
          <p:cNvPr id="4" name="text-3">
            <a:extLst xmlns:a="http://schemas.openxmlformats.org/drawingml/2006/main">
              <a:ext uri="{FF2B5EF4-FFF2-40B4-BE49-F238E27FC236}">
                <a16:creationId xmlns:a16="http://schemas.microsoft.com/office/drawing/2014/main" id="{22C3748A-43B6-4DD6-9CD4-D3E7B94E4110}"/>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Common AI software across the product portfolio.</a:t>
            </a:r>
          </a:p>
        </p:txBody>
      </p:sp>
      <p:sp>
        <p:nvSpPr>
          <p:cNvPr id="5" name="text-4">
            <a:extLst xmlns:a="http://schemas.openxmlformats.org/drawingml/2006/main">
              <a:ext uri="{FF2B5EF4-FFF2-40B4-BE49-F238E27FC236}">
                <a16:creationId xmlns:a16="http://schemas.microsoft.com/office/drawing/2014/main" id="{697A69A4-B7A1-456D-9564-A61CB80D4AEA}"/>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Commercial direction</a:t>
            </a:r>
          </a:p>
        </p:txBody>
      </p:sp>
      <p:sp>
        <p:nvSpPr>
          <p:cNvPr id="6" name="text-5">
            <a:extLst xmlns:a="http://schemas.openxmlformats.org/drawingml/2006/main">
              <a:ext uri="{FF2B5EF4-FFF2-40B4-BE49-F238E27FC236}">
                <a16:creationId xmlns:a16="http://schemas.microsoft.com/office/drawing/2014/main" id="{0533BA8A-EC25-4480-94D4-2F9877CCA32D}"/>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The company describes platform services and enterprise licensing.</a:t>
            </a:r>
          </a:p>
        </p:txBody>
      </p:sp>
      <p:sp>
        <p:nvSpPr>
          <p:cNvPr id="7" name="text-6">
            <a:extLst xmlns:a="http://schemas.openxmlformats.org/drawingml/2006/main">
              <a:ext uri="{FF2B5EF4-FFF2-40B4-BE49-F238E27FC236}">
                <a16:creationId xmlns:a16="http://schemas.microsoft.com/office/drawing/2014/main" id="{5D1C9357-6C43-4299-8878-5B6B1C1FF5FE}"/>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Strategic implication</a:t>
            </a:r>
          </a:p>
        </p:txBody>
      </p:sp>
      <p:sp>
        <p:nvSpPr>
          <p:cNvPr id="8" name="text-7">
            <a:extLst xmlns:a="http://schemas.openxmlformats.org/drawingml/2006/main">
              <a:ext uri="{FF2B5EF4-FFF2-40B4-BE49-F238E27FC236}">
                <a16:creationId xmlns:a16="http://schemas.microsoft.com/office/drawing/2014/main" id="{FE77C05D-B59D-454B-800B-904A241A16F2}"/>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Shared development may reduce duplicated engineering work.</a:t>
            </a:r>
          </a:p>
        </p:txBody>
      </p:sp>
      <p:pic>
        <p:nvPicPr>
          <p:cNvPr id="9" name="">
            <a:extLst xmlns:a="http://schemas.openxmlformats.org/drawingml/2006/main">
              <a:ext uri="{FF2B5EF4-FFF2-40B4-BE49-F238E27FC236}">
                <a16:creationId xmlns:a16="http://schemas.microsoft.com/office/drawing/2014/main" id="{DBA29E5C-91EF-4D78-B630-7E3844A5A202}"/>
              </a:ext>
            </a:extLst>
          </p:cNvPr>
          <p:cNvPicPr>
            <a:picLocks xmlns:a="http://schemas.openxmlformats.org/drawingml/2006/main" noChangeAspect="1"/>
          </p:cNvPicPr>
          <p:nvPr/>
        </p:nvPicPr>
        <p:blipFill>
          <a:blip xmlns:r="http://schemas.openxmlformats.org/officeDocument/2006/relationships" xmlns:a="http://schemas.openxmlformats.org/drawingml/2006/main" r:embed="Ra1b6bb80de2a4b3e"/>
          <a:stretch xmlns:a="http://schemas.openxmlformats.org/drawingml/2006/main"/>
        </p:blipFill>
        <p:spPr>
          <a:xfrm xmlns:a="http://schemas.openxmlformats.org/drawingml/2006/main">
            <a:off x="7301198" y="2266950"/>
            <a:ext cx="3152203" cy="357187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12990841-8DA4-42C9-98FE-84A952CB05D6}"/>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434D801A-2DC3-46D0-930F-7BCCF49B7E09}"/>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07</a:t>
            </a:r>
          </a:p>
        </p:txBody>
      </p:sp>
      <p:sp>
        <p:nvSpPr>
          <p:cNvPr id="12" name="text-10">
            <a:extLst xmlns:a="http://schemas.openxmlformats.org/drawingml/2006/main">
              <a:ext uri="{FF2B5EF4-FFF2-40B4-BE49-F238E27FC236}">
                <a16:creationId xmlns:a16="http://schemas.microsoft.com/office/drawing/2014/main" id="{753E0A70-4DC6-4706-ACE8-BE92874D618A}"/>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C E</a:t>
            </a:r>
          </a:p>
        </p:txBody>
      </p:sp>
    </p:spTree>
    <p:extLst>
      <p:ext uri="{BB962C8B-B14F-4D97-AF65-F5344CB8AC3E}">
        <p14:creationId xmlns:p14="http://schemas.microsoft.com/office/powerpoint/2010/main" val="15149116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C9F54AF-5214-456B-BFBE-DF297F22BA11}"/>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Sentinel Prime</a:t>
            </a:r>
          </a:p>
        </p:txBody>
      </p:sp>
      <p:sp>
        <p:nvSpPr>
          <p:cNvPr id="2" name="text-1">
            <a:extLst xmlns:a="http://schemas.openxmlformats.org/drawingml/2006/main">
              <a:ext uri="{FF2B5EF4-FFF2-40B4-BE49-F238E27FC236}">
                <a16:creationId xmlns:a16="http://schemas.microsoft.com/office/drawing/2014/main" id="{DDEF17C7-16BF-4B2E-BE03-4810D1B2BC33}"/>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Enterprise security intelligence  /  Operational</a:t>
            </a:r>
          </a:p>
        </p:txBody>
      </p:sp>
      <p:sp>
        <p:nvSpPr>
          <p:cNvPr id="3" name="text-2">
            <a:extLst xmlns:a="http://schemas.openxmlformats.org/drawingml/2006/main">
              <a:ext uri="{FF2B5EF4-FFF2-40B4-BE49-F238E27FC236}">
                <a16:creationId xmlns:a16="http://schemas.microsoft.com/office/drawing/2014/main" id="{8EE854C5-ED3E-45AB-ABF6-A4BD51105D72}"/>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Application</a:t>
            </a:r>
          </a:p>
        </p:txBody>
      </p:sp>
      <p:sp>
        <p:nvSpPr>
          <p:cNvPr id="4" name="text-3">
            <a:extLst xmlns:a="http://schemas.openxmlformats.org/drawingml/2006/main">
              <a:ext uri="{FF2B5EF4-FFF2-40B4-BE49-F238E27FC236}">
                <a16:creationId xmlns:a16="http://schemas.microsoft.com/office/drawing/2014/main" id="{A5EA2ED1-0282-4E69-90A5-38F391E5F4BA}"/>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Video analytics and sensor-based event detection.</a:t>
            </a:r>
          </a:p>
        </p:txBody>
      </p:sp>
      <p:sp>
        <p:nvSpPr>
          <p:cNvPr id="5" name="text-4">
            <a:extLst xmlns:a="http://schemas.openxmlformats.org/drawingml/2006/main">
              <a:ext uri="{FF2B5EF4-FFF2-40B4-BE49-F238E27FC236}">
                <a16:creationId xmlns:a16="http://schemas.microsoft.com/office/drawing/2014/main" id="{E1931486-7EB1-49F6-B2A5-364F6327A8DC}"/>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Customer setting</a:t>
            </a:r>
          </a:p>
        </p:txBody>
      </p:sp>
      <p:sp>
        <p:nvSpPr>
          <p:cNvPr id="6" name="text-5">
            <a:extLst xmlns:a="http://schemas.openxmlformats.org/drawingml/2006/main">
              <a:ext uri="{FF2B5EF4-FFF2-40B4-BE49-F238E27FC236}">
                <a16:creationId xmlns:a16="http://schemas.microsoft.com/office/drawing/2014/main" id="{610B3C2A-2BA6-4880-8EE0-D87711CB020E}"/>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Buildings, campuses and other monitored facilities.</a:t>
            </a:r>
          </a:p>
        </p:txBody>
      </p:sp>
      <p:sp>
        <p:nvSpPr>
          <p:cNvPr id="7" name="text-6">
            <a:extLst xmlns:a="http://schemas.openxmlformats.org/drawingml/2006/main">
              <a:ext uri="{FF2B5EF4-FFF2-40B4-BE49-F238E27FC236}">
                <a16:creationId xmlns:a16="http://schemas.microsoft.com/office/drawing/2014/main" id="{344FBAE3-20F6-4C02-B67F-DC779F9C0D08}"/>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Evaluation priority</a:t>
            </a:r>
          </a:p>
        </p:txBody>
      </p:sp>
      <p:sp>
        <p:nvSpPr>
          <p:cNvPr id="8" name="text-7">
            <a:extLst xmlns:a="http://schemas.openxmlformats.org/drawingml/2006/main">
              <a:ext uri="{FF2B5EF4-FFF2-40B4-BE49-F238E27FC236}">
                <a16:creationId xmlns:a16="http://schemas.microsoft.com/office/drawing/2014/main" id="{F645EF03-914C-4494-9133-927E7ED1726C}"/>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Detection accuracy and false alarms matter to customers.</a:t>
            </a:r>
          </a:p>
        </p:txBody>
      </p:sp>
      <p:pic>
        <p:nvPicPr>
          <p:cNvPr id="9" name="">
            <a:extLst xmlns:a="http://schemas.openxmlformats.org/drawingml/2006/main">
              <a:ext uri="{FF2B5EF4-FFF2-40B4-BE49-F238E27FC236}">
                <a16:creationId xmlns:a16="http://schemas.microsoft.com/office/drawing/2014/main" id="{F15653E5-F5C0-4494-B182-2D399C08A156}"/>
              </a:ext>
            </a:extLst>
          </p:cNvPr>
          <p:cNvPicPr>
            <a:picLocks xmlns:a="http://schemas.openxmlformats.org/drawingml/2006/main" noChangeAspect="1"/>
          </p:cNvPicPr>
          <p:nvPr/>
        </p:nvPicPr>
        <p:blipFill>
          <a:blip xmlns:r="http://schemas.openxmlformats.org/officeDocument/2006/relationships" xmlns:a="http://schemas.openxmlformats.org/drawingml/2006/main" r:embed="Rf9a83b16b1484678"/>
          <a:stretch xmlns:a="http://schemas.openxmlformats.org/drawingml/2006/main"/>
        </p:blipFill>
        <p:spPr>
          <a:xfrm xmlns:a="http://schemas.openxmlformats.org/drawingml/2006/main">
            <a:off x="6800850" y="2362200"/>
            <a:ext cx="4419600" cy="33147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E791601-1C5C-4E54-AE2F-100A56393742}"/>
              </a:ext>
            </a:extLst>
          </p:cNvPr>
          <p:cNvPicPr>
            <a:picLocks xmlns:a="http://schemas.openxmlformats.org/drawingml/2006/main" noChangeAspect="1"/>
          </p:cNvPicPr>
          <p:nvPr/>
        </p:nvPicPr>
        <p:blipFill>
          <a:blip xmlns:r="http://schemas.openxmlformats.org/officeDocument/2006/relationships" xmlns:a="http://schemas.openxmlformats.org/drawingml/2006/main" r:embed="Ra7185f2a01614e69"/>
          <a:stretch xmlns:a="http://schemas.openxmlformats.org/drawingml/2006/main"/>
        </p:blipFill>
        <p:spPr>
          <a:xfrm xmlns:a="http://schemas.openxmlformats.org/drawingml/2006/main">
            <a:off x="8748494" y="5743575"/>
            <a:ext cx="2143561" cy="590550"/>
          </a:xfrm>
          <a:prstGeom xmlns:a="http://schemas.openxmlformats.org/drawingml/2006/main" prst="rect">
            <a:avLst/>
          </a:prstGeom>
        </p:spPr>
      </p:pic>
      <p:sp>
        <p:nvSpPr>
          <p:cNvPr id="11" name="text-8">
            <a:extLst xmlns:a="http://schemas.openxmlformats.org/drawingml/2006/main">
              <a:ext uri="{FF2B5EF4-FFF2-40B4-BE49-F238E27FC236}">
                <a16:creationId xmlns:a16="http://schemas.microsoft.com/office/drawing/2014/main" id="{8F72CEC9-9377-409C-8EDC-63FC7F06D42B}"/>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2" name="text-9">
            <a:extLst xmlns:a="http://schemas.openxmlformats.org/drawingml/2006/main">
              <a:ext uri="{FF2B5EF4-FFF2-40B4-BE49-F238E27FC236}">
                <a16:creationId xmlns:a16="http://schemas.microsoft.com/office/drawing/2014/main" id="{21FC730A-0CAA-4E0A-BE02-80105258842D}"/>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08</a:t>
            </a:r>
          </a:p>
        </p:txBody>
      </p:sp>
      <p:sp>
        <p:nvSpPr>
          <p:cNvPr id="13" name="text-10">
            <a:extLst xmlns:a="http://schemas.openxmlformats.org/drawingml/2006/main">
              <a:ext uri="{FF2B5EF4-FFF2-40B4-BE49-F238E27FC236}">
                <a16:creationId xmlns:a16="http://schemas.microsoft.com/office/drawing/2014/main" id="{4C3D58A0-0EA2-4871-9738-6480EEDE9728}"/>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C</a:t>
            </a:r>
          </a:p>
        </p:txBody>
      </p:sp>
    </p:spTree>
    <p:extLst>
      <p:ext uri="{BB962C8B-B14F-4D97-AF65-F5344CB8AC3E}">
        <p14:creationId xmlns:p14="http://schemas.microsoft.com/office/powerpoint/2010/main" val="13219259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3E6D6E0-A73B-4D42-B1E0-C8B01ED12BA0}"/>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Kaiser.Haus</a:t>
            </a:r>
          </a:p>
        </p:txBody>
      </p:sp>
      <p:sp>
        <p:nvSpPr>
          <p:cNvPr id="2" name="text-1">
            <a:extLst xmlns:a="http://schemas.openxmlformats.org/drawingml/2006/main">
              <a:ext uri="{FF2B5EF4-FFF2-40B4-BE49-F238E27FC236}">
                <a16:creationId xmlns:a16="http://schemas.microsoft.com/office/drawing/2014/main" id="{715C57D8-BB40-40D9-B746-6966665AA348}"/>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Smart home automation  /  Operational</a:t>
            </a:r>
          </a:p>
        </p:txBody>
      </p:sp>
      <p:sp>
        <p:nvSpPr>
          <p:cNvPr id="3" name="text-2">
            <a:extLst xmlns:a="http://schemas.openxmlformats.org/drawingml/2006/main">
              <a:ext uri="{FF2B5EF4-FFF2-40B4-BE49-F238E27FC236}">
                <a16:creationId xmlns:a16="http://schemas.microsoft.com/office/drawing/2014/main" id="{3DF80FE3-4F38-4942-AB43-F5B206486C57}"/>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Application</a:t>
            </a:r>
          </a:p>
        </p:txBody>
      </p:sp>
      <p:sp>
        <p:nvSpPr>
          <p:cNvPr id="4" name="text-3">
            <a:extLst xmlns:a="http://schemas.openxmlformats.org/drawingml/2006/main">
              <a:ext uri="{FF2B5EF4-FFF2-40B4-BE49-F238E27FC236}">
                <a16:creationId xmlns:a16="http://schemas.microsoft.com/office/drawing/2014/main" id="{AA87B18B-DFF6-40E5-B015-54F1A0E2E98B}"/>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Integrated automation for residential environments.</a:t>
            </a:r>
          </a:p>
        </p:txBody>
      </p:sp>
      <p:sp>
        <p:nvSpPr>
          <p:cNvPr id="5" name="text-4">
            <a:extLst xmlns:a="http://schemas.openxmlformats.org/drawingml/2006/main">
              <a:ext uri="{FF2B5EF4-FFF2-40B4-BE49-F238E27FC236}">
                <a16:creationId xmlns:a16="http://schemas.microsoft.com/office/drawing/2014/main" id="{D5FC80B8-96AA-4CE0-A712-B01A70A87455}"/>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User value</a:t>
            </a:r>
          </a:p>
        </p:txBody>
      </p:sp>
      <p:sp>
        <p:nvSpPr>
          <p:cNvPr id="6" name="text-5">
            <a:extLst xmlns:a="http://schemas.openxmlformats.org/drawingml/2006/main">
              <a:ext uri="{FF2B5EF4-FFF2-40B4-BE49-F238E27FC236}">
                <a16:creationId xmlns:a16="http://schemas.microsoft.com/office/drawing/2014/main" id="{B6EC34E5-B5DF-4F74-A399-FEEE22E89D29}"/>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Coordinated control of connected home functions.</a:t>
            </a:r>
          </a:p>
        </p:txBody>
      </p:sp>
      <p:sp>
        <p:nvSpPr>
          <p:cNvPr id="7" name="text-6">
            <a:extLst xmlns:a="http://schemas.openxmlformats.org/drawingml/2006/main">
              <a:ext uri="{FF2B5EF4-FFF2-40B4-BE49-F238E27FC236}">
                <a16:creationId xmlns:a16="http://schemas.microsoft.com/office/drawing/2014/main" id="{1DC76F9B-C34B-41C2-90A5-CEE97D0A0400}"/>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Evaluation priority</a:t>
            </a:r>
          </a:p>
        </p:txBody>
      </p:sp>
      <p:sp>
        <p:nvSpPr>
          <p:cNvPr id="8" name="text-7">
            <a:extLst xmlns:a="http://schemas.openxmlformats.org/drawingml/2006/main">
              <a:ext uri="{FF2B5EF4-FFF2-40B4-BE49-F238E27FC236}">
                <a16:creationId xmlns:a16="http://schemas.microsoft.com/office/drawing/2014/main" id="{16B7D855-EA4F-4E3C-9880-E86204A7DF53}"/>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Installation quality and dependable service support adoption.</a:t>
            </a:r>
          </a:p>
        </p:txBody>
      </p:sp>
      <p:pic>
        <p:nvPicPr>
          <p:cNvPr id="9" name="">
            <a:extLst xmlns:a="http://schemas.openxmlformats.org/drawingml/2006/main">
              <a:ext uri="{FF2B5EF4-FFF2-40B4-BE49-F238E27FC236}">
                <a16:creationId xmlns:a16="http://schemas.microsoft.com/office/drawing/2014/main" id="{CA6A4717-F57B-4C5C-AB23-7F94FF09FAC4}"/>
              </a:ext>
            </a:extLst>
          </p:cNvPr>
          <p:cNvPicPr>
            <a:picLocks xmlns:a="http://schemas.openxmlformats.org/drawingml/2006/main" noChangeAspect="1"/>
          </p:cNvPicPr>
          <p:nvPr/>
        </p:nvPicPr>
        <p:blipFill>
          <a:blip xmlns:r="http://schemas.openxmlformats.org/officeDocument/2006/relationships" xmlns:a="http://schemas.openxmlformats.org/drawingml/2006/main" r:embed="Rc0514488fe6c4f07"/>
          <a:stretch xmlns:a="http://schemas.openxmlformats.org/drawingml/2006/main"/>
        </p:blipFill>
        <p:spPr>
          <a:xfrm xmlns:a="http://schemas.openxmlformats.org/drawingml/2006/main">
            <a:off x="7124700" y="2257425"/>
            <a:ext cx="3810000" cy="381000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B7400E29-EEF7-4726-974D-64A4DDF5428E}"/>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41028F18-C117-44C8-A8C3-6B4B6D032F4C}"/>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09</a:t>
            </a:r>
          </a:p>
        </p:txBody>
      </p:sp>
      <p:sp>
        <p:nvSpPr>
          <p:cNvPr id="12" name="text-10">
            <a:extLst xmlns:a="http://schemas.openxmlformats.org/drawingml/2006/main">
              <a:ext uri="{FF2B5EF4-FFF2-40B4-BE49-F238E27FC236}">
                <a16:creationId xmlns:a16="http://schemas.microsoft.com/office/drawing/2014/main" id="{E2580D37-8E79-4033-80C5-038DC0EA1275}"/>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A B C</a:t>
            </a:r>
          </a:p>
        </p:txBody>
      </p:sp>
    </p:spTree>
    <p:extLst>
      <p:ext uri="{BB962C8B-B14F-4D97-AF65-F5344CB8AC3E}">
        <p14:creationId xmlns:p14="http://schemas.microsoft.com/office/powerpoint/2010/main" val="1586428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F9454277-D322-4C6A-AB97-24BFE7FADC5A}"/>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Aido</a:t>
            </a:r>
          </a:p>
        </p:txBody>
      </p:sp>
      <p:sp>
        <p:nvSpPr>
          <p:cNvPr id="2" name="text-1">
            <a:extLst xmlns:a="http://schemas.openxmlformats.org/drawingml/2006/main">
              <a:ext uri="{FF2B5EF4-FFF2-40B4-BE49-F238E27FC236}">
                <a16:creationId xmlns:a16="http://schemas.microsoft.com/office/drawing/2014/main" id="{1EFB0E06-4CB4-45A0-B1CA-612548928DEF}"/>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Modular service robot  /  Current platform in development</a:t>
            </a:r>
          </a:p>
        </p:txBody>
      </p:sp>
      <p:sp>
        <p:nvSpPr>
          <p:cNvPr id="3" name="text-2">
            <a:extLst xmlns:a="http://schemas.openxmlformats.org/drawingml/2006/main">
              <a:ext uri="{FF2B5EF4-FFF2-40B4-BE49-F238E27FC236}">
                <a16:creationId xmlns:a16="http://schemas.microsoft.com/office/drawing/2014/main" id="{F9BE4D05-22FC-4841-B172-603118A2AD8C}"/>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Design</a:t>
            </a:r>
          </a:p>
        </p:txBody>
      </p:sp>
      <p:sp>
        <p:nvSpPr>
          <p:cNvPr id="4" name="text-3">
            <a:extLst xmlns:a="http://schemas.openxmlformats.org/drawingml/2006/main">
              <a:ext uri="{FF2B5EF4-FFF2-40B4-BE49-F238E27FC236}">
                <a16:creationId xmlns:a16="http://schemas.microsoft.com/office/drawing/2014/main" id="{E2EBB613-B0A6-427C-A955-9ED0F3199617}"/>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Customizable hardware and software for different settings.</a:t>
            </a:r>
          </a:p>
        </p:txBody>
      </p:sp>
      <p:sp>
        <p:nvSpPr>
          <p:cNvPr id="5" name="text-4">
            <a:extLst xmlns:a="http://schemas.openxmlformats.org/drawingml/2006/main">
              <a:ext uri="{FF2B5EF4-FFF2-40B4-BE49-F238E27FC236}">
                <a16:creationId xmlns:a16="http://schemas.microsoft.com/office/drawing/2014/main" id="{ACAC1E0C-086F-4CCD-8624-EBCDC2A4ED9B}"/>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Interaction</a:t>
            </a:r>
          </a:p>
        </p:txBody>
      </p:sp>
      <p:sp>
        <p:nvSpPr>
          <p:cNvPr id="6" name="text-5">
            <a:extLst xmlns:a="http://schemas.openxmlformats.org/drawingml/2006/main">
              <a:ext uri="{FF2B5EF4-FFF2-40B4-BE49-F238E27FC236}">
                <a16:creationId xmlns:a16="http://schemas.microsoft.com/office/drawing/2014/main" id="{18982A73-CFA9-4797-9234-1CAC1895CCC5}"/>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Audio, lidar, cameras and sensors support user interaction.</a:t>
            </a:r>
          </a:p>
        </p:txBody>
      </p:sp>
      <p:sp>
        <p:nvSpPr>
          <p:cNvPr id="7" name="text-6">
            <a:extLst xmlns:a="http://schemas.openxmlformats.org/drawingml/2006/main">
              <a:ext uri="{FF2B5EF4-FFF2-40B4-BE49-F238E27FC236}">
                <a16:creationId xmlns:a16="http://schemas.microsoft.com/office/drawing/2014/main" id="{44315D9B-0332-49CF-896F-5F9AB4A9045B}"/>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Development history</a:t>
            </a:r>
          </a:p>
        </p:txBody>
      </p:sp>
      <p:sp>
        <p:nvSpPr>
          <p:cNvPr id="8" name="text-7">
            <a:extLst xmlns:a="http://schemas.openxmlformats.org/drawingml/2006/main">
              <a:ext uri="{FF2B5EF4-FFF2-40B4-BE49-F238E27FC236}">
                <a16:creationId xmlns:a16="http://schemas.microsoft.com/office/drawing/2014/main" id="{F62A3436-A17D-426D-99A2-EB5E6D4CC41B}"/>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Filings describe initial shipments in late 2022.</a:t>
            </a:r>
          </a:p>
        </p:txBody>
      </p:sp>
      <p:pic>
        <p:nvPicPr>
          <p:cNvPr id="9" name="">
            <a:extLst xmlns:a="http://schemas.openxmlformats.org/drawingml/2006/main">
              <a:ext uri="{FF2B5EF4-FFF2-40B4-BE49-F238E27FC236}">
                <a16:creationId xmlns:a16="http://schemas.microsoft.com/office/drawing/2014/main" id="{EB10CEF8-E52B-4B44-AA05-AF267D1489B4}"/>
              </a:ext>
            </a:extLst>
          </p:cNvPr>
          <p:cNvPicPr>
            <a:picLocks xmlns:a="http://schemas.openxmlformats.org/drawingml/2006/main" noChangeAspect="1"/>
          </p:cNvPicPr>
          <p:nvPr/>
        </p:nvPicPr>
        <p:blipFill>
          <a:blip xmlns:r="http://schemas.openxmlformats.org/officeDocument/2006/relationships" xmlns:a="http://schemas.openxmlformats.org/drawingml/2006/main" r:embed="R2e5d4b4d48ab4388"/>
          <a:stretch xmlns:a="http://schemas.openxmlformats.org/drawingml/2006/main"/>
        </p:blipFill>
        <p:spPr>
          <a:xfrm xmlns:a="http://schemas.openxmlformats.org/drawingml/2006/main">
            <a:off x="7684540" y="2124075"/>
            <a:ext cx="2652220" cy="404812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EFBE96B0-C0C5-46F5-B481-EFA0DBAD86A4}"/>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7F915BAC-E864-4606-9C99-1D37C28BF376}"/>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10</a:t>
            </a:r>
          </a:p>
        </p:txBody>
      </p:sp>
      <p:sp>
        <p:nvSpPr>
          <p:cNvPr id="12" name="text-10">
            <a:extLst xmlns:a="http://schemas.openxmlformats.org/drawingml/2006/main">
              <a:ext uri="{FF2B5EF4-FFF2-40B4-BE49-F238E27FC236}">
                <a16:creationId xmlns:a16="http://schemas.microsoft.com/office/drawing/2014/main" id="{9898F67F-EF6F-4D74-B158-15FC4CF6D0B2}"/>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E C</a:t>
            </a:r>
          </a:p>
        </p:txBody>
      </p:sp>
    </p:spTree>
    <p:extLst>
      <p:ext uri="{BB962C8B-B14F-4D97-AF65-F5344CB8AC3E}">
        <p14:creationId xmlns:p14="http://schemas.microsoft.com/office/powerpoint/2010/main" val="5815435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94476CF5-C8A0-48C3-A1E3-9F7A91FACE16}"/>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Carry &amp; Go</a:t>
            </a:r>
          </a:p>
        </p:txBody>
      </p:sp>
      <p:sp>
        <p:nvSpPr>
          <p:cNvPr id="2" name="text-1">
            <a:extLst xmlns:a="http://schemas.openxmlformats.org/drawingml/2006/main">
              <a:ext uri="{FF2B5EF4-FFF2-40B4-BE49-F238E27FC236}">
                <a16:creationId xmlns:a16="http://schemas.microsoft.com/office/drawing/2014/main" id="{43D00D2F-C1B6-4F43-98F0-489D363F04FD}"/>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Autonomous indoor delivery  /  In development</a:t>
            </a:r>
          </a:p>
        </p:txBody>
      </p:sp>
      <p:sp>
        <p:nvSpPr>
          <p:cNvPr id="3" name="text-2">
            <a:extLst xmlns:a="http://schemas.openxmlformats.org/drawingml/2006/main">
              <a:ext uri="{FF2B5EF4-FFF2-40B4-BE49-F238E27FC236}">
                <a16:creationId xmlns:a16="http://schemas.microsoft.com/office/drawing/2014/main" id="{8E0A4801-9613-4721-99AF-FA6158B2F37C}"/>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Application</a:t>
            </a:r>
          </a:p>
        </p:txBody>
      </p:sp>
      <p:sp>
        <p:nvSpPr>
          <p:cNvPr id="4" name="text-3">
            <a:extLst xmlns:a="http://schemas.openxmlformats.org/drawingml/2006/main">
              <a:ext uri="{FF2B5EF4-FFF2-40B4-BE49-F238E27FC236}">
                <a16:creationId xmlns:a16="http://schemas.microsoft.com/office/drawing/2014/main" id="{EA745712-0596-4EDD-AFC0-B14F8A883E65}"/>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Transport of items within commercial buildings.</a:t>
            </a:r>
          </a:p>
        </p:txBody>
      </p:sp>
      <p:sp>
        <p:nvSpPr>
          <p:cNvPr id="5" name="text-4">
            <a:extLst xmlns:a="http://schemas.openxmlformats.org/drawingml/2006/main">
              <a:ext uri="{FF2B5EF4-FFF2-40B4-BE49-F238E27FC236}">
                <a16:creationId xmlns:a16="http://schemas.microsoft.com/office/drawing/2014/main" id="{9BB051A2-F38D-4C82-90C3-98B7040C0ED0}"/>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Target settings</a:t>
            </a:r>
          </a:p>
        </p:txBody>
      </p:sp>
      <p:sp>
        <p:nvSpPr>
          <p:cNvPr id="6" name="text-5">
            <a:extLst xmlns:a="http://schemas.openxmlformats.org/drawingml/2006/main">
              <a:ext uri="{FF2B5EF4-FFF2-40B4-BE49-F238E27FC236}">
                <a16:creationId xmlns:a16="http://schemas.microsoft.com/office/drawing/2014/main" id="{5D87E43F-FDCE-4A3F-BBFD-1F64334E4BAC}"/>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Restaurants, retail and offices.</a:t>
            </a:r>
          </a:p>
        </p:txBody>
      </p:sp>
      <p:sp>
        <p:nvSpPr>
          <p:cNvPr id="7" name="text-6">
            <a:extLst xmlns:a="http://schemas.openxmlformats.org/drawingml/2006/main">
              <a:ext uri="{FF2B5EF4-FFF2-40B4-BE49-F238E27FC236}">
                <a16:creationId xmlns:a16="http://schemas.microsoft.com/office/drawing/2014/main" id="{56C9AD97-DE88-406E-9C60-FAB0F2809444}"/>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Evaluation priority</a:t>
            </a:r>
          </a:p>
        </p:txBody>
      </p:sp>
      <p:sp>
        <p:nvSpPr>
          <p:cNvPr id="8" name="text-7">
            <a:extLst xmlns:a="http://schemas.openxmlformats.org/drawingml/2006/main">
              <a:ext uri="{FF2B5EF4-FFF2-40B4-BE49-F238E27FC236}">
                <a16:creationId xmlns:a16="http://schemas.microsoft.com/office/drawing/2014/main" id="{9DFFC1F5-8D3A-4F67-AA73-7E57F20598FD}"/>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Safe navigation and successful deliveries per shift.</a:t>
            </a:r>
          </a:p>
        </p:txBody>
      </p:sp>
      <p:pic>
        <p:nvPicPr>
          <p:cNvPr id="9" name="">
            <a:extLst xmlns:a="http://schemas.openxmlformats.org/drawingml/2006/main">
              <a:ext uri="{FF2B5EF4-FFF2-40B4-BE49-F238E27FC236}">
                <a16:creationId xmlns:a16="http://schemas.microsoft.com/office/drawing/2014/main" id="{4C63CD59-6405-4A39-8E0E-11C32C48A333}"/>
              </a:ext>
            </a:extLst>
          </p:cNvPr>
          <p:cNvPicPr>
            <a:picLocks xmlns:a="http://schemas.openxmlformats.org/drawingml/2006/main" noChangeAspect="1"/>
          </p:cNvPicPr>
          <p:nvPr/>
        </p:nvPicPr>
        <p:blipFill>
          <a:blip xmlns:r="http://schemas.openxmlformats.org/officeDocument/2006/relationships" xmlns:a="http://schemas.openxmlformats.org/drawingml/2006/main" r:embed="Rd06341abbc3c43dd"/>
          <a:stretch xmlns:a="http://schemas.openxmlformats.org/drawingml/2006/main"/>
        </p:blipFill>
        <p:spPr>
          <a:xfrm xmlns:a="http://schemas.openxmlformats.org/drawingml/2006/main">
            <a:off x="7742515" y="2143125"/>
            <a:ext cx="2517220" cy="404812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D49D36B5-12C4-480A-A960-3E404185F74E}"/>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1662EF35-0F1A-427B-A75F-CBA815086C95}"/>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11</a:t>
            </a:r>
          </a:p>
        </p:txBody>
      </p:sp>
      <p:sp>
        <p:nvSpPr>
          <p:cNvPr id="12" name="text-10">
            <a:extLst xmlns:a="http://schemas.openxmlformats.org/drawingml/2006/main">
              <a:ext uri="{FF2B5EF4-FFF2-40B4-BE49-F238E27FC236}">
                <a16:creationId xmlns:a16="http://schemas.microsoft.com/office/drawing/2014/main" id="{7F119501-A0A9-4C77-A7DD-683C7873CFA8}"/>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C</a:t>
            </a:r>
          </a:p>
        </p:txBody>
      </p:sp>
    </p:spTree>
    <p:extLst>
      <p:ext uri="{BB962C8B-B14F-4D97-AF65-F5344CB8AC3E}">
        <p14:creationId xmlns:p14="http://schemas.microsoft.com/office/powerpoint/2010/main" val="17676854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68B96F3-FADF-47EB-87CF-22079DDCD461}"/>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Fari</a:t>
            </a:r>
          </a:p>
        </p:txBody>
      </p:sp>
      <p:sp>
        <p:nvSpPr>
          <p:cNvPr id="2" name="text-1">
            <a:extLst xmlns:a="http://schemas.openxmlformats.org/drawingml/2006/main">
              <a:ext uri="{FF2B5EF4-FFF2-40B4-BE49-F238E27FC236}">
                <a16:creationId xmlns:a16="http://schemas.microsoft.com/office/drawing/2014/main" id="{1D6C7C53-391F-416C-A89B-1B9E0D786A64}"/>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Eldercare companion  /  In development</a:t>
            </a:r>
          </a:p>
        </p:txBody>
      </p:sp>
      <p:sp>
        <p:nvSpPr>
          <p:cNvPr id="3" name="text-2">
            <a:extLst xmlns:a="http://schemas.openxmlformats.org/drawingml/2006/main">
              <a:ext uri="{FF2B5EF4-FFF2-40B4-BE49-F238E27FC236}">
                <a16:creationId xmlns:a16="http://schemas.microsoft.com/office/drawing/2014/main" id="{8BB10743-C952-4FA3-ABB8-6B183D51195D}"/>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Design focus</a:t>
            </a:r>
          </a:p>
        </p:txBody>
      </p:sp>
      <p:sp>
        <p:nvSpPr>
          <p:cNvPr id="4" name="text-3">
            <a:extLst xmlns:a="http://schemas.openxmlformats.org/drawingml/2006/main">
              <a:ext uri="{FF2B5EF4-FFF2-40B4-BE49-F238E27FC236}">
                <a16:creationId xmlns:a16="http://schemas.microsoft.com/office/drawing/2014/main" id="{7326019E-3614-4F48-B91A-D07151997916}"/>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Support engagement and connection for older adults.</a:t>
            </a:r>
          </a:p>
        </p:txBody>
      </p:sp>
      <p:sp>
        <p:nvSpPr>
          <p:cNvPr id="5" name="text-4">
            <a:extLst xmlns:a="http://schemas.openxmlformats.org/drawingml/2006/main">
              <a:ext uri="{FF2B5EF4-FFF2-40B4-BE49-F238E27FC236}">
                <a16:creationId xmlns:a16="http://schemas.microsoft.com/office/drawing/2014/main" id="{D87644A9-FB0E-4C74-8283-C4E7CD8187B6}"/>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Research connection</a:t>
            </a:r>
          </a:p>
        </p:txBody>
      </p:sp>
      <p:sp>
        <p:nvSpPr>
          <p:cNvPr id="6" name="text-5">
            <a:extLst xmlns:a="http://schemas.openxmlformats.org/drawingml/2006/main">
              <a:ext uri="{FF2B5EF4-FFF2-40B4-BE49-F238E27FC236}">
                <a16:creationId xmlns:a16="http://schemas.microsoft.com/office/drawing/2014/main" id="{CA69927A-0E81-4116-876E-2228A36285E8}"/>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Manchester identifies Fari in its elderly care research agenda.</a:t>
            </a:r>
          </a:p>
        </p:txBody>
      </p:sp>
      <p:sp>
        <p:nvSpPr>
          <p:cNvPr id="7" name="text-6">
            <a:extLst xmlns:a="http://schemas.openxmlformats.org/drawingml/2006/main">
              <a:ext uri="{FF2B5EF4-FFF2-40B4-BE49-F238E27FC236}">
                <a16:creationId xmlns:a16="http://schemas.microsoft.com/office/drawing/2014/main" id="{BC99CEA4-08F5-4E6B-92D2-718D3B80E64B}"/>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Evaluation priority</a:t>
            </a:r>
          </a:p>
        </p:txBody>
      </p:sp>
      <p:sp>
        <p:nvSpPr>
          <p:cNvPr id="8" name="text-7">
            <a:extLst xmlns:a="http://schemas.openxmlformats.org/drawingml/2006/main">
              <a:ext uri="{FF2B5EF4-FFF2-40B4-BE49-F238E27FC236}">
                <a16:creationId xmlns:a16="http://schemas.microsoft.com/office/drawing/2014/main" id="{C5D0F2DA-B5ED-4DF1-A9FD-A61920A204F0}"/>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Usability, privacy and the quality of human interaction.</a:t>
            </a:r>
          </a:p>
        </p:txBody>
      </p:sp>
      <p:pic>
        <p:nvPicPr>
          <p:cNvPr id="9" name="">
            <a:extLst xmlns:a="http://schemas.openxmlformats.org/drawingml/2006/main">
              <a:ext uri="{FF2B5EF4-FFF2-40B4-BE49-F238E27FC236}">
                <a16:creationId xmlns:a16="http://schemas.microsoft.com/office/drawing/2014/main" id="{DCF886E3-8979-4712-BE4E-B4BE05408A63}"/>
              </a:ext>
            </a:extLst>
          </p:cNvPr>
          <p:cNvPicPr>
            <a:picLocks xmlns:a="http://schemas.openxmlformats.org/drawingml/2006/main" noChangeAspect="1"/>
          </p:cNvPicPr>
          <p:nvPr/>
        </p:nvPicPr>
        <p:blipFill>
          <a:blip xmlns:r="http://schemas.openxmlformats.org/officeDocument/2006/relationships" xmlns:a="http://schemas.openxmlformats.org/drawingml/2006/main" r:embed="R69daab975fba4bc9"/>
          <a:stretch xmlns:a="http://schemas.openxmlformats.org/drawingml/2006/main"/>
        </p:blipFill>
        <p:spPr>
          <a:xfrm xmlns:a="http://schemas.openxmlformats.org/drawingml/2006/main">
            <a:off x="7809332" y="2143125"/>
            <a:ext cx="2383587" cy="404812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25640C49-5D8C-4C4E-9B07-BDF58721CF97}"/>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35ABF859-2EAC-47D0-8498-89A7F5535F14}"/>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12</a:t>
            </a:r>
          </a:p>
        </p:txBody>
      </p:sp>
      <p:sp>
        <p:nvSpPr>
          <p:cNvPr id="12" name="text-10">
            <a:extLst xmlns:a="http://schemas.openxmlformats.org/drawingml/2006/main">
              <a:ext uri="{FF2B5EF4-FFF2-40B4-BE49-F238E27FC236}">
                <a16:creationId xmlns:a16="http://schemas.microsoft.com/office/drawing/2014/main" id="{169AF942-4B39-48E3-98C9-4AECD9425812}"/>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D C</a:t>
            </a:r>
          </a:p>
        </p:txBody>
      </p:sp>
    </p:spTree>
    <p:extLst>
      <p:ext uri="{BB962C8B-B14F-4D97-AF65-F5344CB8AC3E}">
        <p14:creationId xmlns:p14="http://schemas.microsoft.com/office/powerpoint/2010/main" val="5999956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A82FF7A3-6262-4422-8EFF-CB20D3869109}"/>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Senpai and education</a:t>
            </a:r>
          </a:p>
        </p:txBody>
      </p:sp>
      <p:sp>
        <p:nvSpPr>
          <p:cNvPr id="2" name="text-1">
            <a:extLst xmlns:a="http://schemas.openxmlformats.org/drawingml/2006/main">
              <a:ext uri="{FF2B5EF4-FFF2-40B4-BE49-F238E27FC236}">
                <a16:creationId xmlns:a16="http://schemas.microsoft.com/office/drawing/2014/main" id="{4A4666E0-030F-4916-B074-39F39CCFC522}"/>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Educational companion  /  In development</a:t>
            </a:r>
          </a:p>
        </p:txBody>
      </p:sp>
      <p:sp>
        <p:nvSpPr>
          <p:cNvPr id="3" name="text-2">
            <a:extLst xmlns:a="http://schemas.openxmlformats.org/drawingml/2006/main">
              <a:ext uri="{FF2B5EF4-FFF2-40B4-BE49-F238E27FC236}">
                <a16:creationId xmlns:a16="http://schemas.microsoft.com/office/drawing/2014/main" id="{174592E5-6414-4C2B-B325-1C768B44A563}"/>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Design focus</a:t>
            </a:r>
          </a:p>
        </p:txBody>
      </p:sp>
      <p:sp>
        <p:nvSpPr>
          <p:cNvPr id="4" name="text-3">
            <a:extLst xmlns:a="http://schemas.openxmlformats.org/drawingml/2006/main">
              <a:ext uri="{FF2B5EF4-FFF2-40B4-BE49-F238E27FC236}">
                <a16:creationId xmlns:a16="http://schemas.microsoft.com/office/drawing/2014/main" id="{952AB269-53C5-4D92-91A4-3888F812E422}"/>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An educational robot for children.</a:t>
            </a:r>
          </a:p>
        </p:txBody>
      </p:sp>
      <p:sp>
        <p:nvSpPr>
          <p:cNvPr id="5" name="text-4">
            <a:extLst xmlns:a="http://schemas.openxmlformats.org/drawingml/2006/main">
              <a:ext uri="{FF2B5EF4-FFF2-40B4-BE49-F238E27FC236}">
                <a16:creationId xmlns:a16="http://schemas.microsoft.com/office/drawing/2014/main" id="{67E2DC2C-970B-4A58-B539-3A5671CCB1B4}"/>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Research application</a:t>
            </a:r>
          </a:p>
        </p:txBody>
      </p:sp>
      <p:sp>
        <p:nvSpPr>
          <p:cNvPr id="6" name="text-5">
            <a:extLst xmlns:a="http://schemas.openxmlformats.org/drawingml/2006/main">
              <a:ext uri="{FF2B5EF4-FFF2-40B4-BE49-F238E27FC236}">
                <a16:creationId xmlns:a16="http://schemas.microsoft.com/office/drawing/2014/main" id="{D1995DF1-5A8B-42F7-A4EE-F48A4175DC25}"/>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Manchester’s proposed work includes special needs education.</a:t>
            </a:r>
          </a:p>
        </p:txBody>
      </p:sp>
      <p:sp>
        <p:nvSpPr>
          <p:cNvPr id="7" name="text-6">
            <a:extLst xmlns:a="http://schemas.openxmlformats.org/drawingml/2006/main">
              <a:ext uri="{FF2B5EF4-FFF2-40B4-BE49-F238E27FC236}">
                <a16:creationId xmlns:a16="http://schemas.microsoft.com/office/drawing/2014/main" id="{81C3B845-B0D7-480B-9AEA-45241A2902CF}"/>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Evaluation priority</a:t>
            </a:r>
          </a:p>
        </p:txBody>
      </p:sp>
      <p:sp>
        <p:nvSpPr>
          <p:cNvPr id="8" name="text-7">
            <a:extLst xmlns:a="http://schemas.openxmlformats.org/drawingml/2006/main">
              <a:ext uri="{FF2B5EF4-FFF2-40B4-BE49-F238E27FC236}">
                <a16:creationId xmlns:a16="http://schemas.microsoft.com/office/drawing/2014/main" id="{CDAF673E-0D44-4B74-9AB5-A79FD13E0DD2}"/>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Learning outcomes and support for teachers.</a:t>
            </a:r>
          </a:p>
        </p:txBody>
      </p:sp>
      <p:pic>
        <p:nvPicPr>
          <p:cNvPr id="9" name="">
            <a:extLst xmlns:a="http://schemas.openxmlformats.org/drawingml/2006/main">
              <a:ext uri="{FF2B5EF4-FFF2-40B4-BE49-F238E27FC236}">
                <a16:creationId xmlns:a16="http://schemas.microsoft.com/office/drawing/2014/main" id="{6B487ABB-C883-4866-BFF8-DE07F0990B0B}"/>
              </a:ext>
            </a:extLst>
          </p:cNvPr>
          <p:cNvPicPr>
            <a:picLocks xmlns:a="http://schemas.openxmlformats.org/drawingml/2006/main" noChangeAspect="1"/>
          </p:cNvPicPr>
          <p:nvPr/>
        </p:nvPicPr>
        <p:blipFill>
          <a:blip xmlns:r="http://schemas.openxmlformats.org/officeDocument/2006/relationships" xmlns:a="http://schemas.openxmlformats.org/drawingml/2006/main" r:embed="Rd840233e578440c0"/>
          <a:stretch xmlns:a="http://schemas.openxmlformats.org/drawingml/2006/main"/>
        </p:blipFill>
        <p:spPr>
          <a:xfrm xmlns:a="http://schemas.openxmlformats.org/drawingml/2006/main">
            <a:off x="7759955" y="2143125"/>
            <a:ext cx="2482341" cy="404812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C190482F-66EF-4EC4-BC6A-C1C666DAB95D}"/>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E1D6809E-DECA-41FF-A705-1D3A19369F5E}"/>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13</a:t>
            </a:r>
          </a:p>
        </p:txBody>
      </p:sp>
      <p:sp>
        <p:nvSpPr>
          <p:cNvPr id="12" name="text-10">
            <a:extLst xmlns:a="http://schemas.openxmlformats.org/drawingml/2006/main">
              <a:ext uri="{FF2B5EF4-FFF2-40B4-BE49-F238E27FC236}">
                <a16:creationId xmlns:a16="http://schemas.microsoft.com/office/drawing/2014/main" id="{812550E9-EE95-41EA-AA81-0E185C17E1EA}"/>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D C</a:t>
            </a:r>
          </a:p>
        </p:txBody>
      </p:sp>
    </p:spTree>
    <p:extLst>
      <p:ext uri="{BB962C8B-B14F-4D97-AF65-F5344CB8AC3E}">
        <p14:creationId xmlns:p14="http://schemas.microsoft.com/office/powerpoint/2010/main" val="8252915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1367F800-A33F-4E0F-ADA3-E12AB99EE500}"/>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Rover and humanoid research</a:t>
            </a:r>
          </a:p>
        </p:txBody>
      </p:sp>
      <p:sp>
        <p:nvSpPr>
          <p:cNvPr id="2" name="text-1">
            <a:extLst xmlns:a="http://schemas.openxmlformats.org/drawingml/2006/main">
              <a:ext uri="{FF2B5EF4-FFF2-40B4-BE49-F238E27FC236}">
                <a16:creationId xmlns:a16="http://schemas.microsoft.com/office/drawing/2014/main" id="{119C7B15-018F-4B7D-B8B0-769BE22BB88A}"/>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Longer-term hardware programmes  /  Research stage</a:t>
            </a:r>
          </a:p>
        </p:txBody>
      </p:sp>
      <p:sp>
        <p:nvSpPr>
          <p:cNvPr id="3" name="text-2">
            <a:extLst xmlns:a="http://schemas.openxmlformats.org/drawingml/2006/main">
              <a:ext uri="{FF2B5EF4-FFF2-40B4-BE49-F238E27FC236}">
                <a16:creationId xmlns:a16="http://schemas.microsoft.com/office/drawing/2014/main" id="{B9C9E09F-2A65-4B61-A004-6102A1B6BA18}"/>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Aido Rover</a:t>
            </a:r>
          </a:p>
        </p:txBody>
      </p:sp>
      <p:sp>
        <p:nvSpPr>
          <p:cNvPr id="4" name="text-3">
            <a:extLst xmlns:a="http://schemas.openxmlformats.org/drawingml/2006/main">
              <a:ext uri="{FF2B5EF4-FFF2-40B4-BE49-F238E27FC236}">
                <a16:creationId xmlns:a16="http://schemas.microsoft.com/office/drawing/2014/main" id="{8B488CC7-4AE4-4DE3-B143-54FF0ED2AB75}"/>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Outdoor patrol and inspection.</a:t>
            </a:r>
          </a:p>
        </p:txBody>
      </p:sp>
      <p:sp>
        <p:nvSpPr>
          <p:cNvPr id="5" name="text-4">
            <a:extLst xmlns:a="http://schemas.openxmlformats.org/drawingml/2006/main">
              <a:ext uri="{FF2B5EF4-FFF2-40B4-BE49-F238E27FC236}">
                <a16:creationId xmlns:a16="http://schemas.microsoft.com/office/drawing/2014/main" id="{B32A01CA-92FC-4DA9-AE40-BDE379DEF9F2}"/>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Aido Humanoid</a:t>
            </a:r>
          </a:p>
        </p:txBody>
      </p:sp>
      <p:sp>
        <p:nvSpPr>
          <p:cNvPr id="6" name="text-5">
            <a:extLst xmlns:a="http://schemas.openxmlformats.org/drawingml/2006/main">
              <a:ext uri="{FF2B5EF4-FFF2-40B4-BE49-F238E27FC236}">
                <a16:creationId xmlns:a16="http://schemas.microsoft.com/office/drawing/2014/main" id="{7F60BD4F-8AE0-4942-A0BA-6BF956781383}"/>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General-purpose physical assistance research.</a:t>
            </a:r>
          </a:p>
        </p:txBody>
      </p:sp>
      <p:sp>
        <p:nvSpPr>
          <p:cNvPr id="7" name="text-6">
            <a:extLst xmlns:a="http://schemas.openxmlformats.org/drawingml/2006/main">
              <a:ext uri="{FF2B5EF4-FFF2-40B4-BE49-F238E27FC236}">
                <a16:creationId xmlns:a16="http://schemas.microsoft.com/office/drawing/2014/main" id="{01A60C91-ED05-490F-BBAC-3479F1D9EF04}"/>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Development challenge</a:t>
            </a:r>
          </a:p>
        </p:txBody>
      </p:sp>
      <p:sp>
        <p:nvSpPr>
          <p:cNvPr id="8" name="text-7">
            <a:extLst xmlns:a="http://schemas.openxmlformats.org/drawingml/2006/main">
              <a:ext uri="{FF2B5EF4-FFF2-40B4-BE49-F238E27FC236}">
                <a16:creationId xmlns:a16="http://schemas.microsoft.com/office/drawing/2014/main" id="{7E2A17DB-A482-4A25-8AA9-2FCE9AAC5261}"/>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Complex movement requires extensive safety and reliability testing.</a:t>
            </a:r>
          </a:p>
        </p:txBody>
      </p:sp>
      <p:pic>
        <p:nvPicPr>
          <p:cNvPr id="9" name="">
            <a:extLst xmlns:a="http://schemas.openxmlformats.org/drawingml/2006/main">
              <a:ext uri="{FF2B5EF4-FFF2-40B4-BE49-F238E27FC236}">
                <a16:creationId xmlns:a16="http://schemas.microsoft.com/office/drawing/2014/main" id="{EDAEB74C-6CED-4018-AAEB-43A3C99D7AF3}"/>
              </a:ext>
            </a:extLst>
          </p:cNvPr>
          <p:cNvPicPr>
            <a:picLocks xmlns:a="http://schemas.openxmlformats.org/drawingml/2006/main" noChangeAspect="1"/>
          </p:cNvPicPr>
          <p:nvPr/>
        </p:nvPicPr>
        <p:blipFill>
          <a:blip xmlns:r="http://schemas.openxmlformats.org/officeDocument/2006/relationships" xmlns:a="http://schemas.openxmlformats.org/drawingml/2006/main" r:embed="Rb656deb3e6a14e47"/>
          <a:stretch xmlns:a="http://schemas.openxmlformats.org/drawingml/2006/main"/>
        </p:blipFill>
        <p:spPr>
          <a:xfrm xmlns:a="http://schemas.openxmlformats.org/drawingml/2006/main">
            <a:off x="6486525" y="2778471"/>
            <a:ext cx="2476500" cy="212973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C8DA53E-7F6E-4C63-9645-DCC390AD7F0C}"/>
              </a:ext>
            </a:extLst>
          </p:cNvPr>
          <p:cNvPicPr>
            <a:picLocks xmlns:a="http://schemas.openxmlformats.org/drawingml/2006/main" noChangeAspect="1"/>
          </p:cNvPicPr>
          <p:nvPr/>
        </p:nvPicPr>
        <p:blipFill>
          <a:blip xmlns:r="http://schemas.openxmlformats.org/officeDocument/2006/relationships" xmlns:a="http://schemas.openxmlformats.org/drawingml/2006/main" r:embed="R07dd97765b494645"/>
          <a:stretch xmlns:a="http://schemas.openxmlformats.org/drawingml/2006/main"/>
        </p:blipFill>
        <p:spPr>
          <a:xfrm xmlns:a="http://schemas.openxmlformats.org/drawingml/2006/main">
            <a:off x="9058275" y="2821595"/>
            <a:ext cx="2447925" cy="2043485"/>
          </a:xfrm>
          <a:prstGeom xmlns:a="http://schemas.openxmlformats.org/drawingml/2006/main" prst="rect">
            <a:avLst/>
          </a:prstGeom>
        </p:spPr>
      </p:pic>
      <p:sp>
        <p:nvSpPr>
          <p:cNvPr id="11" name="text-8">
            <a:extLst xmlns:a="http://schemas.openxmlformats.org/drawingml/2006/main">
              <a:ext uri="{FF2B5EF4-FFF2-40B4-BE49-F238E27FC236}">
                <a16:creationId xmlns:a16="http://schemas.microsoft.com/office/drawing/2014/main" id="{594A20DF-C089-48FC-A29D-6BB279BC66B1}"/>
              </a:ext>
            </a:extLst>
          </p:cNvPr>
          <p:cNvSpPr>
            <a:spLocks xmlns:a="http://schemas.openxmlformats.org/drawingml/2006/main" noGrp="1"/>
          </p:cNvSpPr>
          <p:nvPr/>
        </p:nvSpPr>
        <p:spPr>
          <a:xfrm xmlns:a="http://schemas.openxmlformats.org/drawingml/2006/main">
            <a:off x="6486525" y="5657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575" b="0">
                <a:solidFill>
                  <a:srgbClr val="526477"/>
                </a:solidFill>
                <a:latin typeface="Aptos"/>
                <a:ea typeface="Aptos"/>
                <a:cs typeface="Aptos"/>
              </a:defRPr>
            </a:defPPr>
            <a:lvl1pPr>
              <a:defRPr sz="1575" b="0">
                <a:solidFill>
                  <a:srgbClr val="526477"/>
                </a:solidFill>
                <a:latin typeface="Aptos"/>
                <a:ea typeface="Aptos"/>
                <a:cs typeface="Aptos"/>
              </a:defRPr>
            </a:lvl1pPr>
            <a:lvl2pPr>
              <a:defRPr sz="1575" b="0">
                <a:solidFill>
                  <a:srgbClr val="526477"/>
                </a:solidFill>
                <a:latin typeface="Aptos"/>
                <a:ea typeface="Aptos"/>
                <a:cs typeface="Aptos"/>
              </a:defRPr>
            </a:lvl2pPr>
            <a:lvl3pPr>
              <a:defRPr sz="1575" b="0">
                <a:solidFill>
                  <a:srgbClr val="526477"/>
                </a:solidFill>
                <a:latin typeface="Aptos"/>
                <a:ea typeface="Aptos"/>
                <a:cs typeface="Aptos"/>
              </a:defRPr>
            </a:lvl3pPr>
            <a:lvl4pPr>
              <a:defRPr sz="1575" b="0">
                <a:solidFill>
                  <a:srgbClr val="526477"/>
                </a:solidFill>
                <a:latin typeface="Aptos"/>
                <a:ea typeface="Aptos"/>
                <a:cs typeface="Aptos"/>
              </a:defRPr>
            </a:lvl4pPr>
            <a:lvl5pPr>
              <a:defRPr sz="1575" b="0">
                <a:solidFill>
                  <a:srgbClr val="526477"/>
                </a:solidFill>
                <a:latin typeface="Aptos"/>
                <a:ea typeface="Aptos"/>
                <a:cs typeface="Aptos"/>
              </a:defRPr>
            </a:lvl5pPr>
            <a:lvl6pPr>
              <a:defRPr sz="1575" b="0">
                <a:solidFill>
                  <a:srgbClr val="526477"/>
                </a:solidFill>
                <a:latin typeface="Aptos"/>
                <a:ea typeface="Aptos"/>
                <a:cs typeface="Aptos"/>
              </a:defRPr>
            </a:lvl6pPr>
            <a:lvl7pPr>
              <a:defRPr sz="1575" b="0">
                <a:solidFill>
                  <a:srgbClr val="526477"/>
                </a:solidFill>
                <a:latin typeface="Aptos"/>
                <a:ea typeface="Aptos"/>
                <a:cs typeface="Aptos"/>
              </a:defRPr>
            </a:lvl7pPr>
            <a:lvl8pPr>
              <a:defRPr sz="1575" b="0">
                <a:solidFill>
                  <a:srgbClr val="526477"/>
                </a:solidFill>
                <a:latin typeface="Aptos"/>
                <a:ea typeface="Aptos"/>
                <a:cs typeface="Aptos"/>
              </a:defRPr>
            </a:lvl8pPr>
            <a:lvl9pPr>
              <a:defRPr sz="1575" b="0">
                <a:solidFill>
                  <a:srgbClr val="526477"/>
                </a:solidFill>
                <a:latin typeface="Aptos"/>
                <a:ea typeface="Aptos"/>
                <a:cs typeface="Aptos"/>
              </a:defRPr>
            </a:lvl9pPr>
          </a:lstStyle>
          <a:p xmlns:a="http://schemas.openxmlformats.org/drawingml/2006/main">
            <a:pPr>
              <a:defRPr sz="1575" b="0">
                <a:solidFill>
                  <a:srgbClr val="526477"/>
                </a:solidFill>
                <a:latin typeface="Aptos"/>
                <a:ea typeface="Aptos"/>
                <a:cs typeface="Aptos"/>
              </a:defRPr>
            </a:pPr>
            <a:r>
              <a:rPr sz="1575" b="0">
                <a:solidFill>
                  <a:srgbClr val="526477"/>
                </a:solidFill>
                <a:latin typeface="Aptos"/>
                <a:ea typeface="Aptos"/>
                <a:cs typeface="Aptos"/>
              </a:rPr>
              <a:t>Aido Rover</a:t>
            </a:r>
          </a:p>
        </p:txBody>
      </p:sp>
      <p:sp>
        <p:nvSpPr>
          <p:cNvPr id="12" name="text-9">
            <a:extLst xmlns:a="http://schemas.openxmlformats.org/drawingml/2006/main">
              <a:ext uri="{FF2B5EF4-FFF2-40B4-BE49-F238E27FC236}">
                <a16:creationId xmlns:a16="http://schemas.microsoft.com/office/drawing/2014/main" id="{E653B3B4-8599-4114-A8C0-15AE776868F7}"/>
              </a:ext>
            </a:extLst>
          </p:cNvPr>
          <p:cNvSpPr>
            <a:spLocks xmlns:a="http://schemas.openxmlformats.org/drawingml/2006/main" noGrp="1"/>
          </p:cNvSpPr>
          <p:nvPr/>
        </p:nvSpPr>
        <p:spPr>
          <a:xfrm xmlns:a="http://schemas.openxmlformats.org/drawingml/2006/main">
            <a:off x="9058275" y="5657850"/>
            <a:ext cx="2447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575" b="0">
                <a:solidFill>
                  <a:srgbClr val="526477"/>
                </a:solidFill>
                <a:latin typeface="Aptos"/>
                <a:ea typeface="Aptos"/>
                <a:cs typeface="Aptos"/>
              </a:defRPr>
            </a:defPPr>
            <a:lvl1pPr>
              <a:defRPr sz="1575" b="0">
                <a:solidFill>
                  <a:srgbClr val="526477"/>
                </a:solidFill>
                <a:latin typeface="Aptos"/>
                <a:ea typeface="Aptos"/>
                <a:cs typeface="Aptos"/>
              </a:defRPr>
            </a:lvl1pPr>
            <a:lvl2pPr>
              <a:defRPr sz="1575" b="0">
                <a:solidFill>
                  <a:srgbClr val="526477"/>
                </a:solidFill>
                <a:latin typeface="Aptos"/>
                <a:ea typeface="Aptos"/>
                <a:cs typeface="Aptos"/>
              </a:defRPr>
            </a:lvl2pPr>
            <a:lvl3pPr>
              <a:defRPr sz="1575" b="0">
                <a:solidFill>
                  <a:srgbClr val="526477"/>
                </a:solidFill>
                <a:latin typeface="Aptos"/>
                <a:ea typeface="Aptos"/>
                <a:cs typeface="Aptos"/>
              </a:defRPr>
            </a:lvl3pPr>
            <a:lvl4pPr>
              <a:defRPr sz="1575" b="0">
                <a:solidFill>
                  <a:srgbClr val="526477"/>
                </a:solidFill>
                <a:latin typeface="Aptos"/>
                <a:ea typeface="Aptos"/>
                <a:cs typeface="Aptos"/>
              </a:defRPr>
            </a:lvl4pPr>
            <a:lvl5pPr>
              <a:defRPr sz="1575" b="0">
                <a:solidFill>
                  <a:srgbClr val="526477"/>
                </a:solidFill>
                <a:latin typeface="Aptos"/>
                <a:ea typeface="Aptos"/>
                <a:cs typeface="Aptos"/>
              </a:defRPr>
            </a:lvl5pPr>
            <a:lvl6pPr>
              <a:defRPr sz="1575" b="0">
                <a:solidFill>
                  <a:srgbClr val="526477"/>
                </a:solidFill>
                <a:latin typeface="Aptos"/>
                <a:ea typeface="Aptos"/>
                <a:cs typeface="Aptos"/>
              </a:defRPr>
            </a:lvl6pPr>
            <a:lvl7pPr>
              <a:defRPr sz="1575" b="0">
                <a:solidFill>
                  <a:srgbClr val="526477"/>
                </a:solidFill>
                <a:latin typeface="Aptos"/>
                <a:ea typeface="Aptos"/>
                <a:cs typeface="Aptos"/>
              </a:defRPr>
            </a:lvl7pPr>
            <a:lvl8pPr>
              <a:defRPr sz="1575" b="0">
                <a:solidFill>
                  <a:srgbClr val="526477"/>
                </a:solidFill>
                <a:latin typeface="Aptos"/>
                <a:ea typeface="Aptos"/>
                <a:cs typeface="Aptos"/>
              </a:defRPr>
            </a:lvl8pPr>
            <a:lvl9pPr>
              <a:defRPr sz="1575" b="0">
                <a:solidFill>
                  <a:srgbClr val="526477"/>
                </a:solidFill>
                <a:latin typeface="Aptos"/>
                <a:ea typeface="Aptos"/>
                <a:cs typeface="Aptos"/>
              </a:defRPr>
            </a:lvl9pPr>
          </a:lstStyle>
          <a:p xmlns:a="http://schemas.openxmlformats.org/drawingml/2006/main">
            <a:pPr>
              <a:defRPr sz="1575" b="0">
                <a:solidFill>
                  <a:srgbClr val="526477"/>
                </a:solidFill>
                <a:latin typeface="Aptos"/>
                <a:ea typeface="Aptos"/>
                <a:cs typeface="Aptos"/>
              </a:defRPr>
            </a:pPr>
            <a:r>
              <a:rPr sz="1575" b="0">
                <a:solidFill>
                  <a:srgbClr val="526477"/>
                </a:solidFill>
                <a:latin typeface="Aptos"/>
                <a:ea typeface="Aptos"/>
                <a:cs typeface="Aptos"/>
              </a:rPr>
              <a:t>Aido Humanoid</a:t>
            </a:r>
          </a:p>
        </p:txBody>
      </p:sp>
      <p:sp>
        <p:nvSpPr>
          <p:cNvPr id="13" name="text-10">
            <a:extLst xmlns:a="http://schemas.openxmlformats.org/drawingml/2006/main">
              <a:ext uri="{FF2B5EF4-FFF2-40B4-BE49-F238E27FC236}">
                <a16:creationId xmlns:a16="http://schemas.microsoft.com/office/drawing/2014/main" id="{9E8AAEFB-E8BA-47B8-8454-2E2DCF5AA900}"/>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4" name="text-11">
            <a:extLst xmlns:a="http://schemas.openxmlformats.org/drawingml/2006/main">
              <a:ext uri="{FF2B5EF4-FFF2-40B4-BE49-F238E27FC236}">
                <a16:creationId xmlns:a16="http://schemas.microsoft.com/office/drawing/2014/main" id="{FA48E2A6-5F62-422E-8472-C513AEA2316E}"/>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14</a:t>
            </a:r>
          </a:p>
        </p:txBody>
      </p:sp>
      <p:sp>
        <p:nvSpPr>
          <p:cNvPr id="15" name="text-12">
            <a:extLst xmlns:a="http://schemas.openxmlformats.org/drawingml/2006/main">
              <a:ext uri="{FF2B5EF4-FFF2-40B4-BE49-F238E27FC236}">
                <a16:creationId xmlns:a16="http://schemas.microsoft.com/office/drawing/2014/main" id="{AD53F206-B5E2-4B81-B348-E14324A713FE}"/>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C</a:t>
            </a:r>
          </a:p>
        </p:txBody>
      </p:sp>
    </p:spTree>
    <p:extLst>
      <p:ext uri="{BB962C8B-B14F-4D97-AF65-F5344CB8AC3E}">
        <p14:creationId xmlns:p14="http://schemas.microsoft.com/office/powerpoint/2010/main" val="15660855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60292D0B-085B-402B-9649-62EB14E9B836}"/>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Business model</a:t>
            </a:r>
          </a:p>
        </p:txBody>
      </p:sp>
      <p:sp>
        <p:nvSpPr>
          <p:cNvPr id="2" name="text-1">
            <a:extLst xmlns:a="http://schemas.openxmlformats.org/drawingml/2006/main">
              <a:ext uri="{FF2B5EF4-FFF2-40B4-BE49-F238E27FC236}">
                <a16:creationId xmlns:a16="http://schemas.microsoft.com/office/drawing/2014/main" id="{CD2EB220-CB72-40D2-A128-8F823AFA476B}"/>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Hardware sales with planned recurring services</a:t>
            </a:r>
          </a:p>
        </p:txBody>
      </p:sp>
      <p:sp>
        <p:nvSpPr>
          <p:cNvPr id="3" name="text-2">
            <a:extLst xmlns:a="http://schemas.openxmlformats.org/drawingml/2006/main">
              <a:ext uri="{FF2B5EF4-FFF2-40B4-BE49-F238E27FC236}">
                <a16:creationId xmlns:a16="http://schemas.microsoft.com/office/drawing/2014/main" id="{73D890D0-8726-4DD8-B79B-E33DBB7137C1}"/>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Hardware</a:t>
            </a:r>
          </a:p>
        </p:txBody>
      </p:sp>
      <p:sp>
        <p:nvSpPr>
          <p:cNvPr id="4" name="text-3">
            <a:extLst xmlns:a="http://schemas.openxmlformats.org/drawingml/2006/main">
              <a:ext uri="{FF2B5EF4-FFF2-40B4-BE49-F238E27FC236}">
                <a16:creationId xmlns:a16="http://schemas.microsoft.com/office/drawing/2014/main" id="{92781C18-B813-43E3-88F6-6A78D5E421E6}"/>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One-time device purchases for consumers and organizations.</a:t>
            </a:r>
          </a:p>
        </p:txBody>
      </p:sp>
      <p:sp>
        <p:nvSpPr>
          <p:cNvPr id="5" name="text-4">
            <a:extLst xmlns:a="http://schemas.openxmlformats.org/drawingml/2006/main">
              <a:ext uri="{FF2B5EF4-FFF2-40B4-BE49-F238E27FC236}">
                <a16:creationId xmlns:a16="http://schemas.microsoft.com/office/drawing/2014/main" id="{1D83867C-90A8-4C7C-B1D1-ADBF61B605D7}"/>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Services</a:t>
            </a:r>
          </a:p>
        </p:txBody>
      </p:sp>
      <p:sp>
        <p:nvSpPr>
          <p:cNvPr id="6" name="text-5">
            <a:extLst xmlns:a="http://schemas.openxmlformats.org/drawingml/2006/main">
              <a:ext uri="{FF2B5EF4-FFF2-40B4-BE49-F238E27FC236}">
                <a16:creationId xmlns:a16="http://schemas.microsoft.com/office/drawing/2014/main" id="{E29AB672-23DD-4632-B4DF-1C39E4B85664}"/>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Subscriptions, enterprise licenses and platform services.</a:t>
            </a:r>
          </a:p>
        </p:txBody>
      </p:sp>
      <p:sp>
        <p:nvSpPr>
          <p:cNvPr id="7" name="text-6">
            <a:extLst xmlns:a="http://schemas.openxmlformats.org/drawingml/2006/main">
              <a:ext uri="{FF2B5EF4-FFF2-40B4-BE49-F238E27FC236}">
                <a16:creationId xmlns:a16="http://schemas.microsoft.com/office/drawing/2014/main" id="{DED3CACE-5036-43F5-AC56-CDA7D808E170}"/>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Education</a:t>
            </a:r>
          </a:p>
        </p:txBody>
      </p:sp>
      <p:sp>
        <p:nvSpPr>
          <p:cNvPr id="8" name="text-7">
            <a:extLst xmlns:a="http://schemas.openxmlformats.org/drawingml/2006/main">
              <a:ext uri="{FF2B5EF4-FFF2-40B4-BE49-F238E27FC236}">
                <a16:creationId xmlns:a16="http://schemas.microsoft.com/office/drawing/2014/main" id="{50AC0DAE-C9F2-42F2-A0E6-8A0A7EB3AC53}"/>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Training programmes provide a separate revenue route.</a:t>
            </a:r>
          </a:p>
        </p:txBody>
      </p:sp>
      <p:pic>
        <p:nvPicPr>
          <p:cNvPr id="9" name="">
            <a:extLst xmlns:a="http://schemas.openxmlformats.org/drawingml/2006/main">
              <a:ext uri="{FF2B5EF4-FFF2-40B4-BE49-F238E27FC236}">
                <a16:creationId xmlns:a16="http://schemas.microsoft.com/office/drawing/2014/main" id="{51766A18-F523-4251-BC3D-064A88317BB5}"/>
              </a:ext>
            </a:extLst>
          </p:cNvPr>
          <p:cNvPicPr>
            <a:picLocks xmlns:a="http://schemas.openxmlformats.org/drawingml/2006/main" noChangeAspect="1"/>
          </p:cNvPicPr>
          <p:nvPr/>
        </p:nvPicPr>
        <p:blipFill>
          <a:blip xmlns:r="http://schemas.openxmlformats.org/officeDocument/2006/relationships" xmlns:a="http://schemas.openxmlformats.org/drawingml/2006/main" r:embed="R8bea7dadc92c405d"/>
          <a:stretch xmlns:a="http://schemas.openxmlformats.org/drawingml/2006/main"/>
        </p:blipFill>
        <p:spPr>
          <a:xfrm xmlns:a="http://schemas.openxmlformats.org/drawingml/2006/main">
            <a:off x="6958864" y="2190750"/>
            <a:ext cx="1646123"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C780973-330E-4A1D-948C-805865CF7AA0}"/>
              </a:ext>
            </a:extLst>
          </p:cNvPr>
          <p:cNvPicPr>
            <a:picLocks xmlns:a="http://schemas.openxmlformats.org/drawingml/2006/main" noChangeAspect="1"/>
          </p:cNvPicPr>
          <p:nvPr/>
        </p:nvPicPr>
        <p:blipFill>
          <a:blip xmlns:r="http://schemas.openxmlformats.org/officeDocument/2006/relationships" xmlns:a="http://schemas.openxmlformats.org/drawingml/2006/main" r:embed="R1c3d47cf7a0b4b04"/>
          <a:stretch xmlns:a="http://schemas.openxmlformats.org/drawingml/2006/main"/>
        </p:blipFill>
        <p:spPr>
          <a:xfrm xmlns:a="http://schemas.openxmlformats.org/drawingml/2006/main">
            <a:off x="9172575" y="2216727"/>
            <a:ext cx="2286000" cy="3377045"/>
          </a:xfrm>
          <a:prstGeom xmlns:a="http://schemas.openxmlformats.org/drawingml/2006/main" prst="rect">
            <a:avLst/>
          </a:prstGeom>
        </p:spPr>
      </p:pic>
      <p:sp>
        <p:nvSpPr>
          <p:cNvPr id="11" name="text-8">
            <a:extLst xmlns:a="http://schemas.openxmlformats.org/drawingml/2006/main">
              <a:ext uri="{FF2B5EF4-FFF2-40B4-BE49-F238E27FC236}">
                <a16:creationId xmlns:a16="http://schemas.microsoft.com/office/drawing/2014/main" id="{5AE323E0-CA91-4575-A006-4F6A2886FFFB}"/>
              </a:ext>
            </a:extLst>
          </p:cNvPr>
          <p:cNvSpPr>
            <a:spLocks xmlns:a="http://schemas.openxmlformats.org/drawingml/2006/main" noGrp="1"/>
          </p:cNvSpPr>
          <p:nvPr/>
        </p:nvSpPr>
        <p:spPr>
          <a:xfrm xmlns:a="http://schemas.openxmlformats.org/drawingml/2006/main">
            <a:off x="6638925" y="58102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526477"/>
                </a:solidFill>
                <a:latin typeface="Aptos"/>
                <a:ea typeface="Aptos"/>
                <a:cs typeface="Aptos"/>
              </a:defRPr>
            </a:defPPr>
            <a:lvl1pPr>
              <a:defRPr sz="1425" b="0">
                <a:solidFill>
                  <a:srgbClr val="526477"/>
                </a:solidFill>
                <a:latin typeface="Aptos"/>
                <a:ea typeface="Aptos"/>
                <a:cs typeface="Aptos"/>
              </a:defRPr>
            </a:lvl1pPr>
            <a:lvl2pPr>
              <a:defRPr sz="1425" b="0">
                <a:solidFill>
                  <a:srgbClr val="526477"/>
                </a:solidFill>
                <a:latin typeface="Aptos"/>
                <a:ea typeface="Aptos"/>
                <a:cs typeface="Aptos"/>
              </a:defRPr>
            </a:lvl2pPr>
            <a:lvl3pPr>
              <a:defRPr sz="1425" b="0">
                <a:solidFill>
                  <a:srgbClr val="526477"/>
                </a:solidFill>
                <a:latin typeface="Aptos"/>
                <a:ea typeface="Aptos"/>
                <a:cs typeface="Aptos"/>
              </a:defRPr>
            </a:lvl3pPr>
            <a:lvl4pPr>
              <a:defRPr sz="1425" b="0">
                <a:solidFill>
                  <a:srgbClr val="526477"/>
                </a:solidFill>
                <a:latin typeface="Aptos"/>
                <a:ea typeface="Aptos"/>
                <a:cs typeface="Aptos"/>
              </a:defRPr>
            </a:lvl4pPr>
            <a:lvl5pPr>
              <a:defRPr sz="1425" b="0">
                <a:solidFill>
                  <a:srgbClr val="526477"/>
                </a:solidFill>
                <a:latin typeface="Aptos"/>
                <a:ea typeface="Aptos"/>
                <a:cs typeface="Aptos"/>
              </a:defRPr>
            </a:lvl5pPr>
            <a:lvl6pPr>
              <a:defRPr sz="1425" b="0">
                <a:solidFill>
                  <a:srgbClr val="526477"/>
                </a:solidFill>
                <a:latin typeface="Aptos"/>
                <a:ea typeface="Aptos"/>
                <a:cs typeface="Aptos"/>
              </a:defRPr>
            </a:lvl6pPr>
            <a:lvl7pPr>
              <a:defRPr sz="1425" b="0">
                <a:solidFill>
                  <a:srgbClr val="526477"/>
                </a:solidFill>
                <a:latin typeface="Aptos"/>
                <a:ea typeface="Aptos"/>
                <a:cs typeface="Aptos"/>
              </a:defRPr>
            </a:lvl7pPr>
            <a:lvl8pPr>
              <a:defRPr sz="1425" b="0">
                <a:solidFill>
                  <a:srgbClr val="526477"/>
                </a:solidFill>
                <a:latin typeface="Aptos"/>
                <a:ea typeface="Aptos"/>
                <a:cs typeface="Aptos"/>
              </a:defRPr>
            </a:lvl8pPr>
            <a:lvl9pPr>
              <a:defRPr sz="1425" b="0">
                <a:solidFill>
                  <a:srgbClr val="526477"/>
                </a:solidFill>
                <a:latin typeface="Aptos"/>
                <a:ea typeface="Aptos"/>
                <a:cs typeface="Aptos"/>
              </a:defRPr>
            </a:lvl9pPr>
          </a:lstStyle>
          <a:p xmlns:a="http://schemas.openxmlformats.org/drawingml/2006/main">
            <a:pPr>
              <a:defRPr sz="1425" b="0">
                <a:solidFill>
                  <a:srgbClr val="526477"/>
                </a:solidFill>
                <a:latin typeface="Aptos"/>
                <a:ea typeface="Aptos"/>
                <a:cs typeface="Aptos"/>
              </a:defRPr>
            </a:pPr>
            <a:r>
              <a:rPr sz="1425" b="0">
                <a:solidFill>
                  <a:srgbClr val="526477"/>
                </a:solidFill>
                <a:latin typeface="Aptos"/>
                <a:ea typeface="Aptos"/>
                <a:cs typeface="Aptos"/>
              </a:rPr>
              <a:t>Kobe companion</a:t>
            </a:r>
          </a:p>
        </p:txBody>
      </p:sp>
      <p:sp>
        <p:nvSpPr>
          <p:cNvPr id="12" name="text-9">
            <a:extLst xmlns:a="http://schemas.openxmlformats.org/drawingml/2006/main">
              <a:ext uri="{FF2B5EF4-FFF2-40B4-BE49-F238E27FC236}">
                <a16:creationId xmlns:a16="http://schemas.microsoft.com/office/drawing/2014/main" id="{82E3A659-677A-46DC-9F1F-2768CF5DB62C}"/>
              </a:ext>
            </a:extLst>
          </p:cNvPr>
          <p:cNvSpPr>
            <a:spLocks xmlns:a="http://schemas.openxmlformats.org/drawingml/2006/main" noGrp="1"/>
          </p:cNvSpPr>
          <p:nvPr/>
        </p:nvSpPr>
        <p:spPr>
          <a:xfrm xmlns:a="http://schemas.openxmlformats.org/drawingml/2006/main">
            <a:off x="9172575" y="58102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526477"/>
                </a:solidFill>
                <a:latin typeface="Aptos"/>
                <a:ea typeface="Aptos"/>
                <a:cs typeface="Aptos"/>
              </a:defRPr>
            </a:defPPr>
            <a:lvl1pPr>
              <a:defRPr sz="1425" b="0">
                <a:solidFill>
                  <a:srgbClr val="526477"/>
                </a:solidFill>
                <a:latin typeface="Aptos"/>
                <a:ea typeface="Aptos"/>
                <a:cs typeface="Aptos"/>
              </a:defRPr>
            </a:lvl1pPr>
            <a:lvl2pPr>
              <a:defRPr sz="1425" b="0">
                <a:solidFill>
                  <a:srgbClr val="526477"/>
                </a:solidFill>
                <a:latin typeface="Aptos"/>
                <a:ea typeface="Aptos"/>
                <a:cs typeface="Aptos"/>
              </a:defRPr>
            </a:lvl2pPr>
            <a:lvl3pPr>
              <a:defRPr sz="1425" b="0">
                <a:solidFill>
                  <a:srgbClr val="526477"/>
                </a:solidFill>
                <a:latin typeface="Aptos"/>
                <a:ea typeface="Aptos"/>
                <a:cs typeface="Aptos"/>
              </a:defRPr>
            </a:lvl3pPr>
            <a:lvl4pPr>
              <a:defRPr sz="1425" b="0">
                <a:solidFill>
                  <a:srgbClr val="526477"/>
                </a:solidFill>
                <a:latin typeface="Aptos"/>
                <a:ea typeface="Aptos"/>
                <a:cs typeface="Aptos"/>
              </a:defRPr>
            </a:lvl4pPr>
            <a:lvl5pPr>
              <a:defRPr sz="1425" b="0">
                <a:solidFill>
                  <a:srgbClr val="526477"/>
                </a:solidFill>
                <a:latin typeface="Aptos"/>
                <a:ea typeface="Aptos"/>
                <a:cs typeface="Aptos"/>
              </a:defRPr>
            </a:lvl5pPr>
            <a:lvl6pPr>
              <a:defRPr sz="1425" b="0">
                <a:solidFill>
                  <a:srgbClr val="526477"/>
                </a:solidFill>
                <a:latin typeface="Aptos"/>
                <a:ea typeface="Aptos"/>
                <a:cs typeface="Aptos"/>
              </a:defRPr>
            </a:lvl6pPr>
            <a:lvl7pPr>
              <a:defRPr sz="1425" b="0">
                <a:solidFill>
                  <a:srgbClr val="526477"/>
                </a:solidFill>
                <a:latin typeface="Aptos"/>
                <a:ea typeface="Aptos"/>
                <a:cs typeface="Aptos"/>
              </a:defRPr>
            </a:lvl7pPr>
            <a:lvl8pPr>
              <a:defRPr sz="1425" b="0">
                <a:solidFill>
                  <a:srgbClr val="526477"/>
                </a:solidFill>
                <a:latin typeface="Aptos"/>
                <a:ea typeface="Aptos"/>
                <a:cs typeface="Aptos"/>
              </a:defRPr>
            </a:lvl8pPr>
            <a:lvl9pPr>
              <a:defRPr sz="1425" b="0">
                <a:solidFill>
                  <a:srgbClr val="526477"/>
                </a:solidFill>
                <a:latin typeface="Aptos"/>
                <a:ea typeface="Aptos"/>
                <a:cs typeface="Aptos"/>
              </a:defRPr>
            </a:lvl9pPr>
          </a:lstStyle>
          <a:p xmlns:a="http://schemas.openxmlformats.org/drawingml/2006/main">
            <a:pPr>
              <a:defRPr sz="1425" b="0">
                <a:solidFill>
                  <a:srgbClr val="526477"/>
                </a:solidFill>
                <a:latin typeface="Aptos"/>
                <a:ea typeface="Aptos"/>
                <a:cs typeface="Aptos"/>
              </a:defRPr>
            </a:pPr>
            <a:r>
              <a:rPr sz="1425" b="0">
                <a:solidFill>
                  <a:srgbClr val="526477"/>
                </a:solidFill>
                <a:latin typeface="Aptos"/>
                <a:ea typeface="Aptos"/>
                <a:cs typeface="Aptos"/>
              </a:rPr>
              <a:t>Wheel Mobility</a:t>
            </a:r>
          </a:p>
        </p:txBody>
      </p:sp>
      <p:sp>
        <p:nvSpPr>
          <p:cNvPr id="13" name="text-10">
            <a:extLst xmlns:a="http://schemas.openxmlformats.org/drawingml/2006/main">
              <a:ext uri="{FF2B5EF4-FFF2-40B4-BE49-F238E27FC236}">
                <a16:creationId xmlns:a16="http://schemas.microsoft.com/office/drawing/2014/main" id="{25BD2819-A9EB-49FC-9581-A1C8D057A3D8}"/>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4" name="text-11">
            <a:extLst xmlns:a="http://schemas.openxmlformats.org/drawingml/2006/main">
              <a:ext uri="{FF2B5EF4-FFF2-40B4-BE49-F238E27FC236}">
                <a16:creationId xmlns:a16="http://schemas.microsoft.com/office/drawing/2014/main" id="{30E4A96E-A232-405D-8223-1CAD4AB6A300}"/>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15</a:t>
            </a:r>
          </a:p>
        </p:txBody>
      </p:sp>
      <p:sp>
        <p:nvSpPr>
          <p:cNvPr id="15" name="text-12">
            <a:extLst xmlns:a="http://schemas.openxmlformats.org/drawingml/2006/main">
              <a:ext uri="{FF2B5EF4-FFF2-40B4-BE49-F238E27FC236}">
                <a16:creationId xmlns:a16="http://schemas.microsoft.com/office/drawing/2014/main" id="{1C2BC252-8674-4057-A36B-D649FBB907B1}"/>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E</a:t>
            </a:r>
          </a:p>
        </p:txBody>
      </p:sp>
    </p:spTree>
    <p:extLst>
      <p:ext uri="{BB962C8B-B14F-4D97-AF65-F5344CB8AC3E}">
        <p14:creationId xmlns:p14="http://schemas.microsoft.com/office/powerpoint/2010/main" val="20993446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E4D0386-A7ED-4CA3-9DCE-B322BDEFA30D}"/>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Education and research partnerships</a:t>
            </a:r>
          </a:p>
        </p:txBody>
      </p:sp>
      <p:sp>
        <p:nvSpPr>
          <p:cNvPr id="2" name="text-1">
            <a:extLst xmlns:a="http://schemas.openxmlformats.org/drawingml/2006/main">
              <a:ext uri="{FF2B5EF4-FFF2-40B4-BE49-F238E27FC236}">
                <a16:creationId xmlns:a16="http://schemas.microsoft.com/office/drawing/2014/main" id="{ADD884D8-6441-49D3-9B02-DB4928E223E9}"/>
              </a:ext>
            </a:extLst>
          </p:cNvPr>
          <p:cNvSpPr>
            <a:spLocks xmlns:a="http://schemas.openxmlformats.org/drawingml/2006/main" noGrp="1"/>
          </p:cNvSpPr>
          <p:nvPr/>
        </p:nvSpPr>
        <p:spPr>
          <a:xfrm xmlns:a="http://schemas.openxmlformats.org/drawingml/2006/main">
            <a:off x="685800" y="19431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Futurenauts</a:t>
            </a:r>
          </a:p>
        </p:txBody>
      </p:sp>
      <p:sp>
        <p:nvSpPr>
          <p:cNvPr id="3" name="text-2">
            <a:extLst xmlns:a="http://schemas.openxmlformats.org/drawingml/2006/main">
              <a:ext uri="{FF2B5EF4-FFF2-40B4-BE49-F238E27FC236}">
                <a16:creationId xmlns:a16="http://schemas.microsoft.com/office/drawing/2014/main" id="{ADD38752-B419-4006-90B8-57E308C7DAE7}"/>
              </a:ext>
            </a:extLst>
          </p:cNvPr>
          <p:cNvSpPr>
            <a:spLocks xmlns:a="http://schemas.openxmlformats.org/drawingml/2006/main" noGrp="1"/>
          </p:cNvSpPr>
          <p:nvPr/>
        </p:nvSpPr>
        <p:spPr>
          <a:xfrm xmlns:a="http://schemas.openxmlformats.org/drawingml/2006/main">
            <a:off x="685800" y="23526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Manchester’s MoU connects students and researchers with the education initiative.</a:t>
            </a:r>
          </a:p>
        </p:txBody>
      </p:sp>
      <p:sp>
        <p:nvSpPr>
          <p:cNvPr id="4" name="text-3">
            <a:extLst xmlns:a="http://schemas.openxmlformats.org/drawingml/2006/main">
              <a:ext uri="{FF2B5EF4-FFF2-40B4-BE49-F238E27FC236}">
                <a16:creationId xmlns:a16="http://schemas.microsoft.com/office/drawing/2014/main" id="{42A44563-0527-43A7-84BB-E43852BA5129}"/>
              </a:ext>
            </a:extLst>
          </p:cNvPr>
          <p:cNvSpPr>
            <a:spLocks xmlns:a="http://schemas.openxmlformats.org/drawingml/2006/main" noGrp="1"/>
          </p:cNvSpPr>
          <p:nvPr/>
        </p:nvSpPr>
        <p:spPr>
          <a:xfrm xmlns:a="http://schemas.openxmlformats.org/drawingml/2006/main">
            <a:off x="685800" y="31813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Joint development</a:t>
            </a:r>
          </a:p>
        </p:txBody>
      </p:sp>
      <p:sp>
        <p:nvSpPr>
          <p:cNvPr id="5" name="text-4">
            <a:extLst xmlns:a="http://schemas.openxmlformats.org/drawingml/2006/main">
              <a:ext uri="{FF2B5EF4-FFF2-40B4-BE49-F238E27FC236}">
                <a16:creationId xmlns:a16="http://schemas.microsoft.com/office/drawing/2014/main" id="{5739BF86-C20C-42ED-84EA-8D4696728FF4}"/>
              </a:ext>
            </a:extLst>
          </p:cNvPr>
          <p:cNvSpPr>
            <a:spLocks xmlns:a="http://schemas.openxmlformats.org/drawingml/2006/main" noGrp="1"/>
          </p:cNvSpPr>
          <p:nvPr/>
        </p:nvSpPr>
        <p:spPr>
          <a:xfrm xmlns:a="http://schemas.openxmlformats.org/drawingml/2006/main">
            <a:off x="685800" y="35909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The collaboration proposes research, curricula and academic exchanges.</a:t>
            </a:r>
          </a:p>
        </p:txBody>
      </p:sp>
      <p:sp>
        <p:nvSpPr>
          <p:cNvPr id="6" name="text-5">
            <a:extLst xmlns:a="http://schemas.openxmlformats.org/drawingml/2006/main">
              <a:ext uri="{FF2B5EF4-FFF2-40B4-BE49-F238E27FC236}">
                <a16:creationId xmlns:a16="http://schemas.microsoft.com/office/drawing/2014/main" id="{25E52C1D-A46A-406B-AAAE-E06C77064F25}"/>
              </a:ext>
            </a:extLst>
          </p:cNvPr>
          <p:cNvSpPr>
            <a:spLocks xmlns:a="http://schemas.openxmlformats.org/drawingml/2006/main" noGrp="1"/>
          </p:cNvSpPr>
          <p:nvPr/>
        </p:nvSpPr>
        <p:spPr>
          <a:xfrm xmlns:a="http://schemas.openxmlformats.org/drawingml/2006/main">
            <a:off x="685800" y="44196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Responsible AI</a:t>
            </a:r>
          </a:p>
        </p:txBody>
      </p:sp>
      <p:sp>
        <p:nvSpPr>
          <p:cNvPr id="7" name="text-6">
            <a:extLst xmlns:a="http://schemas.openxmlformats.org/drawingml/2006/main">
              <a:ext uri="{FF2B5EF4-FFF2-40B4-BE49-F238E27FC236}">
                <a16:creationId xmlns:a16="http://schemas.microsoft.com/office/drawing/2014/main" id="{BC09B605-A41A-479E-BC8D-C624FA5E9DAF}"/>
              </a:ext>
            </a:extLst>
          </p:cNvPr>
          <p:cNvSpPr>
            <a:spLocks xmlns:a="http://schemas.openxmlformats.org/drawingml/2006/main" noGrp="1"/>
          </p:cNvSpPr>
          <p:nvPr/>
        </p:nvSpPr>
        <p:spPr>
          <a:xfrm xmlns:a="http://schemas.openxmlformats.org/drawingml/2006/main">
            <a:off x="685800" y="48291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Planned work includes transparency, accountability and evaluation in social care.</a:t>
            </a:r>
          </a:p>
        </p:txBody>
      </p:sp>
      <p:pic>
        <p:nvPicPr>
          <p:cNvPr id="8" name="">
            <a:extLst xmlns:a="http://schemas.openxmlformats.org/drawingml/2006/main">
              <a:ext uri="{FF2B5EF4-FFF2-40B4-BE49-F238E27FC236}">
                <a16:creationId xmlns:a16="http://schemas.microsoft.com/office/drawing/2014/main" id="{B53D64DD-BF46-432B-A608-75052B5727C1}"/>
              </a:ext>
            </a:extLst>
          </p:cNvPr>
          <p:cNvPicPr>
            <a:picLocks xmlns:a="http://schemas.openxmlformats.org/drawingml/2006/main" noChangeAspect="1"/>
          </p:cNvPicPr>
          <p:nvPr/>
        </p:nvPicPr>
        <p:blipFill>
          <a:blip xmlns:r="http://schemas.openxmlformats.org/officeDocument/2006/relationships" xmlns:a="http://schemas.openxmlformats.org/drawingml/2006/main" r:embed="R8452e008c64d494d"/>
          <a:stretch xmlns:a="http://schemas.openxmlformats.org/drawingml/2006/main"/>
        </p:blipFill>
        <p:spPr>
          <a:xfrm xmlns:a="http://schemas.openxmlformats.org/drawingml/2006/main">
            <a:off x="7267575" y="1990725"/>
            <a:ext cx="3505200" cy="35052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6F796C4-A4CE-44CA-8DA3-ED56DAA264FA}"/>
              </a:ext>
            </a:extLst>
          </p:cNvPr>
          <p:cNvPicPr>
            <a:picLocks xmlns:a="http://schemas.openxmlformats.org/drawingml/2006/main" noChangeAspect="1"/>
          </p:cNvPicPr>
          <p:nvPr/>
        </p:nvPicPr>
        <p:blipFill>
          <a:blip xmlns:r="http://schemas.openxmlformats.org/officeDocument/2006/relationships" xmlns:a="http://schemas.openxmlformats.org/drawingml/2006/main" r:embed="R14191bd02c9a47e0"/>
          <a:stretch xmlns:a="http://schemas.openxmlformats.org/drawingml/2006/main"/>
        </p:blipFill>
        <p:spPr>
          <a:xfrm xmlns:a="http://schemas.openxmlformats.org/drawingml/2006/main">
            <a:off x="8821701" y="5657850"/>
            <a:ext cx="1597099" cy="666750"/>
          </a:xfrm>
          <a:prstGeom xmlns:a="http://schemas.openxmlformats.org/drawingml/2006/main" prst="rect">
            <a:avLst/>
          </a:prstGeom>
        </p:spPr>
      </p:pic>
      <p:sp>
        <p:nvSpPr>
          <p:cNvPr id="10" name="text-7">
            <a:extLst xmlns:a="http://schemas.openxmlformats.org/drawingml/2006/main">
              <a:ext uri="{FF2B5EF4-FFF2-40B4-BE49-F238E27FC236}">
                <a16:creationId xmlns:a16="http://schemas.microsoft.com/office/drawing/2014/main" id="{06700FAA-D391-40AB-BDDD-1E43C865F0CC}"/>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1" name="text-8">
            <a:extLst xmlns:a="http://schemas.openxmlformats.org/drawingml/2006/main">
              <a:ext uri="{FF2B5EF4-FFF2-40B4-BE49-F238E27FC236}">
                <a16:creationId xmlns:a16="http://schemas.microsoft.com/office/drawing/2014/main" id="{05C3E72D-F5C0-4DF4-9CD8-849D5A9AD820}"/>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16</a:t>
            </a:r>
          </a:p>
        </p:txBody>
      </p:sp>
      <p:sp>
        <p:nvSpPr>
          <p:cNvPr id="12" name="text-9">
            <a:extLst xmlns:a="http://schemas.openxmlformats.org/drawingml/2006/main">
              <a:ext uri="{FF2B5EF4-FFF2-40B4-BE49-F238E27FC236}">
                <a16:creationId xmlns:a16="http://schemas.microsoft.com/office/drawing/2014/main" id="{4BE70237-6DB3-4DC6-9653-AA6B8D2E67A7}"/>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D</a:t>
            </a:r>
          </a:p>
        </p:txBody>
      </p:sp>
    </p:spTree>
    <p:extLst>
      <p:ext uri="{BB962C8B-B14F-4D97-AF65-F5344CB8AC3E}">
        <p14:creationId xmlns:p14="http://schemas.microsoft.com/office/powerpoint/2010/main" val="19513958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DB60B31-063B-4DB9-A7F9-919F2C660D2F}"/>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Commercial progress and funding</a:t>
            </a:r>
          </a:p>
        </p:txBody>
      </p:sp>
      <p:sp>
        <p:nvSpPr>
          <p:cNvPr id="2" name="text-1">
            <a:extLst xmlns:a="http://schemas.openxmlformats.org/drawingml/2006/main">
              <a:ext uri="{FF2B5EF4-FFF2-40B4-BE49-F238E27FC236}">
                <a16:creationId xmlns:a16="http://schemas.microsoft.com/office/drawing/2014/main" id="{10DF027B-2FB1-4995-A1D0-A974C94FB04E}"/>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Conditional GEM share-subscription capacity</a:t>
            </a:r>
          </a:p>
        </p:txBody>
      </p:sp>
      <p:sp>
        <p:nvSpPr>
          <p:cNvPr id="3" name="text-2">
            <a:extLst xmlns:a="http://schemas.openxmlformats.org/drawingml/2006/main">
              <a:ext uri="{FF2B5EF4-FFF2-40B4-BE49-F238E27FC236}">
                <a16:creationId xmlns:a16="http://schemas.microsoft.com/office/drawing/2014/main" id="{B5A6AAA5-F1CA-4D9D-B4AA-2FB6D5F283BB}"/>
              </a:ext>
            </a:extLst>
          </p:cNvPr>
          <p:cNvSpPr>
            <a:spLocks xmlns:a="http://schemas.openxmlformats.org/drawingml/2006/main" noGrp="1"/>
          </p:cNvSpPr>
          <p:nvPr/>
        </p:nvSpPr>
        <p:spPr>
          <a:xfrm xmlns:a="http://schemas.openxmlformats.org/drawingml/2006/main">
            <a:off x="685800" y="2609850"/>
            <a:ext cx="32861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rgbClr val="B68743"/>
                </a:solidFill>
                <a:latin typeface="Aptos"/>
                <a:ea typeface="Aptos"/>
                <a:cs typeface="Aptos"/>
              </a:defRPr>
            </a:defPPr>
            <a:lvl1pPr>
              <a:defRPr sz="6300" b="1">
                <a:solidFill>
                  <a:srgbClr val="B68743"/>
                </a:solidFill>
                <a:latin typeface="Aptos"/>
                <a:ea typeface="Aptos"/>
                <a:cs typeface="Aptos"/>
              </a:defRPr>
            </a:lvl1pPr>
            <a:lvl2pPr>
              <a:defRPr sz="6300" b="1">
                <a:solidFill>
                  <a:srgbClr val="B68743"/>
                </a:solidFill>
                <a:latin typeface="Aptos"/>
                <a:ea typeface="Aptos"/>
                <a:cs typeface="Aptos"/>
              </a:defRPr>
            </a:lvl2pPr>
            <a:lvl3pPr>
              <a:defRPr sz="6300" b="1">
                <a:solidFill>
                  <a:srgbClr val="B68743"/>
                </a:solidFill>
                <a:latin typeface="Aptos"/>
                <a:ea typeface="Aptos"/>
                <a:cs typeface="Aptos"/>
              </a:defRPr>
            </a:lvl3pPr>
            <a:lvl4pPr>
              <a:defRPr sz="6300" b="1">
                <a:solidFill>
                  <a:srgbClr val="B68743"/>
                </a:solidFill>
                <a:latin typeface="Aptos"/>
                <a:ea typeface="Aptos"/>
                <a:cs typeface="Aptos"/>
              </a:defRPr>
            </a:lvl4pPr>
            <a:lvl5pPr>
              <a:defRPr sz="6300" b="1">
                <a:solidFill>
                  <a:srgbClr val="B68743"/>
                </a:solidFill>
                <a:latin typeface="Aptos"/>
                <a:ea typeface="Aptos"/>
                <a:cs typeface="Aptos"/>
              </a:defRPr>
            </a:lvl5pPr>
            <a:lvl6pPr>
              <a:defRPr sz="6300" b="1">
                <a:solidFill>
                  <a:srgbClr val="B68743"/>
                </a:solidFill>
                <a:latin typeface="Aptos"/>
                <a:ea typeface="Aptos"/>
                <a:cs typeface="Aptos"/>
              </a:defRPr>
            </a:lvl6pPr>
            <a:lvl7pPr>
              <a:defRPr sz="6300" b="1">
                <a:solidFill>
                  <a:srgbClr val="B68743"/>
                </a:solidFill>
                <a:latin typeface="Aptos"/>
                <a:ea typeface="Aptos"/>
                <a:cs typeface="Aptos"/>
              </a:defRPr>
            </a:lvl7pPr>
            <a:lvl8pPr>
              <a:defRPr sz="6300" b="1">
                <a:solidFill>
                  <a:srgbClr val="B68743"/>
                </a:solidFill>
                <a:latin typeface="Aptos"/>
                <a:ea typeface="Aptos"/>
                <a:cs typeface="Aptos"/>
              </a:defRPr>
            </a:lvl8pPr>
            <a:lvl9pPr>
              <a:defRPr sz="6300" b="1">
                <a:solidFill>
                  <a:srgbClr val="B68743"/>
                </a:solidFill>
                <a:latin typeface="Aptos"/>
                <a:ea typeface="Aptos"/>
                <a:cs typeface="Aptos"/>
              </a:defRPr>
            </a:lvl9pPr>
          </a:lstStyle>
          <a:p xmlns:a="http://schemas.openxmlformats.org/drawingml/2006/main">
            <a:pPr>
              <a:defRPr sz="6300" b="1">
                <a:solidFill>
                  <a:srgbClr val="B68743"/>
                </a:solidFill>
                <a:latin typeface="Aptos"/>
                <a:ea typeface="Aptos"/>
                <a:cs typeface="Aptos"/>
              </a:defRPr>
            </a:pPr>
            <a:r>
              <a:rPr sz="6300" b="1">
                <a:solidFill>
                  <a:srgbClr val="B68743"/>
                </a:solidFill>
                <a:latin typeface="Aptos"/>
                <a:ea typeface="Aptos"/>
                <a:cs typeface="Aptos"/>
              </a:rPr>
              <a:t>$150M</a:t>
            </a:r>
          </a:p>
        </p:txBody>
      </p:sp>
      <p:sp>
        <p:nvSpPr>
          <p:cNvPr id="4" name="text-3">
            <a:extLst xmlns:a="http://schemas.openxmlformats.org/drawingml/2006/main">
              <a:ext uri="{FF2B5EF4-FFF2-40B4-BE49-F238E27FC236}">
                <a16:creationId xmlns:a16="http://schemas.microsoft.com/office/drawing/2014/main" id="{3AC1C6B7-4FD0-4273-9A03-E69E4B88A099}"/>
              </a:ext>
            </a:extLst>
          </p:cNvPr>
          <p:cNvSpPr>
            <a:spLocks xmlns:a="http://schemas.openxmlformats.org/drawingml/2006/main" noGrp="1"/>
          </p:cNvSpPr>
          <p:nvPr/>
        </p:nvSpPr>
        <p:spPr>
          <a:xfrm xmlns:a="http://schemas.openxmlformats.org/drawingml/2006/main">
            <a:off x="4381500" y="2476500"/>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Facility status</a:t>
            </a:r>
          </a:p>
        </p:txBody>
      </p:sp>
      <p:sp>
        <p:nvSpPr>
          <p:cNvPr id="5" name="text-4">
            <a:extLst xmlns:a="http://schemas.openxmlformats.org/drawingml/2006/main">
              <a:ext uri="{FF2B5EF4-FFF2-40B4-BE49-F238E27FC236}">
                <a16:creationId xmlns:a16="http://schemas.microsoft.com/office/drawing/2014/main" id="{8BD334C1-6B54-45E1-88A6-C47EF95B13A1}"/>
              </a:ext>
            </a:extLst>
          </p:cNvPr>
          <p:cNvSpPr>
            <a:spLocks xmlns:a="http://schemas.openxmlformats.org/drawingml/2006/main" noGrp="1"/>
          </p:cNvSpPr>
          <p:nvPr/>
        </p:nvSpPr>
        <p:spPr>
          <a:xfrm xmlns:a="http://schemas.openxmlformats.org/drawingml/2006/main">
            <a:off x="4381500" y="2886075"/>
            <a:ext cx="66675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Undrawn at December 31, 2025, pending a qualifying event.</a:t>
            </a:r>
          </a:p>
        </p:txBody>
      </p:sp>
      <p:sp>
        <p:nvSpPr>
          <p:cNvPr id="6" name="text-5">
            <a:extLst xmlns:a="http://schemas.openxmlformats.org/drawingml/2006/main">
              <a:ext uri="{FF2B5EF4-FFF2-40B4-BE49-F238E27FC236}">
                <a16:creationId xmlns:a16="http://schemas.microsoft.com/office/drawing/2014/main" id="{CF13F246-097A-4AF2-99A9-DBB98F7B7675}"/>
              </a:ext>
            </a:extLst>
          </p:cNvPr>
          <p:cNvSpPr>
            <a:spLocks xmlns:a="http://schemas.openxmlformats.org/drawingml/2006/main" noGrp="1"/>
          </p:cNvSpPr>
          <p:nvPr/>
        </p:nvSpPr>
        <p:spPr>
          <a:xfrm xmlns:a="http://schemas.openxmlformats.org/drawingml/2006/main">
            <a:off x="4381500" y="4000500"/>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Reported operating revenue</a:t>
            </a:r>
          </a:p>
        </p:txBody>
      </p:sp>
      <p:sp>
        <p:nvSpPr>
          <p:cNvPr id="7" name="text-6">
            <a:extLst xmlns:a="http://schemas.openxmlformats.org/drawingml/2006/main">
              <a:ext uri="{FF2B5EF4-FFF2-40B4-BE49-F238E27FC236}">
                <a16:creationId xmlns:a16="http://schemas.microsoft.com/office/drawing/2014/main" id="{7C784517-7121-4F32-BA37-4FF3B95D727F}"/>
              </a:ext>
            </a:extLst>
          </p:cNvPr>
          <p:cNvSpPr>
            <a:spLocks xmlns:a="http://schemas.openxmlformats.org/drawingml/2006/main" noGrp="1"/>
          </p:cNvSpPr>
          <p:nvPr/>
        </p:nvSpPr>
        <p:spPr>
          <a:xfrm xmlns:a="http://schemas.openxmlformats.org/drawingml/2006/main">
            <a:off x="4381500" y="4410075"/>
            <a:ext cx="66675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The filing reports $11,649 for 2025, from U.S. education receipts.</a:t>
            </a:r>
          </a:p>
        </p:txBody>
      </p:sp>
      <p:sp>
        <p:nvSpPr>
          <p:cNvPr id="8" name="text-7">
            <a:extLst xmlns:a="http://schemas.openxmlformats.org/drawingml/2006/main">
              <a:ext uri="{FF2B5EF4-FFF2-40B4-BE49-F238E27FC236}">
                <a16:creationId xmlns:a16="http://schemas.microsoft.com/office/drawing/2014/main" id="{C8D1BB05-44AB-4B27-BC74-6CC35FD67FF5}"/>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9" name="text-8">
            <a:extLst xmlns:a="http://schemas.openxmlformats.org/drawingml/2006/main">
              <a:ext uri="{FF2B5EF4-FFF2-40B4-BE49-F238E27FC236}">
                <a16:creationId xmlns:a16="http://schemas.microsoft.com/office/drawing/2014/main" id="{AD86A818-00EB-4319-9CB7-3AF40C4137C9}"/>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17</a:t>
            </a:r>
          </a:p>
        </p:txBody>
      </p:sp>
      <p:sp>
        <p:nvSpPr>
          <p:cNvPr id="10" name="text-9">
            <a:extLst xmlns:a="http://schemas.openxmlformats.org/drawingml/2006/main">
              <a:ext uri="{FF2B5EF4-FFF2-40B4-BE49-F238E27FC236}">
                <a16:creationId xmlns:a16="http://schemas.microsoft.com/office/drawing/2014/main" id="{F8532A13-2B9C-4D85-852E-EB75A8A8B4B9}"/>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E</a:t>
            </a:r>
          </a:p>
        </p:txBody>
      </p:sp>
    </p:spTree>
    <p:extLst>
      <p:ext uri="{BB962C8B-B14F-4D97-AF65-F5344CB8AC3E}">
        <p14:creationId xmlns:p14="http://schemas.microsoft.com/office/powerpoint/2010/main" val="10240385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6E008F3-0DF1-493E-8433-521DB7E74244}"/>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Growth priorities and execution</a:t>
            </a:r>
          </a:p>
        </p:txBody>
      </p:sp>
      <p:sp>
        <p:nvSpPr>
          <p:cNvPr id="2" name="text-1">
            <a:extLst xmlns:a="http://schemas.openxmlformats.org/drawingml/2006/main">
              <a:ext uri="{FF2B5EF4-FFF2-40B4-BE49-F238E27FC236}">
                <a16:creationId xmlns:a16="http://schemas.microsoft.com/office/drawing/2014/main" id="{14CCC66D-7266-4A2F-B92A-A147EB8BBC7F}"/>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526477"/>
                </a:solidFill>
                <a:latin typeface="Aptos"/>
                <a:ea typeface="Aptos"/>
                <a:cs typeface="Aptos"/>
              </a:defRPr>
            </a:defPPr>
            <a:lvl1pPr>
              <a:defRPr sz="1800" b="0">
                <a:solidFill>
                  <a:srgbClr val="526477"/>
                </a:solidFill>
                <a:latin typeface="Aptos"/>
                <a:ea typeface="Aptos"/>
                <a:cs typeface="Aptos"/>
              </a:defRPr>
            </a:lvl1pPr>
            <a:lvl2pPr>
              <a:defRPr sz="1800" b="0">
                <a:solidFill>
                  <a:srgbClr val="526477"/>
                </a:solidFill>
                <a:latin typeface="Aptos"/>
                <a:ea typeface="Aptos"/>
                <a:cs typeface="Aptos"/>
              </a:defRPr>
            </a:lvl2pPr>
            <a:lvl3pPr>
              <a:defRPr sz="1800" b="0">
                <a:solidFill>
                  <a:srgbClr val="526477"/>
                </a:solidFill>
                <a:latin typeface="Aptos"/>
                <a:ea typeface="Aptos"/>
                <a:cs typeface="Aptos"/>
              </a:defRPr>
            </a:lvl3pPr>
            <a:lvl4pPr>
              <a:defRPr sz="1800" b="0">
                <a:solidFill>
                  <a:srgbClr val="526477"/>
                </a:solidFill>
                <a:latin typeface="Aptos"/>
                <a:ea typeface="Aptos"/>
                <a:cs typeface="Aptos"/>
              </a:defRPr>
            </a:lvl4pPr>
            <a:lvl5pPr>
              <a:defRPr sz="1800" b="0">
                <a:solidFill>
                  <a:srgbClr val="526477"/>
                </a:solidFill>
                <a:latin typeface="Aptos"/>
                <a:ea typeface="Aptos"/>
                <a:cs typeface="Aptos"/>
              </a:defRPr>
            </a:lvl5pPr>
            <a:lvl6pPr>
              <a:defRPr sz="1800" b="0">
                <a:solidFill>
                  <a:srgbClr val="526477"/>
                </a:solidFill>
                <a:latin typeface="Aptos"/>
                <a:ea typeface="Aptos"/>
                <a:cs typeface="Aptos"/>
              </a:defRPr>
            </a:lvl6pPr>
            <a:lvl7pPr>
              <a:defRPr sz="1800" b="0">
                <a:solidFill>
                  <a:srgbClr val="526477"/>
                </a:solidFill>
                <a:latin typeface="Aptos"/>
                <a:ea typeface="Aptos"/>
                <a:cs typeface="Aptos"/>
              </a:defRPr>
            </a:lvl7pPr>
            <a:lvl8pPr>
              <a:defRPr sz="1800" b="0">
                <a:solidFill>
                  <a:srgbClr val="526477"/>
                </a:solidFill>
                <a:latin typeface="Aptos"/>
                <a:ea typeface="Aptos"/>
                <a:cs typeface="Aptos"/>
              </a:defRPr>
            </a:lvl8pPr>
            <a:lvl9pPr>
              <a:defRPr sz="1800" b="0">
                <a:solidFill>
                  <a:srgbClr val="526477"/>
                </a:solidFill>
                <a:latin typeface="Aptos"/>
                <a:ea typeface="Aptos"/>
                <a:cs typeface="Aptos"/>
              </a:defRPr>
            </a:lvl9pPr>
          </a:lstStyle>
          <a:p xmlns:a="http://schemas.openxmlformats.org/drawingml/2006/main">
            <a:pPr>
              <a:defRPr sz="1800" b="0">
                <a:solidFill>
                  <a:srgbClr val="526477"/>
                </a:solidFill>
                <a:latin typeface="Aptos"/>
                <a:ea typeface="Aptos"/>
                <a:cs typeface="Aptos"/>
              </a:defRPr>
            </a:pPr>
            <a:r>
              <a:rPr sz="1800" b="0">
                <a:solidFill>
                  <a:srgbClr val="526477"/>
                </a:solidFill>
                <a:latin typeface="Aptos"/>
                <a:ea typeface="Aptos"/>
                <a:cs typeface="Aptos"/>
              </a:rPr>
              <a:t>Presenter analysis based on the product roadmap and disclosures</a:t>
            </a:r>
          </a:p>
        </p:txBody>
      </p:sp>
      <p:sp>
        <p:nvSpPr>
          <p:cNvPr id="3" name="text-2">
            <a:extLst xmlns:a="http://schemas.openxmlformats.org/drawingml/2006/main">
              <a:ext uri="{FF2B5EF4-FFF2-40B4-BE49-F238E27FC236}">
                <a16:creationId xmlns:a16="http://schemas.microsoft.com/office/drawing/2014/main" id="{371D763B-FC3F-4BFA-9123-6FF799156AC6}"/>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Commercial focus</a:t>
            </a:r>
          </a:p>
        </p:txBody>
      </p:sp>
      <p:sp>
        <p:nvSpPr>
          <p:cNvPr id="4" name="text-3">
            <a:extLst xmlns:a="http://schemas.openxmlformats.org/drawingml/2006/main">
              <a:ext uri="{FF2B5EF4-FFF2-40B4-BE49-F238E27FC236}">
                <a16:creationId xmlns:a16="http://schemas.microsoft.com/office/drawing/2014/main" id="{E2F55EFC-BDF5-4BA5-B580-FAE30B3D5874}"/>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Prioritize applications with demonstrable customer value.</a:t>
            </a:r>
          </a:p>
        </p:txBody>
      </p:sp>
      <p:sp>
        <p:nvSpPr>
          <p:cNvPr id="5" name="text-4">
            <a:extLst xmlns:a="http://schemas.openxmlformats.org/drawingml/2006/main">
              <a:ext uri="{FF2B5EF4-FFF2-40B4-BE49-F238E27FC236}">
                <a16:creationId xmlns:a16="http://schemas.microsoft.com/office/drawing/2014/main" id="{C86F3DA2-B8FA-45F1-A221-B7E495FC6DD4}"/>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Delivery capability</a:t>
            </a:r>
          </a:p>
        </p:txBody>
      </p:sp>
      <p:sp>
        <p:nvSpPr>
          <p:cNvPr id="6" name="text-5">
            <a:extLst xmlns:a="http://schemas.openxmlformats.org/drawingml/2006/main">
              <a:ext uri="{FF2B5EF4-FFF2-40B4-BE49-F238E27FC236}">
                <a16:creationId xmlns:a16="http://schemas.microsoft.com/office/drawing/2014/main" id="{D2674AE5-A178-4E41-BCE5-058AD25BEA78}"/>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Improve product readiness, installation and after-sales support.</a:t>
            </a:r>
          </a:p>
        </p:txBody>
      </p:sp>
      <p:sp>
        <p:nvSpPr>
          <p:cNvPr id="7" name="text-6">
            <a:extLst xmlns:a="http://schemas.openxmlformats.org/drawingml/2006/main">
              <a:ext uri="{FF2B5EF4-FFF2-40B4-BE49-F238E27FC236}">
                <a16:creationId xmlns:a16="http://schemas.microsoft.com/office/drawing/2014/main" id="{5F85F7CE-692A-497D-B2B5-BE8262969C47}"/>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B68743"/>
                </a:solidFill>
                <a:latin typeface="Aptos"/>
                <a:ea typeface="Aptos"/>
                <a:cs typeface="Aptos"/>
              </a:defRPr>
            </a:defPPr>
            <a:lvl1pPr>
              <a:defRPr sz="1950" b="1">
                <a:solidFill>
                  <a:srgbClr val="B68743"/>
                </a:solidFill>
                <a:latin typeface="Aptos"/>
                <a:ea typeface="Aptos"/>
                <a:cs typeface="Aptos"/>
              </a:defRPr>
            </a:lvl1pPr>
            <a:lvl2pPr>
              <a:defRPr sz="1950" b="1">
                <a:solidFill>
                  <a:srgbClr val="B68743"/>
                </a:solidFill>
                <a:latin typeface="Aptos"/>
                <a:ea typeface="Aptos"/>
                <a:cs typeface="Aptos"/>
              </a:defRPr>
            </a:lvl2pPr>
            <a:lvl3pPr>
              <a:defRPr sz="1950" b="1">
                <a:solidFill>
                  <a:srgbClr val="B68743"/>
                </a:solidFill>
                <a:latin typeface="Aptos"/>
                <a:ea typeface="Aptos"/>
                <a:cs typeface="Aptos"/>
              </a:defRPr>
            </a:lvl3pPr>
            <a:lvl4pPr>
              <a:defRPr sz="1950" b="1">
                <a:solidFill>
                  <a:srgbClr val="B68743"/>
                </a:solidFill>
                <a:latin typeface="Aptos"/>
                <a:ea typeface="Aptos"/>
                <a:cs typeface="Aptos"/>
              </a:defRPr>
            </a:lvl4pPr>
            <a:lvl5pPr>
              <a:defRPr sz="1950" b="1">
                <a:solidFill>
                  <a:srgbClr val="B68743"/>
                </a:solidFill>
                <a:latin typeface="Aptos"/>
                <a:ea typeface="Aptos"/>
                <a:cs typeface="Aptos"/>
              </a:defRPr>
            </a:lvl5pPr>
            <a:lvl6pPr>
              <a:defRPr sz="1950" b="1">
                <a:solidFill>
                  <a:srgbClr val="B68743"/>
                </a:solidFill>
                <a:latin typeface="Aptos"/>
                <a:ea typeface="Aptos"/>
                <a:cs typeface="Aptos"/>
              </a:defRPr>
            </a:lvl6pPr>
            <a:lvl7pPr>
              <a:defRPr sz="1950" b="1">
                <a:solidFill>
                  <a:srgbClr val="B68743"/>
                </a:solidFill>
                <a:latin typeface="Aptos"/>
                <a:ea typeface="Aptos"/>
                <a:cs typeface="Aptos"/>
              </a:defRPr>
            </a:lvl7pPr>
            <a:lvl8pPr>
              <a:defRPr sz="1950" b="1">
                <a:solidFill>
                  <a:srgbClr val="B68743"/>
                </a:solidFill>
                <a:latin typeface="Aptos"/>
                <a:ea typeface="Aptos"/>
                <a:cs typeface="Aptos"/>
              </a:defRPr>
            </a:lvl8pPr>
            <a:lvl9pPr>
              <a:defRPr sz="1950" b="1">
                <a:solidFill>
                  <a:srgbClr val="B68743"/>
                </a:solidFill>
                <a:latin typeface="Aptos"/>
                <a:ea typeface="Aptos"/>
                <a:cs typeface="Aptos"/>
              </a:defRPr>
            </a:lvl9pPr>
          </a:lstStyle>
          <a:p xmlns:a="http://schemas.openxmlformats.org/drawingml/2006/main">
            <a:pPr>
              <a:defRPr sz="1950" b="1">
                <a:solidFill>
                  <a:srgbClr val="B68743"/>
                </a:solidFill>
                <a:latin typeface="Aptos"/>
                <a:ea typeface="Aptos"/>
                <a:cs typeface="Aptos"/>
              </a:defRPr>
            </a:pPr>
            <a:r>
              <a:rPr sz="1950" b="1">
                <a:solidFill>
                  <a:srgbClr val="B68743"/>
                </a:solidFill>
                <a:latin typeface="Aptos"/>
                <a:ea typeface="Aptos"/>
                <a:cs typeface="Aptos"/>
              </a:rPr>
              <a:t>Financial discipline</a:t>
            </a:r>
          </a:p>
        </p:txBody>
      </p:sp>
      <p:sp>
        <p:nvSpPr>
          <p:cNvPr id="8" name="text-7">
            <a:extLst xmlns:a="http://schemas.openxmlformats.org/drawingml/2006/main">
              <a:ext uri="{FF2B5EF4-FFF2-40B4-BE49-F238E27FC236}">
                <a16:creationId xmlns:a16="http://schemas.microsoft.com/office/drawing/2014/main" id="{FBE4012E-2946-4D29-808E-29A8DBB6B460}"/>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172C43"/>
                </a:solidFill>
                <a:latin typeface="Aptos"/>
                <a:ea typeface="Aptos"/>
                <a:cs typeface="Aptos"/>
              </a:defRPr>
            </a:defPPr>
            <a:lvl1pPr>
              <a:defRPr sz="1800" b="0">
                <a:solidFill>
                  <a:srgbClr val="172C43"/>
                </a:solidFill>
                <a:latin typeface="Aptos"/>
                <a:ea typeface="Aptos"/>
                <a:cs typeface="Aptos"/>
              </a:defRPr>
            </a:lvl1pPr>
            <a:lvl2pPr>
              <a:defRPr sz="1800" b="0">
                <a:solidFill>
                  <a:srgbClr val="172C43"/>
                </a:solidFill>
                <a:latin typeface="Aptos"/>
                <a:ea typeface="Aptos"/>
                <a:cs typeface="Aptos"/>
              </a:defRPr>
            </a:lvl2pPr>
            <a:lvl3pPr>
              <a:defRPr sz="1800" b="0">
                <a:solidFill>
                  <a:srgbClr val="172C43"/>
                </a:solidFill>
                <a:latin typeface="Aptos"/>
                <a:ea typeface="Aptos"/>
                <a:cs typeface="Aptos"/>
              </a:defRPr>
            </a:lvl3pPr>
            <a:lvl4pPr>
              <a:defRPr sz="1800" b="0">
                <a:solidFill>
                  <a:srgbClr val="172C43"/>
                </a:solidFill>
                <a:latin typeface="Aptos"/>
                <a:ea typeface="Aptos"/>
                <a:cs typeface="Aptos"/>
              </a:defRPr>
            </a:lvl4pPr>
            <a:lvl5pPr>
              <a:defRPr sz="1800" b="0">
                <a:solidFill>
                  <a:srgbClr val="172C43"/>
                </a:solidFill>
                <a:latin typeface="Aptos"/>
                <a:ea typeface="Aptos"/>
                <a:cs typeface="Aptos"/>
              </a:defRPr>
            </a:lvl5pPr>
            <a:lvl6pPr>
              <a:defRPr sz="1800" b="0">
                <a:solidFill>
                  <a:srgbClr val="172C43"/>
                </a:solidFill>
                <a:latin typeface="Aptos"/>
                <a:ea typeface="Aptos"/>
                <a:cs typeface="Aptos"/>
              </a:defRPr>
            </a:lvl6pPr>
            <a:lvl7pPr>
              <a:defRPr sz="1800" b="0">
                <a:solidFill>
                  <a:srgbClr val="172C43"/>
                </a:solidFill>
                <a:latin typeface="Aptos"/>
                <a:ea typeface="Aptos"/>
                <a:cs typeface="Aptos"/>
              </a:defRPr>
            </a:lvl7pPr>
            <a:lvl8pPr>
              <a:defRPr sz="1800" b="0">
                <a:solidFill>
                  <a:srgbClr val="172C43"/>
                </a:solidFill>
                <a:latin typeface="Aptos"/>
                <a:ea typeface="Aptos"/>
                <a:cs typeface="Aptos"/>
              </a:defRPr>
            </a:lvl8pPr>
            <a:lvl9pPr>
              <a:defRPr sz="1800" b="0">
                <a:solidFill>
                  <a:srgbClr val="172C43"/>
                </a:solidFill>
                <a:latin typeface="Aptos"/>
                <a:ea typeface="Aptos"/>
                <a:cs typeface="Aptos"/>
              </a:defRPr>
            </a:lvl9pPr>
          </a:lstStyle>
          <a:p xmlns:a="http://schemas.openxmlformats.org/drawingml/2006/main">
            <a:pPr>
              <a:defRPr sz="1800" b="0">
                <a:solidFill>
                  <a:srgbClr val="172C43"/>
                </a:solidFill>
                <a:latin typeface="Aptos"/>
                <a:ea typeface="Aptos"/>
                <a:cs typeface="Aptos"/>
              </a:defRPr>
            </a:pPr>
            <a:r>
              <a:rPr sz="1800" b="0">
                <a:solidFill>
                  <a:srgbClr val="172C43"/>
                </a:solidFill>
                <a:latin typeface="Aptos"/>
                <a:ea typeface="Aptos"/>
                <a:cs typeface="Aptos"/>
              </a:rPr>
              <a:t>Connect development spending with funding availability and measurable milestones.</a:t>
            </a:r>
          </a:p>
        </p:txBody>
      </p:sp>
      <p:pic>
        <p:nvPicPr>
          <p:cNvPr id="9" name="">
            <a:extLst xmlns:a="http://schemas.openxmlformats.org/drawingml/2006/main">
              <a:ext uri="{FF2B5EF4-FFF2-40B4-BE49-F238E27FC236}">
                <a16:creationId xmlns:a16="http://schemas.microsoft.com/office/drawing/2014/main" id="{BCFF600F-5199-43E7-A193-8EDA0B1B43BB}"/>
              </a:ext>
            </a:extLst>
          </p:cNvPr>
          <p:cNvPicPr>
            <a:picLocks xmlns:a="http://schemas.openxmlformats.org/drawingml/2006/main" noChangeAspect="1"/>
          </p:cNvPicPr>
          <p:nvPr/>
        </p:nvPicPr>
        <p:blipFill>
          <a:blip xmlns:r="http://schemas.openxmlformats.org/officeDocument/2006/relationships" xmlns:a="http://schemas.openxmlformats.org/drawingml/2006/main" r:embed="R0b8b29ceafeb451d"/>
          <a:stretch xmlns:a="http://schemas.openxmlformats.org/drawingml/2006/main"/>
        </p:blipFill>
        <p:spPr>
          <a:xfrm xmlns:a="http://schemas.openxmlformats.org/drawingml/2006/main">
            <a:off x="6788150" y="2419350"/>
            <a:ext cx="4445000" cy="333375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EFFC7510-D32D-49D3-954C-84EC81BEE9C0}"/>
              </a:ext>
            </a:extLst>
          </p:cNvPr>
          <p:cNvSpPr>
            <a:spLocks xmlns:a="http://schemas.openxmlformats.org/drawingml/2006/main" noGrp="1"/>
          </p:cNvSpPr>
          <p:nvPr/>
        </p:nvSpPr>
        <p:spPr>
          <a:xfrm xmlns:a="http://schemas.openxmlformats.org/drawingml/2006/main">
            <a:off x="6515100" y="59245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Company publication: AI, Automation &amp; Robotics</a:t>
            </a:r>
          </a:p>
        </p:txBody>
      </p:sp>
      <p:sp>
        <p:nvSpPr>
          <p:cNvPr id="11" name="text-9">
            <a:extLst xmlns:a="http://schemas.openxmlformats.org/drawingml/2006/main">
              <a:ext uri="{FF2B5EF4-FFF2-40B4-BE49-F238E27FC236}">
                <a16:creationId xmlns:a16="http://schemas.microsoft.com/office/drawing/2014/main" id="{45C16CE0-971E-4798-ADA1-CD40365ECEE1}"/>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12" name="text-10">
            <a:extLst xmlns:a="http://schemas.openxmlformats.org/drawingml/2006/main">
              <a:ext uri="{FF2B5EF4-FFF2-40B4-BE49-F238E27FC236}">
                <a16:creationId xmlns:a16="http://schemas.microsoft.com/office/drawing/2014/main" id="{29BADA50-F55B-4FAB-9726-420203D7585E}"/>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18</a:t>
            </a:r>
          </a:p>
        </p:txBody>
      </p:sp>
      <p:sp>
        <p:nvSpPr>
          <p:cNvPr id="13" name="text-11">
            <a:extLst xmlns:a="http://schemas.openxmlformats.org/drawingml/2006/main">
              <a:ext uri="{FF2B5EF4-FFF2-40B4-BE49-F238E27FC236}">
                <a16:creationId xmlns:a16="http://schemas.microsoft.com/office/drawing/2014/main" id="{3C0051E2-992E-4D8E-83F7-C00C1300B598}"/>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Sources: B C E</a:t>
            </a:r>
          </a:p>
        </p:txBody>
      </p:sp>
    </p:spTree>
    <p:extLst>
      <p:ext uri="{BB962C8B-B14F-4D97-AF65-F5344CB8AC3E}">
        <p14:creationId xmlns:p14="http://schemas.microsoft.com/office/powerpoint/2010/main" val="1562745896"/>
      </p:ext>
    </p:extLst>
  </p:cSld>
</p:sld>
</file>

<file path=ppt/slides/slide19.xml><?xml version="1.0" encoding="utf-8"?>
<p:sld xmlns:p="http://schemas.openxmlformats.org/presentationml/2006/main">
  <p:cSld>
    <p:bg>
      <p:bgPr>
        <a:solidFill xmlns:a="http://schemas.openxmlformats.org/drawingml/2006/main">
          <a:srgbClr val="12263D"/>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271EBA41-856C-49D9-99B2-E2A38D3B5DBD}"/>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FFFFFF"/>
                </a:solidFill>
                <a:latin typeface="Aptos"/>
                <a:ea typeface="Aptos"/>
                <a:cs typeface="Aptos"/>
              </a:defRPr>
            </a:defPPr>
            <a:lvl1pPr>
              <a:defRPr sz="3300" b="1">
                <a:solidFill>
                  <a:srgbClr val="FFFFFF"/>
                </a:solidFill>
                <a:latin typeface="Aptos"/>
                <a:ea typeface="Aptos"/>
                <a:cs typeface="Aptos"/>
              </a:defRPr>
            </a:lvl1pPr>
            <a:lvl2pPr>
              <a:defRPr sz="3300" b="1">
                <a:solidFill>
                  <a:srgbClr val="FFFFFF"/>
                </a:solidFill>
                <a:latin typeface="Aptos"/>
                <a:ea typeface="Aptos"/>
                <a:cs typeface="Aptos"/>
              </a:defRPr>
            </a:lvl2pPr>
            <a:lvl3pPr>
              <a:defRPr sz="3300" b="1">
                <a:solidFill>
                  <a:srgbClr val="FFFFFF"/>
                </a:solidFill>
                <a:latin typeface="Aptos"/>
                <a:ea typeface="Aptos"/>
                <a:cs typeface="Aptos"/>
              </a:defRPr>
            </a:lvl3pPr>
            <a:lvl4pPr>
              <a:defRPr sz="3300" b="1">
                <a:solidFill>
                  <a:srgbClr val="FFFFFF"/>
                </a:solidFill>
                <a:latin typeface="Aptos"/>
                <a:ea typeface="Aptos"/>
                <a:cs typeface="Aptos"/>
              </a:defRPr>
            </a:lvl4pPr>
            <a:lvl5pPr>
              <a:defRPr sz="3300" b="1">
                <a:solidFill>
                  <a:srgbClr val="FFFFFF"/>
                </a:solidFill>
                <a:latin typeface="Aptos"/>
                <a:ea typeface="Aptos"/>
                <a:cs typeface="Aptos"/>
              </a:defRPr>
            </a:lvl5pPr>
            <a:lvl6pPr>
              <a:defRPr sz="3300" b="1">
                <a:solidFill>
                  <a:srgbClr val="FFFFFF"/>
                </a:solidFill>
                <a:latin typeface="Aptos"/>
                <a:ea typeface="Aptos"/>
                <a:cs typeface="Aptos"/>
              </a:defRPr>
            </a:lvl6pPr>
            <a:lvl7pPr>
              <a:defRPr sz="3300" b="1">
                <a:solidFill>
                  <a:srgbClr val="FFFFFF"/>
                </a:solidFill>
                <a:latin typeface="Aptos"/>
                <a:ea typeface="Aptos"/>
                <a:cs typeface="Aptos"/>
              </a:defRPr>
            </a:lvl7pPr>
            <a:lvl8pPr>
              <a:defRPr sz="3300" b="1">
                <a:solidFill>
                  <a:srgbClr val="FFFFFF"/>
                </a:solidFill>
                <a:latin typeface="Aptos"/>
                <a:ea typeface="Aptos"/>
                <a:cs typeface="Aptos"/>
              </a:defRPr>
            </a:lvl8pPr>
            <a:lvl9pPr>
              <a:defRPr sz="3300" b="1">
                <a:solidFill>
                  <a:srgbClr val="FFFFFF"/>
                </a:solidFill>
                <a:latin typeface="Aptos"/>
                <a:ea typeface="Aptos"/>
                <a:cs typeface="Aptos"/>
              </a:defRPr>
            </a:lvl9pPr>
          </a:lstStyle>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Key takeaways</a:t>
            </a:r>
          </a:p>
        </p:txBody>
      </p:sp>
      <p:sp>
        <p:nvSpPr>
          <p:cNvPr id="2" name="text-1">
            <a:extLst xmlns:a="http://schemas.openxmlformats.org/drawingml/2006/main">
              <a:ext uri="{FF2B5EF4-FFF2-40B4-BE49-F238E27FC236}">
                <a16:creationId xmlns:a16="http://schemas.microsoft.com/office/drawing/2014/main" id="{CAF665EA-482F-49AA-AA3F-50A13F9211FB}"/>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CAD8E7"/>
                </a:solidFill>
                <a:latin typeface="Aptos"/>
                <a:ea typeface="Aptos"/>
                <a:cs typeface="Aptos"/>
              </a:defRPr>
            </a:defPPr>
            <a:lvl1pPr>
              <a:defRPr sz="1800" b="0">
                <a:solidFill>
                  <a:srgbClr val="CAD8E7"/>
                </a:solidFill>
                <a:latin typeface="Aptos"/>
                <a:ea typeface="Aptos"/>
                <a:cs typeface="Aptos"/>
              </a:defRPr>
            </a:lvl1pPr>
            <a:lvl2pPr>
              <a:defRPr sz="1800" b="0">
                <a:solidFill>
                  <a:srgbClr val="CAD8E7"/>
                </a:solidFill>
                <a:latin typeface="Aptos"/>
                <a:ea typeface="Aptos"/>
                <a:cs typeface="Aptos"/>
              </a:defRPr>
            </a:lvl2pPr>
            <a:lvl3pPr>
              <a:defRPr sz="1800" b="0">
                <a:solidFill>
                  <a:srgbClr val="CAD8E7"/>
                </a:solidFill>
                <a:latin typeface="Aptos"/>
                <a:ea typeface="Aptos"/>
                <a:cs typeface="Aptos"/>
              </a:defRPr>
            </a:lvl3pPr>
            <a:lvl4pPr>
              <a:defRPr sz="1800" b="0">
                <a:solidFill>
                  <a:srgbClr val="CAD8E7"/>
                </a:solidFill>
                <a:latin typeface="Aptos"/>
                <a:ea typeface="Aptos"/>
                <a:cs typeface="Aptos"/>
              </a:defRPr>
            </a:lvl4pPr>
            <a:lvl5pPr>
              <a:defRPr sz="1800" b="0">
                <a:solidFill>
                  <a:srgbClr val="CAD8E7"/>
                </a:solidFill>
                <a:latin typeface="Aptos"/>
                <a:ea typeface="Aptos"/>
                <a:cs typeface="Aptos"/>
              </a:defRPr>
            </a:lvl5pPr>
            <a:lvl6pPr>
              <a:defRPr sz="1800" b="0">
                <a:solidFill>
                  <a:srgbClr val="CAD8E7"/>
                </a:solidFill>
                <a:latin typeface="Aptos"/>
                <a:ea typeface="Aptos"/>
                <a:cs typeface="Aptos"/>
              </a:defRPr>
            </a:lvl6pPr>
            <a:lvl7pPr>
              <a:defRPr sz="1800" b="0">
                <a:solidFill>
                  <a:srgbClr val="CAD8E7"/>
                </a:solidFill>
                <a:latin typeface="Aptos"/>
                <a:ea typeface="Aptos"/>
                <a:cs typeface="Aptos"/>
              </a:defRPr>
            </a:lvl7pPr>
            <a:lvl8pPr>
              <a:defRPr sz="1800" b="0">
                <a:solidFill>
                  <a:srgbClr val="CAD8E7"/>
                </a:solidFill>
                <a:latin typeface="Aptos"/>
                <a:ea typeface="Aptos"/>
                <a:cs typeface="Aptos"/>
              </a:defRPr>
            </a:lvl8pPr>
            <a:lvl9pPr>
              <a:defRPr sz="1800" b="0">
                <a:solidFill>
                  <a:srgbClr val="CAD8E7"/>
                </a:solidFill>
                <a:latin typeface="Aptos"/>
                <a:ea typeface="Aptos"/>
                <a:cs typeface="Aptos"/>
              </a:defRPr>
            </a:lvl9pPr>
          </a:lstStyle>
          <a:p xmlns:a="http://schemas.openxmlformats.org/drawingml/2006/main">
            <a:pPr>
              <a:defRPr sz="1800" b="0">
                <a:solidFill>
                  <a:srgbClr val="CAD8E7"/>
                </a:solidFill>
                <a:latin typeface="Aptos"/>
                <a:ea typeface="Aptos"/>
                <a:cs typeface="Aptos"/>
              </a:defRPr>
            </a:pPr>
            <a:r>
              <a:rPr sz="1800" b="0">
                <a:solidFill>
                  <a:srgbClr val="CAD8E7"/>
                </a:solidFill>
                <a:latin typeface="Aptos"/>
                <a:ea typeface="Aptos"/>
                <a:cs typeface="Aptos"/>
              </a:rPr>
              <a:t>An ambitious platform strategy with products at different stages</a:t>
            </a:r>
          </a:p>
        </p:txBody>
      </p:sp>
      <p:sp>
        <p:nvSpPr>
          <p:cNvPr id="3" name="text-2">
            <a:extLst xmlns:a="http://schemas.openxmlformats.org/drawingml/2006/main">
              <a:ext uri="{FF2B5EF4-FFF2-40B4-BE49-F238E27FC236}">
                <a16:creationId xmlns:a16="http://schemas.microsoft.com/office/drawing/2014/main" id="{B60C5F6C-A99A-4136-A1DD-80FC744218BC}"/>
              </a:ext>
            </a:extLst>
          </p:cNvPr>
          <p:cNvSpPr>
            <a:spLocks xmlns:a="http://schemas.openxmlformats.org/drawingml/2006/main" noGrp="1"/>
          </p:cNvSpPr>
          <p:nvPr/>
        </p:nvSpPr>
        <p:spPr>
          <a:xfrm xmlns:a="http://schemas.openxmlformats.org/drawingml/2006/main">
            <a:off x="685800" y="24765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D7AF75"/>
                </a:solidFill>
                <a:latin typeface="Aptos"/>
                <a:ea typeface="Aptos"/>
                <a:cs typeface="Aptos"/>
              </a:defRPr>
            </a:defPPr>
            <a:lvl1pPr>
              <a:defRPr sz="1950" b="1">
                <a:solidFill>
                  <a:srgbClr val="D7AF75"/>
                </a:solidFill>
                <a:latin typeface="Aptos"/>
                <a:ea typeface="Aptos"/>
                <a:cs typeface="Aptos"/>
              </a:defRPr>
            </a:lvl1pPr>
            <a:lvl2pPr>
              <a:defRPr sz="1950" b="1">
                <a:solidFill>
                  <a:srgbClr val="D7AF75"/>
                </a:solidFill>
                <a:latin typeface="Aptos"/>
                <a:ea typeface="Aptos"/>
                <a:cs typeface="Aptos"/>
              </a:defRPr>
            </a:lvl2pPr>
            <a:lvl3pPr>
              <a:defRPr sz="1950" b="1">
                <a:solidFill>
                  <a:srgbClr val="D7AF75"/>
                </a:solidFill>
                <a:latin typeface="Aptos"/>
                <a:ea typeface="Aptos"/>
                <a:cs typeface="Aptos"/>
              </a:defRPr>
            </a:lvl3pPr>
            <a:lvl4pPr>
              <a:defRPr sz="1950" b="1">
                <a:solidFill>
                  <a:srgbClr val="D7AF75"/>
                </a:solidFill>
                <a:latin typeface="Aptos"/>
                <a:ea typeface="Aptos"/>
                <a:cs typeface="Aptos"/>
              </a:defRPr>
            </a:lvl4pPr>
            <a:lvl5pPr>
              <a:defRPr sz="1950" b="1">
                <a:solidFill>
                  <a:srgbClr val="D7AF75"/>
                </a:solidFill>
                <a:latin typeface="Aptos"/>
                <a:ea typeface="Aptos"/>
                <a:cs typeface="Aptos"/>
              </a:defRPr>
            </a:lvl5pPr>
            <a:lvl6pPr>
              <a:defRPr sz="1950" b="1">
                <a:solidFill>
                  <a:srgbClr val="D7AF75"/>
                </a:solidFill>
                <a:latin typeface="Aptos"/>
                <a:ea typeface="Aptos"/>
                <a:cs typeface="Aptos"/>
              </a:defRPr>
            </a:lvl6pPr>
            <a:lvl7pPr>
              <a:defRPr sz="1950" b="1">
                <a:solidFill>
                  <a:srgbClr val="D7AF75"/>
                </a:solidFill>
                <a:latin typeface="Aptos"/>
                <a:ea typeface="Aptos"/>
                <a:cs typeface="Aptos"/>
              </a:defRPr>
            </a:lvl7pPr>
            <a:lvl8pPr>
              <a:defRPr sz="1950" b="1">
                <a:solidFill>
                  <a:srgbClr val="D7AF75"/>
                </a:solidFill>
                <a:latin typeface="Aptos"/>
                <a:ea typeface="Aptos"/>
                <a:cs typeface="Aptos"/>
              </a:defRPr>
            </a:lvl8pPr>
            <a:lvl9pPr>
              <a:defRPr sz="1950" b="1">
                <a:solidFill>
                  <a:srgbClr val="D7AF75"/>
                </a:solidFill>
                <a:latin typeface="Aptos"/>
                <a:ea typeface="Aptos"/>
                <a:cs typeface="Aptos"/>
              </a:defRPr>
            </a:lvl9pPr>
          </a:lstStyle>
          <a:p xmlns:a="http://schemas.openxmlformats.org/drawingml/2006/main">
            <a:pPr>
              <a:defRPr sz="1950" b="1">
                <a:solidFill>
                  <a:srgbClr val="D7AF75"/>
                </a:solidFill>
                <a:latin typeface="Aptos"/>
                <a:ea typeface="Aptos"/>
                <a:cs typeface="Aptos"/>
              </a:defRPr>
            </a:pPr>
            <a:r>
              <a:rPr sz="1950" b="1">
                <a:solidFill>
                  <a:srgbClr val="D7AF75"/>
                </a:solidFill>
                <a:latin typeface="Aptos"/>
                <a:ea typeface="Aptos"/>
                <a:cs typeface="Aptos"/>
              </a:rPr>
              <a:t>Company direction</a:t>
            </a:r>
          </a:p>
        </p:txBody>
      </p:sp>
      <p:sp>
        <p:nvSpPr>
          <p:cNvPr id="4" name="text-3">
            <a:extLst xmlns:a="http://schemas.openxmlformats.org/drawingml/2006/main">
              <a:ext uri="{FF2B5EF4-FFF2-40B4-BE49-F238E27FC236}">
                <a16:creationId xmlns:a16="http://schemas.microsoft.com/office/drawing/2014/main" id="{50AA6BB0-C05F-4C28-96FF-81E487103059}"/>
              </a:ext>
            </a:extLst>
          </p:cNvPr>
          <p:cNvSpPr>
            <a:spLocks xmlns:a="http://schemas.openxmlformats.org/drawingml/2006/main" noGrp="1"/>
          </p:cNvSpPr>
          <p:nvPr/>
        </p:nvSpPr>
        <p:spPr>
          <a:xfrm xmlns:a="http://schemas.openxmlformats.org/drawingml/2006/main">
            <a:off x="685800" y="28860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FFFFFF"/>
                </a:solidFill>
                <a:latin typeface="Aptos"/>
                <a:ea typeface="Aptos"/>
                <a:cs typeface="Aptos"/>
              </a:defRPr>
            </a:defPPr>
            <a:lvl1pPr>
              <a:defRPr sz="1800" b="0">
                <a:solidFill>
                  <a:srgbClr val="FFFFFF"/>
                </a:solidFill>
                <a:latin typeface="Aptos"/>
                <a:ea typeface="Aptos"/>
                <a:cs typeface="Aptos"/>
              </a:defRPr>
            </a:lvl1pPr>
            <a:lvl2pPr>
              <a:defRPr sz="1800" b="0">
                <a:solidFill>
                  <a:srgbClr val="FFFFFF"/>
                </a:solidFill>
                <a:latin typeface="Aptos"/>
                <a:ea typeface="Aptos"/>
                <a:cs typeface="Aptos"/>
              </a:defRPr>
            </a:lvl2pPr>
            <a:lvl3pPr>
              <a:defRPr sz="1800" b="0">
                <a:solidFill>
                  <a:srgbClr val="FFFFFF"/>
                </a:solidFill>
                <a:latin typeface="Aptos"/>
                <a:ea typeface="Aptos"/>
                <a:cs typeface="Aptos"/>
              </a:defRPr>
            </a:lvl3pPr>
            <a:lvl4pPr>
              <a:defRPr sz="1800" b="0">
                <a:solidFill>
                  <a:srgbClr val="FFFFFF"/>
                </a:solidFill>
                <a:latin typeface="Aptos"/>
                <a:ea typeface="Aptos"/>
                <a:cs typeface="Aptos"/>
              </a:defRPr>
            </a:lvl4pPr>
            <a:lvl5pPr>
              <a:defRPr sz="1800" b="0">
                <a:solidFill>
                  <a:srgbClr val="FFFFFF"/>
                </a:solidFill>
                <a:latin typeface="Aptos"/>
                <a:ea typeface="Aptos"/>
                <a:cs typeface="Aptos"/>
              </a:defRPr>
            </a:lvl5pPr>
            <a:lvl6pPr>
              <a:defRPr sz="1800" b="0">
                <a:solidFill>
                  <a:srgbClr val="FFFFFF"/>
                </a:solidFill>
                <a:latin typeface="Aptos"/>
                <a:ea typeface="Aptos"/>
                <a:cs typeface="Aptos"/>
              </a:defRPr>
            </a:lvl6pPr>
            <a:lvl7pPr>
              <a:defRPr sz="1800" b="0">
                <a:solidFill>
                  <a:srgbClr val="FFFFFF"/>
                </a:solidFill>
                <a:latin typeface="Aptos"/>
                <a:ea typeface="Aptos"/>
                <a:cs typeface="Aptos"/>
              </a:defRPr>
            </a:lvl7pPr>
            <a:lvl8pPr>
              <a:defRPr sz="1800" b="0">
                <a:solidFill>
                  <a:srgbClr val="FFFFFF"/>
                </a:solidFill>
                <a:latin typeface="Aptos"/>
                <a:ea typeface="Aptos"/>
                <a:cs typeface="Aptos"/>
              </a:defRPr>
            </a:lvl8pPr>
            <a:lvl9pPr>
              <a:defRPr sz="1800" b="0">
                <a:solidFill>
                  <a:srgbClr val="FFFFFF"/>
                </a:solidFill>
                <a:latin typeface="Aptos"/>
                <a:ea typeface="Aptos"/>
                <a:cs typeface="Aptos"/>
              </a:defRPr>
            </a:lvl9pPr>
          </a:lstStyle>
          <a:p xmlns:a="http://schemas.openxmlformats.org/drawingml/2006/main">
            <a:pPr>
              <a:defRPr sz="1800" b="0">
                <a:solidFill>
                  <a:srgbClr val="FFFFFF"/>
                </a:solidFill>
                <a:latin typeface="Aptos"/>
                <a:ea typeface="Aptos"/>
                <a:cs typeface="Aptos"/>
              </a:defRPr>
            </a:pPr>
            <a:r>
              <a:rPr sz="1800" b="0">
                <a:solidFill>
                  <a:srgbClr val="FFFFFF"/>
                </a:solidFill>
                <a:latin typeface="Aptos"/>
                <a:ea typeface="Aptos"/>
                <a:cs typeface="Aptos"/>
              </a:rPr>
              <a:t>AI software connects a broad robotics and automation portfolio.</a:t>
            </a:r>
          </a:p>
        </p:txBody>
      </p:sp>
      <p:sp>
        <p:nvSpPr>
          <p:cNvPr id="5" name="text-4">
            <a:extLst xmlns:a="http://schemas.openxmlformats.org/drawingml/2006/main">
              <a:ext uri="{FF2B5EF4-FFF2-40B4-BE49-F238E27FC236}">
                <a16:creationId xmlns:a16="http://schemas.microsoft.com/office/drawing/2014/main" id="{4CF32003-BDDF-4C96-8CC3-B967E7A357F5}"/>
              </a:ext>
            </a:extLst>
          </p:cNvPr>
          <p:cNvSpPr>
            <a:spLocks xmlns:a="http://schemas.openxmlformats.org/drawingml/2006/main" noGrp="1"/>
          </p:cNvSpPr>
          <p:nvPr/>
        </p:nvSpPr>
        <p:spPr>
          <a:xfrm xmlns:a="http://schemas.openxmlformats.org/drawingml/2006/main">
            <a:off x="685800" y="360045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D7AF75"/>
                </a:solidFill>
                <a:latin typeface="Aptos"/>
                <a:ea typeface="Aptos"/>
                <a:cs typeface="Aptos"/>
              </a:defRPr>
            </a:defPPr>
            <a:lvl1pPr>
              <a:defRPr sz="1950" b="1">
                <a:solidFill>
                  <a:srgbClr val="D7AF75"/>
                </a:solidFill>
                <a:latin typeface="Aptos"/>
                <a:ea typeface="Aptos"/>
                <a:cs typeface="Aptos"/>
              </a:defRPr>
            </a:lvl1pPr>
            <a:lvl2pPr>
              <a:defRPr sz="1950" b="1">
                <a:solidFill>
                  <a:srgbClr val="D7AF75"/>
                </a:solidFill>
                <a:latin typeface="Aptos"/>
                <a:ea typeface="Aptos"/>
                <a:cs typeface="Aptos"/>
              </a:defRPr>
            </a:lvl2pPr>
            <a:lvl3pPr>
              <a:defRPr sz="1950" b="1">
                <a:solidFill>
                  <a:srgbClr val="D7AF75"/>
                </a:solidFill>
                <a:latin typeface="Aptos"/>
                <a:ea typeface="Aptos"/>
                <a:cs typeface="Aptos"/>
              </a:defRPr>
            </a:lvl3pPr>
            <a:lvl4pPr>
              <a:defRPr sz="1950" b="1">
                <a:solidFill>
                  <a:srgbClr val="D7AF75"/>
                </a:solidFill>
                <a:latin typeface="Aptos"/>
                <a:ea typeface="Aptos"/>
                <a:cs typeface="Aptos"/>
              </a:defRPr>
            </a:lvl4pPr>
            <a:lvl5pPr>
              <a:defRPr sz="1950" b="1">
                <a:solidFill>
                  <a:srgbClr val="D7AF75"/>
                </a:solidFill>
                <a:latin typeface="Aptos"/>
                <a:ea typeface="Aptos"/>
                <a:cs typeface="Aptos"/>
              </a:defRPr>
            </a:lvl5pPr>
            <a:lvl6pPr>
              <a:defRPr sz="1950" b="1">
                <a:solidFill>
                  <a:srgbClr val="D7AF75"/>
                </a:solidFill>
                <a:latin typeface="Aptos"/>
                <a:ea typeface="Aptos"/>
                <a:cs typeface="Aptos"/>
              </a:defRPr>
            </a:lvl6pPr>
            <a:lvl7pPr>
              <a:defRPr sz="1950" b="1">
                <a:solidFill>
                  <a:srgbClr val="D7AF75"/>
                </a:solidFill>
                <a:latin typeface="Aptos"/>
                <a:ea typeface="Aptos"/>
                <a:cs typeface="Aptos"/>
              </a:defRPr>
            </a:lvl7pPr>
            <a:lvl8pPr>
              <a:defRPr sz="1950" b="1">
                <a:solidFill>
                  <a:srgbClr val="D7AF75"/>
                </a:solidFill>
                <a:latin typeface="Aptos"/>
                <a:ea typeface="Aptos"/>
                <a:cs typeface="Aptos"/>
              </a:defRPr>
            </a:lvl8pPr>
            <a:lvl9pPr>
              <a:defRPr sz="1950" b="1">
                <a:solidFill>
                  <a:srgbClr val="D7AF75"/>
                </a:solidFill>
                <a:latin typeface="Aptos"/>
                <a:ea typeface="Aptos"/>
                <a:cs typeface="Aptos"/>
              </a:defRPr>
            </a:lvl9pPr>
          </a:lstStyle>
          <a:p xmlns:a="http://schemas.openxmlformats.org/drawingml/2006/main">
            <a:pPr>
              <a:defRPr sz="1950" b="1">
                <a:solidFill>
                  <a:srgbClr val="D7AF75"/>
                </a:solidFill>
                <a:latin typeface="Aptos"/>
                <a:ea typeface="Aptos"/>
                <a:cs typeface="Aptos"/>
              </a:defRPr>
            </a:pPr>
            <a:r>
              <a:rPr sz="1950" b="1">
                <a:solidFill>
                  <a:srgbClr val="D7AF75"/>
                </a:solidFill>
                <a:latin typeface="Aptos"/>
                <a:ea typeface="Aptos"/>
                <a:cs typeface="Aptos"/>
              </a:rPr>
              <a:t>Evidence of progress</a:t>
            </a:r>
          </a:p>
        </p:txBody>
      </p:sp>
      <p:sp>
        <p:nvSpPr>
          <p:cNvPr id="6" name="text-5">
            <a:extLst xmlns:a="http://schemas.openxmlformats.org/drawingml/2006/main">
              <a:ext uri="{FF2B5EF4-FFF2-40B4-BE49-F238E27FC236}">
                <a16:creationId xmlns:a16="http://schemas.microsoft.com/office/drawing/2014/main" id="{8AA922BD-A29C-4B76-AE06-E2DE3A55F68E}"/>
              </a:ext>
            </a:extLst>
          </p:cNvPr>
          <p:cNvSpPr>
            <a:spLocks xmlns:a="http://schemas.openxmlformats.org/drawingml/2006/main" noGrp="1"/>
          </p:cNvSpPr>
          <p:nvPr/>
        </p:nvSpPr>
        <p:spPr>
          <a:xfrm xmlns:a="http://schemas.openxmlformats.org/drawingml/2006/main">
            <a:off x="685800" y="401002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FFFFFF"/>
                </a:solidFill>
                <a:latin typeface="Aptos"/>
                <a:ea typeface="Aptos"/>
                <a:cs typeface="Aptos"/>
              </a:defRPr>
            </a:defPPr>
            <a:lvl1pPr>
              <a:defRPr sz="1800" b="0">
                <a:solidFill>
                  <a:srgbClr val="FFFFFF"/>
                </a:solidFill>
                <a:latin typeface="Aptos"/>
                <a:ea typeface="Aptos"/>
                <a:cs typeface="Aptos"/>
              </a:defRPr>
            </a:lvl1pPr>
            <a:lvl2pPr>
              <a:defRPr sz="1800" b="0">
                <a:solidFill>
                  <a:srgbClr val="FFFFFF"/>
                </a:solidFill>
                <a:latin typeface="Aptos"/>
                <a:ea typeface="Aptos"/>
                <a:cs typeface="Aptos"/>
              </a:defRPr>
            </a:lvl2pPr>
            <a:lvl3pPr>
              <a:defRPr sz="1800" b="0">
                <a:solidFill>
                  <a:srgbClr val="FFFFFF"/>
                </a:solidFill>
                <a:latin typeface="Aptos"/>
                <a:ea typeface="Aptos"/>
                <a:cs typeface="Aptos"/>
              </a:defRPr>
            </a:lvl3pPr>
            <a:lvl4pPr>
              <a:defRPr sz="1800" b="0">
                <a:solidFill>
                  <a:srgbClr val="FFFFFF"/>
                </a:solidFill>
                <a:latin typeface="Aptos"/>
                <a:ea typeface="Aptos"/>
                <a:cs typeface="Aptos"/>
              </a:defRPr>
            </a:lvl4pPr>
            <a:lvl5pPr>
              <a:defRPr sz="1800" b="0">
                <a:solidFill>
                  <a:srgbClr val="FFFFFF"/>
                </a:solidFill>
                <a:latin typeface="Aptos"/>
                <a:ea typeface="Aptos"/>
                <a:cs typeface="Aptos"/>
              </a:defRPr>
            </a:lvl5pPr>
            <a:lvl6pPr>
              <a:defRPr sz="1800" b="0">
                <a:solidFill>
                  <a:srgbClr val="FFFFFF"/>
                </a:solidFill>
                <a:latin typeface="Aptos"/>
                <a:ea typeface="Aptos"/>
                <a:cs typeface="Aptos"/>
              </a:defRPr>
            </a:lvl6pPr>
            <a:lvl7pPr>
              <a:defRPr sz="1800" b="0">
                <a:solidFill>
                  <a:srgbClr val="FFFFFF"/>
                </a:solidFill>
                <a:latin typeface="Aptos"/>
                <a:ea typeface="Aptos"/>
                <a:cs typeface="Aptos"/>
              </a:defRPr>
            </a:lvl7pPr>
            <a:lvl8pPr>
              <a:defRPr sz="1800" b="0">
                <a:solidFill>
                  <a:srgbClr val="FFFFFF"/>
                </a:solidFill>
                <a:latin typeface="Aptos"/>
                <a:ea typeface="Aptos"/>
                <a:cs typeface="Aptos"/>
              </a:defRPr>
            </a:lvl8pPr>
            <a:lvl9pPr>
              <a:defRPr sz="1800" b="0">
                <a:solidFill>
                  <a:srgbClr val="FFFFFF"/>
                </a:solidFill>
                <a:latin typeface="Aptos"/>
                <a:ea typeface="Aptos"/>
                <a:cs typeface="Aptos"/>
              </a:defRPr>
            </a:lvl9pPr>
          </a:lstStyle>
          <a:p xmlns:a="http://schemas.openxmlformats.org/drawingml/2006/main">
            <a:pPr>
              <a:defRPr sz="1800" b="0">
                <a:solidFill>
                  <a:srgbClr val="FFFFFF"/>
                </a:solidFill>
                <a:latin typeface="Aptos"/>
                <a:ea typeface="Aptos"/>
                <a:cs typeface="Aptos"/>
              </a:defRPr>
            </a:pPr>
            <a:r>
              <a:rPr sz="1800" b="0">
                <a:solidFill>
                  <a:srgbClr val="FFFFFF"/>
                </a:solidFill>
                <a:latin typeface="Aptos"/>
                <a:ea typeface="Aptos"/>
                <a:cs typeface="Aptos"/>
              </a:rPr>
              <a:t>Aido’s award and the Manchester MoU are documented milestones.</a:t>
            </a:r>
          </a:p>
        </p:txBody>
      </p:sp>
      <p:sp>
        <p:nvSpPr>
          <p:cNvPr id="7" name="text-6">
            <a:extLst xmlns:a="http://schemas.openxmlformats.org/drawingml/2006/main">
              <a:ext uri="{FF2B5EF4-FFF2-40B4-BE49-F238E27FC236}">
                <a16:creationId xmlns:a16="http://schemas.microsoft.com/office/drawing/2014/main" id="{EB8093C5-71FC-4B13-BFE5-DA8465D9D36F}"/>
              </a:ext>
            </a:extLst>
          </p:cNvPr>
          <p:cNvSpPr>
            <a:spLocks xmlns:a="http://schemas.openxmlformats.org/drawingml/2006/main" noGrp="1"/>
          </p:cNvSpPr>
          <p:nvPr/>
        </p:nvSpPr>
        <p:spPr>
          <a:xfrm xmlns:a="http://schemas.openxmlformats.org/drawingml/2006/main">
            <a:off x="685800" y="47244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D7AF75"/>
                </a:solidFill>
                <a:latin typeface="Aptos"/>
                <a:ea typeface="Aptos"/>
                <a:cs typeface="Aptos"/>
              </a:defRPr>
            </a:defPPr>
            <a:lvl1pPr>
              <a:defRPr sz="1950" b="1">
                <a:solidFill>
                  <a:srgbClr val="D7AF75"/>
                </a:solidFill>
                <a:latin typeface="Aptos"/>
                <a:ea typeface="Aptos"/>
                <a:cs typeface="Aptos"/>
              </a:defRPr>
            </a:lvl1pPr>
            <a:lvl2pPr>
              <a:defRPr sz="1950" b="1">
                <a:solidFill>
                  <a:srgbClr val="D7AF75"/>
                </a:solidFill>
                <a:latin typeface="Aptos"/>
                <a:ea typeface="Aptos"/>
                <a:cs typeface="Aptos"/>
              </a:defRPr>
            </a:lvl2pPr>
            <a:lvl3pPr>
              <a:defRPr sz="1950" b="1">
                <a:solidFill>
                  <a:srgbClr val="D7AF75"/>
                </a:solidFill>
                <a:latin typeface="Aptos"/>
                <a:ea typeface="Aptos"/>
                <a:cs typeface="Aptos"/>
              </a:defRPr>
            </a:lvl3pPr>
            <a:lvl4pPr>
              <a:defRPr sz="1950" b="1">
                <a:solidFill>
                  <a:srgbClr val="D7AF75"/>
                </a:solidFill>
                <a:latin typeface="Aptos"/>
                <a:ea typeface="Aptos"/>
                <a:cs typeface="Aptos"/>
              </a:defRPr>
            </a:lvl4pPr>
            <a:lvl5pPr>
              <a:defRPr sz="1950" b="1">
                <a:solidFill>
                  <a:srgbClr val="D7AF75"/>
                </a:solidFill>
                <a:latin typeface="Aptos"/>
                <a:ea typeface="Aptos"/>
                <a:cs typeface="Aptos"/>
              </a:defRPr>
            </a:lvl5pPr>
            <a:lvl6pPr>
              <a:defRPr sz="1950" b="1">
                <a:solidFill>
                  <a:srgbClr val="D7AF75"/>
                </a:solidFill>
                <a:latin typeface="Aptos"/>
                <a:ea typeface="Aptos"/>
                <a:cs typeface="Aptos"/>
              </a:defRPr>
            </a:lvl6pPr>
            <a:lvl7pPr>
              <a:defRPr sz="1950" b="1">
                <a:solidFill>
                  <a:srgbClr val="D7AF75"/>
                </a:solidFill>
                <a:latin typeface="Aptos"/>
                <a:ea typeface="Aptos"/>
                <a:cs typeface="Aptos"/>
              </a:defRPr>
            </a:lvl7pPr>
            <a:lvl8pPr>
              <a:defRPr sz="1950" b="1">
                <a:solidFill>
                  <a:srgbClr val="D7AF75"/>
                </a:solidFill>
                <a:latin typeface="Aptos"/>
                <a:ea typeface="Aptos"/>
                <a:cs typeface="Aptos"/>
              </a:defRPr>
            </a:lvl8pPr>
            <a:lvl9pPr>
              <a:defRPr sz="1950" b="1">
                <a:solidFill>
                  <a:srgbClr val="D7AF75"/>
                </a:solidFill>
                <a:latin typeface="Aptos"/>
                <a:ea typeface="Aptos"/>
                <a:cs typeface="Aptos"/>
              </a:defRPr>
            </a:lvl9pPr>
          </a:lstStyle>
          <a:p xmlns:a="http://schemas.openxmlformats.org/drawingml/2006/main">
            <a:pPr>
              <a:defRPr sz="1950" b="1">
                <a:solidFill>
                  <a:srgbClr val="D7AF75"/>
                </a:solidFill>
                <a:latin typeface="Aptos"/>
                <a:ea typeface="Aptos"/>
                <a:cs typeface="Aptos"/>
              </a:defRPr>
            </a:pPr>
            <a:r>
              <a:rPr sz="1950" b="1">
                <a:solidFill>
                  <a:srgbClr val="D7AF75"/>
                </a:solidFill>
                <a:latin typeface="Aptos"/>
                <a:ea typeface="Aptos"/>
                <a:cs typeface="Aptos"/>
              </a:rPr>
              <a:t>Next test</a:t>
            </a:r>
          </a:p>
        </p:txBody>
      </p:sp>
      <p:sp>
        <p:nvSpPr>
          <p:cNvPr id="8" name="text-7">
            <a:extLst xmlns:a="http://schemas.openxmlformats.org/drawingml/2006/main">
              <a:ext uri="{FF2B5EF4-FFF2-40B4-BE49-F238E27FC236}">
                <a16:creationId xmlns:a16="http://schemas.microsoft.com/office/drawing/2014/main" id="{249EBE04-8EB2-4ABE-9154-5A8817E8381E}"/>
              </a:ext>
            </a:extLst>
          </p:cNvPr>
          <p:cNvSpPr>
            <a:spLocks xmlns:a="http://schemas.openxmlformats.org/drawingml/2006/main" noGrp="1"/>
          </p:cNvSpPr>
          <p:nvPr/>
        </p:nvSpPr>
        <p:spPr>
          <a:xfrm xmlns:a="http://schemas.openxmlformats.org/drawingml/2006/main">
            <a:off x="685800" y="5133975"/>
            <a:ext cx="5286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FFFFFF"/>
                </a:solidFill>
                <a:latin typeface="Aptos"/>
                <a:ea typeface="Aptos"/>
                <a:cs typeface="Aptos"/>
              </a:defRPr>
            </a:defPPr>
            <a:lvl1pPr>
              <a:defRPr sz="1800" b="0">
                <a:solidFill>
                  <a:srgbClr val="FFFFFF"/>
                </a:solidFill>
                <a:latin typeface="Aptos"/>
                <a:ea typeface="Aptos"/>
                <a:cs typeface="Aptos"/>
              </a:defRPr>
            </a:lvl1pPr>
            <a:lvl2pPr>
              <a:defRPr sz="1800" b="0">
                <a:solidFill>
                  <a:srgbClr val="FFFFFF"/>
                </a:solidFill>
                <a:latin typeface="Aptos"/>
                <a:ea typeface="Aptos"/>
                <a:cs typeface="Aptos"/>
              </a:defRPr>
            </a:lvl2pPr>
            <a:lvl3pPr>
              <a:defRPr sz="1800" b="0">
                <a:solidFill>
                  <a:srgbClr val="FFFFFF"/>
                </a:solidFill>
                <a:latin typeface="Aptos"/>
                <a:ea typeface="Aptos"/>
                <a:cs typeface="Aptos"/>
              </a:defRPr>
            </a:lvl3pPr>
            <a:lvl4pPr>
              <a:defRPr sz="1800" b="0">
                <a:solidFill>
                  <a:srgbClr val="FFFFFF"/>
                </a:solidFill>
                <a:latin typeface="Aptos"/>
                <a:ea typeface="Aptos"/>
                <a:cs typeface="Aptos"/>
              </a:defRPr>
            </a:lvl4pPr>
            <a:lvl5pPr>
              <a:defRPr sz="1800" b="0">
                <a:solidFill>
                  <a:srgbClr val="FFFFFF"/>
                </a:solidFill>
                <a:latin typeface="Aptos"/>
                <a:ea typeface="Aptos"/>
                <a:cs typeface="Aptos"/>
              </a:defRPr>
            </a:lvl5pPr>
            <a:lvl6pPr>
              <a:defRPr sz="1800" b="0">
                <a:solidFill>
                  <a:srgbClr val="FFFFFF"/>
                </a:solidFill>
                <a:latin typeface="Aptos"/>
                <a:ea typeface="Aptos"/>
                <a:cs typeface="Aptos"/>
              </a:defRPr>
            </a:lvl6pPr>
            <a:lvl7pPr>
              <a:defRPr sz="1800" b="0">
                <a:solidFill>
                  <a:srgbClr val="FFFFFF"/>
                </a:solidFill>
                <a:latin typeface="Aptos"/>
                <a:ea typeface="Aptos"/>
                <a:cs typeface="Aptos"/>
              </a:defRPr>
            </a:lvl7pPr>
            <a:lvl8pPr>
              <a:defRPr sz="1800" b="0">
                <a:solidFill>
                  <a:srgbClr val="FFFFFF"/>
                </a:solidFill>
                <a:latin typeface="Aptos"/>
                <a:ea typeface="Aptos"/>
                <a:cs typeface="Aptos"/>
              </a:defRPr>
            </a:lvl8pPr>
            <a:lvl9pPr>
              <a:defRPr sz="1800" b="0">
                <a:solidFill>
                  <a:srgbClr val="FFFFFF"/>
                </a:solidFill>
                <a:latin typeface="Aptos"/>
                <a:ea typeface="Aptos"/>
                <a:cs typeface="Aptos"/>
              </a:defRPr>
            </a:lvl9pPr>
          </a:lstStyle>
          <a:p xmlns:a="http://schemas.openxmlformats.org/drawingml/2006/main">
            <a:pPr>
              <a:defRPr sz="1800" b="0">
                <a:solidFill>
                  <a:srgbClr val="FFFFFF"/>
                </a:solidFill>
                <a:latin typeface="Aptos"/>
                <a:ea typeface="Aptos"/>
                <a:cs typeface="Aptos"/>
              </a:defRPr>
            </a:pPr>
            <a:r>
              <a:rPr sz="1800" b="0">
                <a:solidFill>
                  <a:srgbClr val="FFFFFF"/>
                </a:solidFill>
                <a:latin typeface="Aptos"/>
                <a:ea typeface="Aptos"/>
                <a:cs typeface="Aptos"/>
              </a:rPr>
              <a:t>Product readiness and repeatable customer demand will determine commercial scale.</a:t>
            </a:r>
          </a:p>
        </p:txBody>
      </p:sp>
      <p:pic>
        <p:nvPicPr>
          <p:cNvPr id="9" name="">
            <a:extLst xmlns:a="http://schemas.openxmlformats.org/drawingml/2006/main">
              <a:ext uri="{FF2B5EF4-FFF2-40B4-BE49-F238E27FC236}">
                <a16:creationId xmlns:a16="http://schemas.microsoft.com/office/drawing/2014/main" id="{A335092D-2252-4458-8DCD-CD31E41DF864}"/>
              </a:ext>
            </a:extLst>
          </p:cNvPr>
          <p:cNvPicPr>
            <a:picLocks xmlns:a="http://schemas.openxmlformats.org/drawingml/2006/main" noChangeAspect="1"/>
          </p:cNvPicPr>
          <p:nvPr/>
        </p:nvPicPr>
        <p:blipFill>
          <a:blip xmlns:r="http://schemas.openxmlformats.org/officeDocument/2006/relationships" xmlns:a="http://schemas.openxmlformats.org/drawingml/2006/main" r:embed="Rc9038e9c44574c0a"/>
          <a:stretch xmlns:a="http://schemas.openxmlformats.org/drawingml/2006/main"/>
        </p:blipFill>
        <p:spPr>
          <a:xfrm xmlns:a="http://schemas.openxmlformats.org/drawingml/2006/main">
            <a:off x="6788150" y="2552700"/>
            <a:ext cx="4445000" cy="333375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2BFBA3B3-7C8F-4B00-A33B-8DE2D789A28D}"/>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B6C8DA"/>
                </a:solidFill>
                <a:latin typeface="Aptos"/>
                <a:ea typeface="Aptos"/>
                <a:cs typeface="Aptos"/>
              </a:defRPr>
            </a:defPPr>
            <a:lvl1pPr>
              <a:defRPr sz="975" b="0">
                <a:solidFill>
                  <a:srgbClr val="B6C8DA"/>
                </a:solidFill>
                <a:latin typeface="Aptos"/>
                <a:ea typeface="Aptos"/>
                <a:cs typeface="Aptos"/>
              </a:defRPr>
            </a:lvl1pPr>
            <a:lvl2pPr>
              <a:defRPr sz="975" b="0">
                <a:solidFill>
                  <a:srgbClr val="B6C8DA"/>
                </a:solidFill>
                <a:latin typeface="Aptos"/>
                <a:ea typeface="Aptos"/>
                <a:cs typeface="Aptos"/>
              </a:defRPr>
            </a:lvl2pPr>
            <a:lvl3pPr>
              <a:defRPr sz="975" b="0">
                <a:solidFill>
                  <a:srgbClr val="B6C8DA"/>
                </a:solidFill>
                <a:latin typeface="Aptos"/>
                <a:ea typeface="Aptos"/>
                <a:cs typeface="Aptos"/>
              </a:defRPr>
            </a:lvl3pPr>
            <a:lvl4pPr>
              <a:defRPr sz="975" b="0">
                <a:solidFill>
                  <a:srgbClr val="B6C8DA"/>
                </a:solidFill>
                <a:latin typeface="Aptos"/>
                <a:ea typeface="Aptos"/>
                <a:cs typeface="Aptos"/>
              </a:defRPr>
            </a:lvl4pPr>
            <a:lvl5pPr>
              <a:defRPr sz="975" b="0">
                <a:solidFill>
                  <a:srgbClr val="B6C8DA"/>
                </a:solidFill>
                <a:latin typeface="Aptos"/>
                <a:ea typeface="Aptos"/>
                <a:cs typeface="Aptos"/>
              </a:defRPr>
            </a:lvl5pPr>
            <a:lvl6pPr>
              <a:defRPr sz="975" b="0">
                <a:solidFill>
                  <a:srgbClr val="B6C8DA"/>
                </a:solidFill>
                <a:latin typeface="Aptos"/>
                <a:ea typeface="Aptos"/>
                <a:cs typeface="Aptos"/>
              </a:defRPr>
            </a:lvl6pPr>
            <a:lvl7pPr>
              <a:defRPr sz="975" b="0">
                <a:solidFill>
                  <a:srgbClr val="B6C8DA"/>
                </a:solidFill>
                <a:latin typeface="Aptos"/>
                <a:ea typeface="Aptos"/>
                <a:cs typeface="Aptos"/>
              </a:defRPr>
            </a:lvl7pPr>
            <a:lvl8pPr>
              <a:defRPr sz="975" b="0">
                <a:solidFill>
                  <a:srgbClr val="B6C8DA"/>
                </a:solidFill>
                <a:latin typeface="Aptos"/>
                <a:ea typeface="Aptos"/>
                <a:cs typeface="Aptos"/>
              </a:defRPr>
            </a:lvl8pPr>
            <a:lvl9pPr>
              <a:defRPr sz="975" b="0">
                <a:solidFill>
                  <a:srgbClr val="B6C8DA"/>
                </a:solidFill>
                <a:latin typeface="Aptos"/>
                <a:ea typeface="Aptos"/>
                <a:cs typeface="Aptos"/>
              </a:defRPr>
            </a:lvl9pPr>
          </a:lstStyle>
          <a:p xmlns:a="http://schemas.openxmlformats.org/drawingml/2006/main">
            <a:pPr>
              <a:defRPr sz="975" b="0">
                <a:solidFill>
                  <a:srgbClr val="B6C8DA"/>
                </a:solidFill>
                <a:latin typeface="Aptos"/>
                <a:ea typeface="Aptos"/>
                <a:cs typeface="Aptos"/>
              </a:defRPr>
            </a:pPr>
            <a:r>
              <a:rPr sz="975" b="0">
                <a:solidFill>
                  <a:srgbClr val="B6C8DA"/>
                </a:solidFill>
                <a:latin typeface="Aptos"/>
                <a:ea typeface="Aptos"/>
                <a:cs typeface="Aptos"/>
              </a:rPr>
              <a:t>INGEN DYNAMICS</a:t>
            </a:r>
          </a:p>
        </p:txBody>
      </p:sp>
      <p:sp>
        <p:nvSpPr>
          <p:cNvPr id="11" name="text-9">
            <a:extLst xmlns:a="http://schemas.openxmlformats.org/drawingml/2006/main">
              <a:ext uri="{FF2B5EF4-FFF2-40B4-BE49-F238E27FC236}">
                <a16:creationId xmlns:a16="http://schemas.microsoft.com/office/drawing/2014/main" id="{720A5D9B-BA3F-4AD5-828E-2B75B0F3C642}"/>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B6C8DA"/>
                </a:solidFill>
                <a:latin typeface="Aptos"/>
                <a:ea typeface="Aptos"/>
                <a:cs typeface="Aptos"/>
              </a:defRPr>
            </a:defPPr>
            <a:lvl1pPr>
              <a:defRPr sz="1200" b="0">
                <a:solidFill>
                  <a:srgbClr val="B6C8DA"/>
                </a:solidFill>
                <a:latin typeface="Aptos"/>
                <a:ea typeface="Aptos"/>
                <a:cs typeface="Aptos"/>
              </a:defRPr>
            </a:lvl1pPr>
            <a:lvl2pPr>
              <a:defRPr sz="1200" b="0">
                <a:solidFill>
                  <a:srgbClr val="B6C8DA"/>
                </a:solidFill>
                <a:latin typeface="Aptos"/>
                <a:ea typeface="Aptos"/>
                <a:cs typeface="Aptos"/>
              </a:defRPr>
            </a:lvl2pPr>
            <a:lvl3pPr>
              <a:defRPr sz="1200" b="0">
                <a:solidFill>
                  <a:srgbClr val="B6C8DA"/>
                </a:solidFill>
                <a:latin typeface="Aptos"/>
                <a:ea typeface="Aptos"/>
                <a:cs typeface="Aptos"/>
              </a:defRPr>
            </a:lvl3pPr>
            <a:lvl4pPr>
              <a:defRPr sz="1200" b="0">
                <a:solidFill>
                  <a:srgbClr val="B6C8DA"/>
                </a:solidFill>
                <a:latin typeface="Aptos"/>
                <a:ea typeface="Aptos"/>
                <a:cs typeface="Aptos"/>
              </a:defRPr>
            </a:lvl4pPr>
            <a:lvl5pPr>
              <a:defRPr sz="1200" b="0">
                <a:solidFill>
                  <a:srgbClr val="B6C8DA"/>
                </a:solidFill>
                <a:latin typeface="Aptos"/>
                <a:ea typeface="Aptos"/>
                <a:cs typeface="Aptos"/>
              </a:defRPr>
            </a:lvl5pPr>
            <a:lvl6pPr>
              <a:defRPr sz="1200" b="0">
                <a:solidFill>
                  <a:srgbClr val="B6C8DA"/>
                </a:solidFill>
                <a:latin typeface="Aptos"/>
                <a:ea typeface="Aptos"/>
                <a:cs typeface="Aptos"/>
              </a:defRPr>
            </a:lvl6pPr>
            <a:lvl7pPr>
              <a:defRPr sz="1200" b="0">
                <a:solidFill>
                  <a:srgbClr val="B6C8DA"/>
                </a:solidFill>
                <a:latin typeface="Aptos"/>
                <a:ea typeface="Aptos"/>
                <a:cs typeface="Aptos"/>
              </a:defRPr>
            </a:lvl7pPr>
            <a:lvl8pPr>
              <a:defRPr sz="1200" b="0">
                <a:solidFill>
                  <a:srgbClr val="B6C8DA"/>
                </a:solidFill>
                <a:latin typeface="Aptos"/>
                <a:ea typeface="Aptos"/>
                <a:cs typeface="Aptos"/>
              </a:defRPr>
            </a:lvl8pPr>
            <a:lvl9pPr>
              <a:defRPr sz="1200" b="0">
                <a:solidFill>
                  <a:srgbClr val="B6C8DA"/>
                </a:solidFill>
                <a:latin typeface="Aptos"/>
                <a:ea typeface="Aptos"/>
                <a:cs typeface="Aptos"/>
              </a:defRPr>
            </a:lvl9pPr>
          </a:lstStyle>
          <a:p xmlns:a="http://schemas.openxmlformats.org/drawingml/2006/main">
            <a:pPr>
              <a:defRPr sz="1200" b="0">
                <a:solidFill>
                  <a:srgbClr val="B6C8DA"/>
                </a:solidFill>
                <a:latin typeface="Aptos"/>
                <a:ea typeface="Aptos"/>
                <a:cs typeface="Aptos"/>
              </a:defRPr>
            </a:pPr>
            <a:r>
              <a:rPr sz="1200" b="0">
                <a:solidFill>
                  <a:srgbClr val="B6C8DA"/>
                </a:solidFill>
                <a:latin typeface="Aptos"/>
                <a:ea typeface="Aptos"/>
                <a:cs typeface="Aptos"/>
              </a:rPr>
              <a:t>19</a:t>
            </a:r>
          </a:p>
        </p:txBody>
      </p:sp>
      <p:sp>
        <p:nvSpPr>
          <p:cNvPr id="12" name="text-10">
            <a:extLst xmlns:a="http://schemas.openxmlformats.org/drawingml/2006/main">
              <a:ext uri="{FF2B5EF4-FFF2-40B4-BE49-F238E27FC236}">
                <a16:creationId xmlns:a16="http://schemas.microsoft.com/office/drawing/2014/main" id="{70718687-D3A3-4393-8D22-9AD5FE42E790}"/>
              </a:ext>
            </a:extLst>
          </p:cNvPr>
          <p:cNvSpPr>
            <a:spLocks xmlns:a="http://schemas.openxmlformats.org/drawingml/2006/main" noGrp="1"/>
          </p:cNvSpPr>
          <p:nvPr/>
        </p:nvSpPr>
        <p:spPr>
          <a:xfrm xmlns:a="http://schemas.openxmlformats.org/drawingml/2006/main">
            <a:off x="7239000" y="65722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B6C8DA"/>
                </a:solidFill>
                <a:latin typeface="Aptos"/>
                <a:ea typeface="Aptos"/>
                <a:cs typeface="Aptos"/>
              </a:defRPr>
            </a:defPPr>
            <a:lvl1pPr>
              <a:defRPr sz="975" b="0">
                <a:solidFill>
                  <a:srgbClr val="B6C8DA"/>
                </a:solidFill>
                <a:latin typeface="Aptos"/>
                <a:ea typeface="Aptos"/>
                <a:cs typeface="Aptos"/>
              </a:defRPr>
            </a:lvl1pPr>
            <a:lvl2pPr>
              <a:defRPr sz="975" b="0">
                <a:solidFill>
                  <a:srgbClr val="B6C8DA"/>
                </a:solidFill>
                <a:latin typeface="Aptos"/>
                <a:ea typeface="Aptos"/>
                <a:cs typeface="Aptos"/>
              </a:defRPr>
            </a:lvl2pPr>
            <a:lvl3pPr>
              <a:defRPr sz="975" b="0">
                <a:solidFill>
                  <a:srgbClr val="B6C8DA"/>
                </a:solidFill>
                <a:latin typeface="Aptos"/>
                <a:ea typeface="Aptos"/>
                <a:cs typeface="Aptos"/>
              </a:defRPr>
            </a:lvl3pPr>
            <a:lvl4pPr>
              <a:defRPr sz="975" b="0">
                <a:solidFill>
                  <a:srgbClr val="B6C8DA"/>
                </a:solidFill>
                <a:latin typeface="Aptos"/>
                <a:ea typeface="Aptos"/>
                <a:cs typeface="Aptos"/>
              </a:defRPr>
            </a:lvl4pPr>
            <a:lvl5pPr>
              <a:defRPr sz="975" b="0">
                <a:solidFill>
                  <a:srgbClr val="B6C8DA"/>
                </a:solidFill>
                <a:latin typeface="Aptos"/>
                <a:ea typeface="Aptos"/>
                <a:cs typeface="Aptos"/>
              </a:defRPr>
            </a:lvl5pPr>
            <a:lvl6pPr>
              <a:defRPr sz="975" b="0">
                <a:solidFill>
                  <a:srgbClr val="B6C8DA"/>
                </a:solidFill>
                <a:latin typeface="Aptos"/>
                <a:ea typeface="Aptos"/>
                <a:cs typeface="Aptos"/>
              </a:defRPr>
            </a:lvl6pPr>
            <a:lvl7pPr>
              <a:defRPr sz="975" b="0">
                <a:solidFill>
                  <a:srgbClr val="B6C8DA"/>
                </a:solidFill>
                <a:latin typeface="Aptos"/>
                <a:ea typeface="Aptos"/>
                <a:cs typeface="Aptos"/>
              </a:defRPr>
            </a:lvl7pPr>
            <a:lvl8pPr>
              <a:defRPr sz="975" b="0">
                <a:solidFill>
                  <a:srgbClr val="B6C8DA"/>
                </a:solidFill>
                <a:latin typeface="Aptos"/>
                <a:ea typeface="Aptos"/>
                <a:cs typeface="Aptos"/>
              </a:defRPr>
            </a:lvl8pPr>
            <a:lvl9pPr>
              <a:defRPr sz="975" b="0">
                <a:solidFill>
                  <a:srgbClr val="B6C8DA"/>
                </a:solidFill>
                <a:latin typeface="Aptos"/>
                <a:ea typeface="Aptos"/>
                <a:cs typeface="Aptos"/>
              </a:defRPr>
            </a:lvl9pPr>
          </a:lstStyle>
          <a:p xmlns:a="http://schemas.openxmlformats.org/drawingml/2006/main">
            <a:pPr>
              <a:defRPr sz="975" b="0">
                <a:solidFill>
                  <a:srgbClr val="B6C8DA"/>
                </a:solidFill>
                <a:latin typeface="Aptos"/>
                <a:ea typeface="Aptos"/>
                <a:cs typeface="Aptos"/>
              </a:defRPr>
            </a:pPr>
            <a:r>
              <a:rPr sz="975" b="0">
                <a:solidFill>
                  <a:srgbClr val="B6C8DA"/>
                </a:solidFill>
                <a:latin typeface="Aptos"/>
                <a:ea typeface="Aptos"/>
                <a:cs typeface="Aptos"/>
              </a:rPr>
              <a:t>Sources: B C D E F</a:t>
            </a:r>
          </a:p>
        </p:txBody>
      </p:sp>
    </p:spTree>
    <p:extLst>
      <p:ext uri="{BB962C8B-B14F-4D97-AF65-F5344CB8AC3E}">
        <p14:creationId xmlns:p14="http://schemas.microsoft.com/office/powerpoint/2010/main" val="191090512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554620DB-0648-486C-8F95-8299AF85F9AD}"/>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300" b="1">
                <a:solidFill>
                  <a:srgbClr val="172C43"/>
                </a:solidFill>
                <a:latin typeface="Aptos"/>
                <a:ea typeface="Aptos"/>
                <a:cs typeface="Aptos"/>
              </a:defRPr>
            </a:defPPr>
            <a:lvl1pPr>
              <a:defRPr sz="3300" b="1">
                <a:solidFill>
                  <a:srgbClr val="172C43"/>
                </a:solidFill>
                <a:latin typeface="Aptos"/>
                <a:ea typeface="Aptos"/>
                <a:cs typeface="Aptos"/>
              </a:defRPr>
            </a:lvl1pPr>
            <a:lvl2pPr>
              <a:defRPr sz="3300" b="1">
                <a:solidFill>
                  <a:srgbClr val="172C43"/>
                </a:solidFill>
                <a:latin typeface="Aptos"/>
                <a:ea typeface="Aptos"/>
                <a:cs typeface="Aptos"/>
              </a:defRPr>
            </a:lvl2pPr>
            <a:lvl3pPr>
              <a:defRPr sz="3300" b="1">
                <a:solidFill>
                  <a:srgbClr val="172C43"/>
                </a:solidFill>
                <a:latin typeface="Aptos"/>
                <a:ea typeface="Aptos"/>
                <a:cs typeface="Aptos"/>
              </a:defRPr>
            </a:lvl3pPr>
            <a:lvl4pPr>
              <a:defRPr sz="3300" b="1">
                <a:solidFill>
                  <a:srgbClr val="172C43"/>
                </a:solidFill>
                <a:latin typeface="Aptos"/>
                <a:ea typeface="Aptos"/>
                <a:cs typeface="Aptos"/>
              </a:defRPr>
            </a:lvl4pPr>
            <a:lvl5pPr>
              <a:defRPr sz="3300" b="1">
                <a:solidFill>
                  <a:srgbClr val="172C43"/>
                </a:solidFill>
                <a:latin typeface="Aptos"/>
                <a:ea typeface="Aptos"/>
                <a:cs typeface="Aptos"/>
              </a:defRPr>
            </a:lvl5pPr>
            <a:lvl6pPr>
              <a:defRPr sz="3300" b="1">
                <a:solidFill>
                  <a:srgbClr val="172C43"/>
                </a:solidFill>
                <a:latin typeface="Aptos"/>
                <a:ea typeface="Aptos"/>
                <a:cs typeface="Aptos"/>
              </a:defRPr>
            </a:lvl6pPr>
            <a:lvl7pPr>
              <a:defRPr sz="3300" b="1">
                <a:solidFill>
                  <a:srgbClr val="172C43"/>
                </a:solidFill>
                <a:latin typeface="Aptos"/>
                <a:ea typeface="Aptos"/>
                <a:cs typeface="Aptos"/>
              </a:defRPr>
            </a:lvl7pPr>
            <a:lvl8pPr>
              <a:defRPr sz="3300" b="1">
                <a:solidFill>
                  <a:srgbClr val="172C43"/>
                </a:solidFill>
                <a:latin typeface="Aptos"/>
                <a:ea typeface="Aptos"/>
                <a:cs typeface="Aptos"/>
              </a:defRPr>
            </a:lvl8pPr>
            <a:lvl9pPr>
              <a:defRPr sz="3300" b="1">
                <a:solidFill>
                  <a:srgbClr val="172C43"/>
                </a:solidFill>
                <a:latin typeface="Aptos"/>
                <a:ea typeface="Aptos"/>
                <a:cs typeface="Aptos"/>
              </a:defRPr>
            </a:lvl9pPr>
          </a:lstStyle>
          <a:p xmlns:a="http://schemas.openxmlformats.org/drawingml/2006/main">
            <a:pPr>
              <a:defRPr sz="3300" b="1">
                <a:solidFill>
                  <a:srgbClr val="172C43"/>
                </a:solidFill>
                <a:latin typeface="Aptos"/>
                <a:ea typeface="Aptos"/>
                <a:cs typeface="Aptos"/>
              </a:defRPr>
            </a:pPr>
            <a:r>
              <a:rPr sz="3300" b="1">
                <a:solidFill>
                  <a:srgbClr val="172C43"/>
                </a:solidFill>
                <a:latin typeface="Aptos"/>
                <a:ea typeface="Aptos"/>
                <a:cs typeface="Aptos"/>
              </a:rPr>
              <a:t>Selected references</a:t>
            </a:r>
          </a:p>
        </p:txBody>
      </p:sp>
      <p:sp>
        <p:nvSpPr>
          <p:cNvPr id="2" name="text-1">
            <a:extLst xmlns:a="http://schemas.openxmlformats.org/drawingml/2006/main">
              <a:ext uri="{FF2B5EF4-FFF2-40B4-BE49-F238E27FC236}">
                <a16:creationId xmlns:a16="http://schemas.microsoft.com/office/drawing/2014/main" id="{3AB1B51D-4D86-4EA9-8BA6-928242E8B53B}"/>
              </a:ext>
            </a:extLst>
          </p:cNvPr>
          <p:cNvSpPr>
            <a:spLocks xmlns:a="http://schemas.openxmlformats.org/drawingml/2006/main" noGrp="1"/>
          </p:cNvSpPr>
          <p:nvPr/>
        </p:nvSpPr>
        <p:spPr>
          <a:xfrm xmlns:a="http://schemas.openxmlformats.org/drawingml/2006/main">
            <a:off x="685800" y="17621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A</a:t>
            </a:r>
          </a:p>
        </p:txBody>
      </p:sp>
      <p:sp>
        <p:nvSpPr>
          <p:cNvPr id="3" name="text-2">
            <a:extLst xmlns:a="http://schemas.openxmlformats.org/drawingml/2006/main">
              <a:ext uri="{FF2B5EF4-FFF2-40B4-BE49-F238E27FC236}">
                <a16:creationId xmlns:a16="http://schemas.microsoft.com/office/drawing/2014/main" id="{3228E57B-5510-4F41-A409-F2BB425A199C}"/>
              </a:ext>
            </a:extLst>
          </p:cNvPr>
          <p:cNvSpPr>
            <a:spLocks xmlns:a="http://schemas.openxmlformats.org/drawingml/2006/main" noGrp="1"/>
          </p:cNvSpPr>
          <p:nvPr/>
        </p:nvSpPr>
        <p:spPr>
          <a:xfrm xmlns:a="http://schemas.openxmlformats.org/drawingml/2006/main">
            <a:off x="1257300" y="17430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Arshad Hisham, official biography and initiatives</a:t>
            </a:r>
          </a:p>
        </p:txBody>
      </p:sp>
      <p:sp>
        <p:nvSpPr>
          <p:cNvPr id="4" name="text-3">
            <a:extLst xmlns:a="http://schemas.openxmlformats.org/drawingml/2006/main">
              <a:ext uri="{FF2B5EF4-FFF2-40B4-BE49-F238E27FC236}">
                <a16:creationId xmlns:a16="http://schemas.microsoft.com/office/drawing/2014/main" id="{487E253A-25DE-425E-9215-A5565898E226}"/>
              </a:ext>
            </a:extLst>
          </p:cNvPr>
          <p:cNvSpPr>
            <a:spLocks xmlns:a="http://schemas.openxmlformats.org/drawingml/2006/main" noGrp="1"/>
          </p:cNvSpPr>
          <p:nvPr/>
        </p:nvSpPr>
        <p:spPr>
          <a:xfrm xmlns:a="http://schemas.openxmlformats.org/drawingml/2006/main">
            <a:off x="1257300" y="20574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arshadhisham.com</a:t>
            </a:r>
          </a:p>
        </p:txBody>
      </p:sp>
      <p:sp>
        <p:nvSpPr>
          <p:cNvPr id="5" name="text-4">
            <a:extLst xmlns:a="http://schemas.openxmlformats.org/drawingml/2006/main">
              <a:ext uri="{FF2B5EF4-FFF2-40B4-BE49-F238E27FC236}">
                <a16:creationId xmlns:a16="http://schemas.microsoft.com/office/drawing/2014/main" id="{9F16E539-AADB-4E84-BFAA-1ABDDED8DC96}"/>
              </a:ext>
            </a:extLst>
          </p:cNvPr>
          <p:cNvSpPr>
            <a:spLocks xmlns:a="http://schemas.openxmlformats.org/drawingml/2006/main" noGrp="1"/>
          </p:cNvSpPr>
          <p:nvPr/>
        </p:nvSpPr>
        <p:spPr>
          <a:xfrm xmlns:a="http://schemas.openxmlformats.org/drawingml/2006/main">
            <a:off x="685800" y="24479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B</a:t>
            </a:r>
          </a:p>
        </p:txBody>
      </p:sp>
      <p:sp>
        <p:nvSpPr>
          <p:cNvPr id="6" name="text-5">
            <a:extLst xmlns:a="http://schemas.openxmlformats.org/drawingml/2006/main">
              <a:ext uri="{FF2B5EF4-FFF2-40B4-BE49-F238E27FC236}">
                <a16:creationId xmlns:a16="http://schemas.microsoft.com/office/drawing/2014/main" id="{2EA0D8FA-B4DD-4CC8-9749-33B8E304E979}"/>
              </a:ext>
            </a:extLst>
          </p:cNvPr>
          <p:cNvSpPr>
            <a:spLocks xmlns:a="http://schemas.openxmlformats.org/drawingml/2006/main" noGrp="1"/>
          </p:cNvSpPr>
          <p:nvPr/>
        </p:nvSpPr>
        <p:spPr>
          <a:xfrm xmlns:a="http://schemas.openxmlformats.org/drawingml/2006/main">
            <a:off x="1257300" y="24288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inGen Dynamics, 2023 preliminary offering circular</a:t>
            </a:r>
          </a:p>
        </p:txBody>
      </p:sp>
      <p:sp>
        <p:nvSpPr>
          <p:cNvPr id="7" name="text-6">
            <a:extLst xmlns:a="http://schemas.openxmlformats.org/drawingml/2006/main">
              <a:ext uri="{FF2B5EF4-FFF2-40B4-BE49-F238E27FC236}">
                <a16:creationId xmlns:a16="http://schemas.microsoft.com/office/drawing/2014/main" id="{73123C21-B5A4-4CE9-B25F-48503C5066D0}"/>
              </a:ext>
            </a:extLst>
          </p:cNvPr>
          <p:cNvSpPr>
            <a:spLocks xmlns:a="http://schemas.openxmlformats.org/drawingml/2006/main" noGrp="1"/>
          </p:cNvSpPr>
          <p:nvPr/>
        </p:nvSpPr>
        <p:spPr>
          <a:xfrm xmlns:a="http://schemas.openxmlformats.org/drawingml/2006/main">
            <a:off x="1257300" y="27432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SEC EDGAR, April 21, 2023</a:t>
            </a:r>
          </a:p>
        </p:txBody>
      </p:sp>
      <p:sp>
        <p:nvSpPr>
          <p:cNvPr id="8" name="text-7">
            <a:extLst xmlns:a="http://schemas.openxmlformats.org/drawingml/2006/main">
              <a:ext uri="{FF2B5EF4-FFF2-40B4-BE49-F238E27FC236}">
                <a16:creationId xmlns:a16="http://schemas.microsoft.com/office/drawing/2014/main" id="{3755B069-F1EB-4870-9C20-A4A029B393A0}"/>
              </a:ext>
            </a:extLst>
          </p:cNvPr>
          <p:cNvSpPr>
            <a:spLocks xmlns:a="http://schemas.openxmlformats.org/drawingml/2006/main" noGrp="1"/>
          </p:cNvSpPr>
          <p:nvPr/>
        </p:nvSpPr>
        <p:spPr>
          <a:xfrm xmlns:a="http://schemas.openxmlformats.org/drawingml/2006/main">
            <a:off x="685800" y="31337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C</a:t>
            </a:r>
          </a:p>
        </p:txBody>
      </p:sp>
      <p:sp>
        <p:nvSpPr>
          <p:cNvPr id="9" name="text-8">
            <a:extLst xmlns:a="http://schemas.openxmlformats.org/drawingml/2006/main">
              <a:ext uri="{FF2B5EF4-FFF2-40B4-BE49-F238E27FC236}">
                <a16:creationId xmlns:a16="http://schemas.microsoft.com/office/drawing/2014/main" id="{3AB0B05F-65D4-49DD-8A35-09EA862E2036}"/>
              </a:ext>
            </a:extLst>
          </p:cNvPr>
          <p:cNvSpPr>
            <a:spLocks xmlns:a="http://schemas.openxmlformats.org/drawingml/2006/main" noGrp="1"/>
          </p:cNvSpPr>
          <p:nvPr/>
        </p:nvSpPr>
        <p:spPr>
          <a:xfrm xmlns:a="http://schemas.openxmlformats.org/drawingml/2006/main">
            <a:off x="1257300" y="31146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inGen Dynamics, current product portfolio</a:t>
            </a:r>
          </a:p>
        </p:txBody>
      </p:sp>
      <p:sp>
        <p:nvSpPr>
          <p:cNvPr id="10" name="text-9">
            <a:extLst xmlns:a="http://schemas.openxmlformats.org/drawingml/2006/main">
              <a:ext uri="{FF2B5EF4-FFF2-40B4-BE49-F238E27FC236}">
                <a16:creationId xmlns:a16="http://schemas.microsoft.com/office/drawing/2014/main" id="{0BF8E3A1-60B9-4D93-AD34-81E329F7D015}"/>
              </a:ext>
            </a:extLst>
          </p:cNvPr>
          <p:cNvSpPr>
            <a:spLocks xmlns:a="http://schemas.openxmlformats.org/drawingml/2006/main" noGrp="1"/>
          </p:cNvSpPr>
          <p:nvPr/>
        </p:nvSpPr>
        <p:spPr>
          <a:xfrm xmlns:a="http://schemas.openxmlformats.org/drawingml/2006/main">
            <a:off x="1257300" y="34290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ingendynamics.com</a:t>
            </a:r>
          </a:p>
        </p:txBody>
      </p:sp>
      <p:sp>
        <p:nvSpPr>
          <p:cNvPr id="11" name="text-10">
            <a:extLst xmlns:a="http://schemas.openxmlformats.org/drawingml/2006/main">
              <a:ext uri="{FF2B5EF4-FFF2-40B4-BE49-F238E27FC236}">
                <a16:creationId xmlns:a16="http://schemas.microsoft.com/office/drawing/2014/main" id="{D177EF82-D012-4C11-A3F8-CEA03EC5B2AD}"/>
              </a:ext>
            </a:extLst>
          </p:cNvPr>
          <p:cNvSpPr>
            <a:spLocks xmlns:a="http://schemas.openxmlformats.org/drawingml/2006/main" noGrp="1"/>
          </p:cNvSpPr>
          <p:nvPr/>
        </p:nvSpPr>
        <p:spPr>
          <a:xfrm xmlns:a="http://schemas.openxmlformats.org/drawingml/2006/main">
            <a:off x="685800" y="38195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D</a:t>
            </a:r>
          </a:p>
        </p:txBody>
      </p:sp>
      <p:sp>
        <p:nvSpPr>
          <p:cNvPr id="12" name="text-11">
            <a:extLst xmlns:a="http://schemas.openxmlformats.org/drawingml/2006/main">
              <a:ext uri="{FF2B5EF4-FFF2-40B4-BE49-F238E27FC236}">
                <a16:creationId xmlns:a16="http://schemas.microsoft.com/office/drawing/2014/main" id="{E40014F1-2E13-4377-84F2-7C727BA2F798}"/>
              </a:ext>
            </a:extLst>
          </p:cNvPr>
          <p:cNvSpPr>
            <a:spLocks xmlns:a="http://schemas.openxmlformats.org/drawingml/2006/main" noGrp="1"/>
          </p:cNvSpPr>
          <p:nvPr/>
        </p:nvSpPr>
        <p:spPr>
          <a:xfrm xmlns:a="http://schemas.openxmlformats.org/drawingml/2006/main">
            <a:off x="1257300" y="38004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University of Manchester, partnership announcement</a:t>
            </a:r>
          </a:p>
        </p:txBody>
      </p:sp>
      <p:sp>
        <p:nvSpPr>
          <p:cNvPr id="13" name="text-12">
            <a:extLst xmlns:a="http://schemas.openxmlformats.org/drawingml/2006/main">
              <a:ext uri="{FF2B5EF4-FFF2-40B4-BE49-F238E27FC236}">
                <a16:creationId xmlns:a16="http://schemas.microsoft.com/office/drawing/2014/main" id="{AAE5A0CB-C54E-42FF-B16A-3BF994A63FA9}"/>
              </a:ext>
            </a:extLst>
          </p:cNvPr>
          <p:cNvSpPr>
            <a:spLocks xmlns:a="http://schemas.openxmlformats.org/drawingml/2006/main" noGrp="1"/>
          </p:cNvSpPr>
          <p:nvPr/>
        </p:nvSpPr>
        <p:spPr>
          <a:xfrm xmlns:a="http://schemas.openxmlformats.org/drawingml/2006/main">
            <a:off x="1257300" y="41148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April 10, 2025</a:t>
            </a:r>
          </a:p>
        </p:txBody>
      </p:sp>
      <p:sp>
        <p:nvSpPr>
          <p:cNvPr id="14" name="text-13">
            <a:extLst xmlns:a="http://schemas.openxmlformats.org/drawingml/2006/main">
              <a:ext uri="{FF2B5EF4-FFF2-40B4-BE49-F238E27FC236}">
                <a16:creationId xmlns:a16="http://schemas.microsoft.com/office/drawing/2014/main" id="{ADFF5EF2-53F1-407B-B6A2-CCF301FCA9BD}"/>
              </a:ext>
            </a:extLst>
          </p:cNvPr>
          <p:cNvSpPr>
            <a:spLocks xmlns:a="http://schemas.openxmlformats.org/drawingml/2006/main" noGrp="1"/>
          </p:cNvSpPr>
          <p:nvPr/>
        </p:nvSpPr>
        <p:spPr>
          <a:xfrm xmlns:a="http://schemas.openxmlformats.org/drawingml/2006/main">
            <a:off x="685800" y="45053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E</a:t>
            </a:r>
          </a:p>
        </p:txBody>
      </p:sp>
      <p:sp>
        <p:nvSpPr>
          <p:cNvPr id="15" name="text-14">
            <a:extLst xmlns:a="http://schemas.openxmlformats.org/drawingml/2006/main">
              <a:ext uri="{FF2B5EF4-FFF2-40B4-BE49-F238E27FC236}">
                <a16:creationId xmlns:a16="http://schemas.microsoft.com/office/drawing/2014/main" id="{27E02414-3FA3-4426-8102-B73BE26063E4}"/>
              </a:ext>
            </a:extLst>
          </p:cNvPr>
          <p:cNvSpPr>
            <a:spLocks xmlns:a="http://schemas.openxmlformats.org/drawingml/2006/main" noGrp="1"/>
          </p:cNvSpPr>
          <p:nvPr/>
        </p:nvSpPr>
        <p:spPr>
          <a:xfrm xmlns:a="http://schemas.openxmlformats.org/drawingml/2006/main">
            <a:off x="1257300" y="44862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inGen Dynamics, 2025 Form C-AR</a:t>
            </a:r>
          </a:p>
        </p:txBody>
      </p:sp>
      <p:sp>
        <p:nvSpPr>
          <p:cNvPr id="16" name="text-15">
            <a:extLst xmlns:a="http://schemas.openxmlformats.org/drawingml/2006/main">
              <a:ext uri="{FF2B5EF4-FFF2-40B4-BE49-F238E27FC236}">
                <a16:creationId xmlns:a16="http://schemas.microsoft.com/office/drawing/2014/main" id="{FE3BC5BD-FD95-4773-B9B1-6A297CB98198}"/>
              </a:ext>
            </a:extLst>
          </p:cNvPr>
          <p:cNvSpPr>
            <a:spLocks xmlns:a="http://schemas.openxmlformats.org/drawingml/2006/main" noGrp="1"/>
          </p:cNvSpPr>
          <p:nvPr/>
        </p:nvSpPr>
        <p:spPr>
          <a:xfrm xmlns:a="http://schemas.openxmlformats.org/drawingml/2006/main">
            <a:off x="1257300" y="48006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SEC EDGAR, financial statements and Note 10</a:t>
            </a:r>
          </a:p>
        </p:txBody>
      </p:sp>
      <p:sp>
        <p:nvSpPr>
          <p:cNvPr id="17" name="text-16">
            <a:extLst xmlns:a="http://schemas.openxmlformats.org/drawingml/2006/main">
              <a:ext uri="{FF2B5EF4-FFF2-40B4-BE49-F238E27FC236}">
                <a16:creationId xmlns:a16="http://schemas.microsoft.com/office/drawing/2014/main" id="{726BFC5E-E965-4DDD-89B3-6422482E2C96}"/>
              </a:ext>
            </a:extLst>
          </p:cNvPr>
          <p:cNvSpPr>
            <a:spLocks xmlns:a="http://schemas.openxmlformats.org/drawingml/2006/main" noGrp="1"/>
          </p:cNvSpPr>
          <p:nvPr/>
        </p:nvSpPr>
        <p:spPr>
          <a:xfrm xmlns:a="http://schemas.openxmlformats.org/drawingml/2006/main">
            <a:off x="685800" y="51911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B68743"/>
                </a:solidFill>
                <a:latin typeface="Aptos"/>
                <a:ea typeface="Aptos"/>
                <a:cs typeface="Aptos"/>
              </a:defRPr>
            </a:defPPr>
            <a:lvl1pPr>
              <a:defRPr sz="1800" b="1">
                <a:solidFill>
                  <a:srgbClr val="B68743"/>
                </a:solidFill>
                <a:latin typeface="Aptos"/>
                <a:ea typeface="Aptos"/>
                <a:cs typeface="Aptos"/>
              </a:defRPr>
            </a:lvl1pPr>
            <a:lvl2pPr>
              <a:defRPr sz="1800" b="1">
                <a:solidFill>
                  <a:srgbClr val="B68743"/>
                </a:solidFill>
                <a:latin typeface="Aptos"/>
                <a:ea typeface="Aptos"/>
                <a:cs typeface="Aptos"/>
              </a:defRPr>
            </a:lvl2pPr>
            <a:lvl3pPr>
              <a:defRPr sz="1800" b="1">
                <a:solidFill>
                  <a:srgbClr val="B68743"/>
                </a:solidFill>
                <a:latin typeface="Aptos"/>
                <a:ea typeface="Aptos"/>
                <a:cs typeface="Aptos"/>
              </a:defRPr>
            </a:lvl3pPr>
            <a:lvl4pPr>
              <a:defRPr sz="1800" b="1">
                <a:solidFill>
                  <a:srgbClr val="B68743"/>
                </a:solidFill>
                <a:latin typeface="Aptos"/>
                <a:ea typeface="Aptos"/>
                <a:cs typeface="Aptos"/>
              </a:defRPr>
            </a:lvl4pPr>
            <a:lvl5pPr>
              <a:defRPr sz="1800" b="1">
                <a:solidFill>
                  <a:srgbClr val="B68743"/>
                </a:solidFill>
                <a:latin typeface="Aptos"/>
                <a:ea typeface="Aptos"/>
                <a:cs typeface="Aptos"/>
              </a:defRPr>
            </a:lvl5pPr>
            <a:lvl6pPr>
              <a:defRPr sz="1800" b="1">
                <a:solidFill>
                  <a:srgbClr val="B68743"/>
                </a:solidFill>
                <a:latin typeface="Aptos"/>
                <a:ea typeface="Aptos"/>
                <a:cs typeface="Aptos"/>
              </a:defRPr>
            </a:lvl6pPr>
            <a:lvl7pPr>
              <a:defRPr sz="1800" b="1">
                <a:solidFill>
                  <a:srgbClr val="B68743"/>
                </a:solidFill>
                <a:latin typeface="Aptos"/>
                <a:ea typeface="Aptos"/>
                <a:cs typeface="Aptos"/>
              </a:defRPr>
            </a:lvl7pPr>
            <a:lvl8pPr>
              <a:defRPr sz="1800" b="1">
                <a:solidFill>
                  <a:srgbClr val="B68743"/>
                </a:solidFill>
                <a:latin typeface="Aptos"/>
                <a:ea typeface="Aptos"/>
                <a:cs typeface="Aptos"/>
              </a:defRPr>
            </a:lvl8pPr>
            <a:lvl9pPr>
              <a:defRPr sz="1800" b="1">
                <a:solidFill>
                  <a:srgbClr val="B68743"/>
                </a:solidFill>
                <a:latin typeface="Aptos"/>
                <a:ea typeface="Aptos"/>
                <a:cs typeface="Aptos"/>
              </a:defRPr>
            </a:lvl9pPr>
          </a:lstStyle>
          <a:p xmlns:a="http://schemas.openxmlformats.org/drawingml/2006/main">
            <a:pPr>
              <a:defRPr sz="1800" b="1">
                <a:solidFill>
                  <a:srgbClr val="B68743"/>
                </a:solidFill>
                <a:latin typeface="Aptos"/>
                <a:ea typeface="Aptos"/>
                <a:cs typeface="Aptos"/>
              </a:defRPr>
            </a:pPr>
            <a:r>
              <a:rPr sz="1800" b="1">
                <a:solidFill>
                  <a:srgbClr val="B68743"/>
                </a:solidFill>
                <a:latin typeface="Aptos"/>
                <a:ea typeface="Aptos"/>
                <a:cs typeface="Aptos"/>
              </a:rPr>
              <a:t>F</a:t>
            </a:r>
          </a:p>
        </p:txBody>
      </p:sp>
      <p:sp>
        <p:nvSpPr>
          <p:cNvPr id="18" name="text-17">
            <a:extLst xmlns:a="http://schemas.openxmlformats.org/drawingml/2006/main">
              <a:ext uri="{FF2B5EF4-FFF2-40B4-BE49-F238E27FC236}">
                <a16:creationId xmlns:a16="http://schemas.microsoft.com/office/drawing/2014/main" id="{0FFB87D3-C934-4FBB-8863-CCA8B12A62EB}"/>
              </a:ext>
            </a:extLst>
          </p:cNvPr>
          <p:cNvSpPr>
            <a:spLocks xmlns:a="http://schemas.openxmlformats.org/drawingml/2006/main" noGrp="1"/>
          </p:cNvSpPr>
          <p:nvPr/>
        </p:nvSpPr>
        <p:spPr>
          <a:xfrm xmlns:a="http://schemas.openxmlformats.org/drawingml/2006/main">
            <a:off x="1257300" y="5172075"/>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1">
                <a:solidFill>
                  <a:srgbClr val="172C43"/>
                </a:solidFill>
                <a:latin typeface="Aptos"/>
                <a:ea typeface="Aptos"/>
                <a:cs typeface="Aptos"/>
              </a:defRPr>
            </a:defPPr>
            <a:lvl1pPr>
              <a:defRPr sz="1800" b="1">
                <a:solidFill>
                  <a:srgbClr val="172C43"/>
                </a:solidFill>
                <a:latin typeface="Aptos"/>
                <a:ea typeface="Aptos"/>
                <a:cs typeface="Aptos"/>
              </a:defRPr>
            </a:lvl1pPr>
            <a:lvl2pPr>
              <a:defRPr sz="1800" b="1">
                <a:solidFill>
                  <a:srgbClr val="172C43"/>
                </a:solidFill>
                <a:latin typeface="Aptos"/>
                <a:ea typeface="Aptos"/>
                <a:cs typeface="Aptos"/>
              </a:defRPr>
            </a:lvl2pPr>
            <a:lvl3pPr>
              <a:defRPr sz="1800" b="1">
                <a:solidFill>
                  <a:srgbClr val="172C43"/>
                </a:solidFill>
                <a:latin typeface="Aptos"/>
                <a:ea typeface="Aptos"/>
                <a:cs typeface="Aptos"/>
              </a:defRPr>
            </a:lvl3pPr>
            <a:lvl4pPr>
              <a:defRPr sz="1800" b="1">
                <a:solidFill>
                  <a:srgbClr val="172C43"/>
                </a:solidFill>
                <a:latin typeface="Aptos"/>
                <a:ea typeface="Aptos"/>
                <a:cs typeface="Aptos"/>
              </a:defRPr>
            </a:lvl4pPr>
            <a:lvl5pPr>
              <a:defRPr sz="1800" b="1">
                <a:solidFill>
                  <a:srgbClr val="172C43"/>
                </a:solidFill>
                <a:latin typeface="Aptos"/>
                <a:ea typeface="Aptos"/>
                <a:cs typeface="Aptos"/>
              </a:defRPr>
            </a:lvl5pPr>
            <a:lvl6pPr>
              <a:defRPr sz="1800" b="1">
                <a:solidFill>
                  <a:srgbClr val="172C43"/>
                </a:solidFill>
                <a:latin typeface="Aptos"/>
                <a:ea typeface="Aptos"/>
                <a:cs typeface="Aptos"/>
              </a:defRPr>
            </a:lvl6pPr>
            <a:lvl7pPr>
              <a:defRPr sz="1800" b="1">
                <a:solidFill>
                  <a:srgbClr val="172C43"/>
                </a:solidFill>
                <a:latin typeface="Aptos"/>
                <a:ea typeface="Aptos"/>
                <a:cs typeface="Aptos"/>
              </a:defRPr>
            </a:lvl7pPr>
            <a:lvl8pPr>
              <a:defRPr sz="1800" b="1">
                <a:solidFill>
                  <a:srgbClr val="172C43"/>
                </a:solidFill>
                <a:latin typeface="Aptos"/>
                <a:ea typeface="Aptos"/>
                <a:cs typeface="Aptos"/>
              </a:defRPr>
            </a:lvl8pPr>
            <a:lvl9pPr>
              <a:defRPr sz="1800" b="1">
                <a:solidFill>
                  <a:srgbClr val="172C43"/>
                </a:solidFill>
                <a:latin typeface="Aptos"/>
                <a:ea typeface="Aptos"/>
                <a:cs typeface="Aptos"/>
              </a:defRPr>
            </a:lvl9pPr>
          </a:lstStyle>
          <a:p xmlns:a="http://schemas.openxmlformats.org/drawingml/2006/main">
            <a:pPr>
              <a:defRPr sz="1800" b="1">
                <a:solidFill>
                  <a:srgbClr val="172C43"/>
                </a:solidFill>
                <a:latin typeface="Aptos"/>
                <a:ea typeface="Aptos"/>
                <a:cs typeface="Aptos"/>
              </a:defRPr>
            </a:pPr>
            <a:r>
              <a:rPr sz="1800" b="1">
                <a:solidFill>
                  <a:srgbClr val="172C43"/>
                </a:solidFill>
                <a:latin typeface="Aptos"/>
                <a:ea typeface="Aptos"/>
                <a:cs typeface="Aptos"/>
              </a:rPr>
              <a:t>inGen Dynamics, Edison Awards announcement</a:t>
            </a:r>
          </a:p>
        </p:txBody>
      </p:sp>
      <p:sp>
        <p:nvSpPr>
          <p:cNvPr id="19" name="text-18">
            <a:extLst xmlns:a="http://schemas.openxmlformats.org/drawingml/2006/main">
              <a:ext uri="{FF2B5EF4-FFF2-40B4-BE49-F238E27FC236}">
                <a16:creationId xmlns:a16="http://schemas.microsoft.com/office/drawing/2014/main" id="{FA2E52F2-AF52-43DA-AF62-1B30A10D6F68}"/>
              </a:ext>
            </a:extLst>
          </p:cNvPr>
          <p:cNvSpPr>
            <a:spLocks xmlns:a="http://schemas.openxmlformats.org/drawingml/2006/main" noGrp="1"/>
          </p:cNvSpPr>
          <p:nvPr/>
        </p:nvSpPr>
        <p:spPr>
          <a:xfrm xmlns:a="http://schemas.openxmlformats.org/drawingml/2006/main">
            <a:off x="1257300" y="54864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526477"/>
                </a:solidFill>
                <a:latin typeface="Aptos"/>
                <a:ea typeface="Aptos"/>
                <a:cs typeface="Aptos"/>
              </a:defRPr>
            </a:defPPr>
            <a:lvl1pPr>
              <a:defRPr sz="1350" b="0">
                <a:solidFill>
                  <a:srgbClr val="526477"/>
                </a:solidFill>
                <a:latin typeface="Aptos"/>
                <a:ea typeface="Aptos"/>
                <a:cs typeface="Aptos"/>
              </a:defRPr>
            </a:lvl1pPr>
            <a:lvl2pPr>
              <a:defRPr sz="1350" b="0">
                <a:solidFill>
                  <a:srgbClr val="526477"/>
                </a:solidFill>
                <a:latin typeface="Aptos"/>
                <a:ea typeface="Aptos"/>
                <a:cs typeface="Aptos"/>
              </a:defRPr>
            </a:lvl2pPr>
            <a:lvl3pPr>
              <a:defRPr sz="1350" b="0">
                <a:solidFill>
                  <a:srgbClr val="526477"/>
                </a:solidFill>
                <a:latin typeface="Aptos"/>
                <a:ea typeface="Aptos"/>
                <a:cs typeface="Aptos"/>
              </a:defRPr>
            </a:lvl3pPr>
            <a:lvl4pPr>
              <a:defRPr sz="1350" b="0">
                <a:solidFill>
                  <a:srgbClr val="526477"/>
                </a:solidFill>
                <a:latin typeface="Aptos"/>
                <a:ea typeface="Aptos"/>
                <a:cs typeface="Aptos"/>
              </a:defRPr>
            </a:lvl4pPr>
            <a:lvl5pPr>
              <a:defRPr sz="1350" b="0">
                <a:solidFill>
                  <a:srgbClr val="526477"/>
                </a:solidFill>
                <a:latin typeface="Aptos"/>
                <a:ea typeface="Aptos"/>
                <a:cs typeface="Aptos"/>
              </a:defRPr>
            </a:lvl5pPr>
            <a:lvl6pPr>
              <a:defRPr sz="1350" b="0">
                <a:solidFill>
                  <a:srgbClr val="526477"/>
                </a:solidFill>
                <a:latin typeface="Aptos"/>
                <a:ea typeface="Aptos"/>
                <a:cs typeface="Aptos"/>
              </a:defRPr>
            </a:lvl6pPr>
            <a:lvl7pPr>
              <a:defRPr sz="1350" b="0">
                <a:solidFill>
                  <a:srgbClr val="526477"/>
                </a:solidFill>
                <a:latin typeface="Aptos"/>
                <a:ea typeface="Aptos"/>
                <a:cs typeface="Aptos"/>
              </a:defRPr>
            </a:lvl7pPr>
            <a:lvl8pPr>
              <a:defRPr sz="1350" b="0">
                <a:solidFill>
                  <a:srgbClr val="526477"/>
                </a:solidFill>
                <a:latin typeface="Aptos"/>
                <a:ea typeface="Aptos"/>
                <a:cs typeface="Aptos"/>
              </a:defRPr>
            </a:lvl8pPr>
            <a:lvl9pPr>
              <a:defRPr sz="1350" b="0">
                <a:solidFill>
                  <a:srgbClr val="526477"/>
                </a:solidFill>
                <a:latin typeface="Aptos"/>
                <a:ea typeface="Aptos"/>
                <a:cs typeface="Aptos"/>
              </a:defRPr>
            </a:lvl9pPr>
          </a:lstStyle>
          <a:p xmlns:a="http://schemas.openxmlformats.org/drawingml/2006/main">
            <a:pPr>
              <a:defRPr sz="1350" b="0">
                <a:solidFill>
                  <a:srgbClr val="526477"/>
                </a:solidFill>
                <a:latin typeface="Aptos"/>
                <a:ea typeface="Aptos"/>
                <a:cs typeface="Aptos"/>
              </a:defRPr>
            </a:pPr>
            <a:r>
              <a:rPr sz="1350" b="0">
                <a:solidFill>
                  <a:srgbClr val="526477"/>
                </a:solidFill>
                <a:latin typeface="Aptos"/>
                <a:ea typeface="Aptos"/>
                <a:cs typeface="Aptos"/>
              </a:rPr>
              <a:t>EINPresswire, May 18, 2021</a:t>
            </a:r>
          </a:p>
        </p:txBody>
      </p:sp>
      <p:sp>
        <p:nvSpPr>
          <p:cNvPr id="20" name="text-19">
            <a:extLst xmlns:a="http://schemas.openxmlformats.org/drawingml/2006/main">
              <a:ext uri="{FF2B5EF4-FFF2-40B4-BE49-F238E27FC236}">
                <a16:creationId xmlns:a16="http://schemas.microsoft.com/office/drawing/2014/main" id="{A68AD7E2-2FC6-4573-A558-2794F37F7B96}"/>
              </a:ext>
            </a:extLst>
          </p:cNvPr>
          <p:cNvSpPr>
            <a:spLocks xmlns:a="http://schemas.openxmlformats.org/drawingml/2006/main" noGrp="1"/>
          </p:cNvSpPr>
          <p:nvPr/>
        </p:nvSpPr>
        <p:spPr>
          <a:xfrm xmlns:a="http://schemas.openxmlformats.org/drawingml/2006/main">
            <a:off x="685800" y="60864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Source URLs, image credits and qualifications appear in slide notes.</a:t>
            </a:r>
          </a:p>
        </p:txBody>
      </p:sp>
      <p:sp>
        <p:nvSpPr>
          <p:cNvPr id="21" name="text-20">
            <a:extLst xmlns:a="http://schemas.openxmlformats.org/drawingml/2006/main">
              <a:ext uri="{FF2B5EF4-FFF2-40B4-BE49-F238E27FC236}">
                <a16:creationId xmlns:a16="http://schemas.microsoft.com/office/drawing/2014/main" id="{9DA43DB5-77D9-4510-A2EB-955B44F78AD0}"/>
              </a:ext>
            </a:extLst>
          </p:cNvPr>
          <p:cNvSpPr>
            <a:spLocks xmlns:a="http://schemas.openxmlformats.org/drawingml/2006/main" noGrp="1"/>
          </p:cNvSpPr>
          <p:nvPr/>
        </p:nvSpPr>
        <p:spPr>
          <a:xfrm xmlns:a="http://schemas.openxmlformats.org/drawingml/2006/main">
            <a:off x="685800" y="65722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75" b="0">
                <a:solidFill>
                  <a:srgbClr val="526477"/>
                </a:solidFill>
                <a:latin typeface="Aptos"/>
                <a:ea typeface="Aptos"/>
                <a:cs typeface="Aptos"/>
              </a:defRPr>
            </a:defPPr>
            <a:lvl1pPr>
              <a:defRPr sz="975" b="0">
                <a:solidFill>
                  <a:srgbClr val="526477"/>
                </a:solidFill>
                <a:latin typeface="Aptos"/>
                <a:ea typeface="Aptos"/>
                <a:cs typeface="Aptos"/>
              </a:defRPr>
            </a:lvl1pPr>
            <a:lvl2pPr>
              <a:defRPr sz="975" b="0">
                <a:solidFill>
                  <a:srgbClr val="526477"/>
                </a:solidFill>
                <a:latin typeface="Aptos"/>
                <a:ea typeface="Aptos"/>
                <a:cs typeface="Aptos"/>
              </a:defRPr>
            </a:lvl2pPr>
            <a:lvl3pPr>
              <a:defRPr sz="975" b="0">
                <a:solidFill>
                  <a:srgbClr val="526477"/>
                </a:solidFill>
                <a:latin typeface="Aptos"/>
                <a:ea typeface="Aptos"/>
                <a:cs typeface="Aptos"/>
              </a:defRPr>
            </a:lvl3pPr>
            <a:lvl4pPr>
              <a:defRPr sz="975" b="0">
                <a:solidFill>
                  <a:srgbClr val="526477"/>
                </a:solidFill>
                <a:latin typeface="Aptos"/>
                <a:ea typeface="Aptos"/>
                <a:cs typeface="Aptos"/>
              </a:defRPr>
            </a:lvl4pPr>
            <a:lvl5pPr>
              <a:defRPr sz="975" b="0">
                <a:solidFill>
                  <a:srgbClr val="526477"/>
                </a:solidFill>
                <a:latin typeface="Aptos"/>
                <a:ea typeface="Aptos"/>
                <a:cs typeface="Aptos"/>
              </a:defRPr>
            </a:lvl5pPr>
            <a:lvl6pPr>
              <a:defRPr sz="975" b="0">
                <a:solidFill>
                  <a:srgbClr val="526477"/>
                </a:solidFill>
                <a:latin typeface="Aptos"/>
                <a:ea typeface="Aptos"/>
                <a:cs typeface="Aptos"/>
              </a:defRPr>
            </a:lvl6pPr>
            <a:lvl7pPr>
              <a:defRPr sz="975" b="0">
                <a:solidFill>
                  <a:srgbClr val="526477"/>
                </a:solidFill>
                <a:latin typeface="Aptos"/>
                <a:ea typeface="Aptos"/>
                <a:cs typeface="Aptos"/>
              </a:defRPr>
            </a:lvl7pPr>
            <a:lvl8pPr>
              <a:defRPr sz="975" b="0">
                <a:solidFill>
                  <a:srgbClr val="526477"/>
                </a:solidFill>
                <a:latin typeface="Aptos"/>
                <a:ea typeface="Aptos"/>
                <a:cs typeface="Aptos"/>
              </a:defRPr>
            </a:lvl8pPr>
            <a:lvl9pPr>
              <a:defRPr sz="975" b="0">
                <a:solidFill>
                  <a:srgbClr val="526477"/>
                </a:solidFill>
                <a:latin typeface="Aptos"/>
                <a:ea typeface="Aptos"/>
                <a:cs typeface="Aptos"/>
              </a:defRPr>
            </a:lvl9pPr>
          </a:lstStyle>
          <a:p xmlns:a="http://schemas.openxmlformats.org/drawingml/2006/main">
            <a:pPr>
              <a:defRPr sz="975" b="0">
                <a:solidFill>
                  <a:srgbClr val="526477"/>
                </a:solidFill>
                <a:latin typeface="Aptos"/>
                <a:ea typeface="Aptos"/>
                <a:cs typeface="Aptos"/>
              </a:defRPr>
            </a:pPr>
            <a:r>
              <a:rPr sz="975" b="0">
                <a:solidFill>
                  <a:srgbClr val="526477"/>
                </a:solidFill>
                <a:latin typeface="Aptos"/>
                <a:ea typeface="Aptos"/>
                <a:cs typeface="Aptos"/>
              </a:rPr>
              <a:t>INGEN DYNAMICS</a:t>
            </a:r>
          </a:p>
        </p:txBody>
      </p:sp>
      <p:sp>
        <p:nvSpPr>
          <p:cNvPr id="22" name="text-21">
            <a:extLst xmlns:a="http://schemas.openxmlformats.org/drawingml/2006/main">
              <a:ext uri="{FF2B5EF4-FFF2-40B4-BE49-F238E27FC236}">
                <a16:creationId xmlns:a16="http://schemas.microsoft.com/office/drawing/2014/main" id="{66350D2B-E111-46E6-9EFB-5AD976805855}"/>
              </a:ext>
            </a:extLst>
          </p:cNvPr>
          <p:cNvSpPr>
            <a:spLocks xmlns:a="http://schemas.openxmlformats.org/drawingml/2006/main" noGrp="1"/>
          </p:cNvSpPr>
          <p:nvPr/>
        </p:nvSpPr>
        <p:spPr>
          <a:xfrm xmlns:a="http://schemas.openxmlformats.org/drawingml/2006/main">
            <a:off x="11029950" y="65341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26477"/>
                </a:solidFill>
                <a:latin typeface="Aptos"/>
                <a:ea typeface="Aptos"/>
                <a:cs typeface="Aptos"/>
              </a:defRPr>
            </a:defPPr>
            <a:lvl1pPr>
              <a:defRPr sz="1200" b="0">
                <a:solidFill>
                  <a:srgbClr val="526477"/>
                </a:solidFill>
                <a:latin typeface="Aptos"/>
                <a:ea typeface="Aptos"/>
                <a:cs typeface="Aptos"/>
              </a:defRPr>
            </a:lvl1pPr>
            <a:lvl2pPr>
              <a:defRPr sz="1200" b="0">
                <a:solidFill>
                  <a:srgbClr val="526477"/>
                </a:solidFill>
                <a:latin typeface="Aptos"/>
                <a:ea typeface="Aptos"/>
                <a:cs typeface="Aptos"/>
              </a:defRPr>
            </a:lvl2pPr>
            <a:lvl3pPr>
              <a:defRPr sz="1200" b="0">
                <a:solidFill>
                  <a:srgbClr val="526477"/>
                </a:solidFill>
                <a:latin typeface="Aptos"/>
                <a:ea typeface="Aptos"/>
                <a:cs typeface="Aptos"/>
              </a:defRPr>
            </a:lvl3pPr>
            <a:lvl4pPr>
              <a:defRPr sz="1200" b="0">
                <a:solidFill>
                  <a:srgbClr val="526477"/>
                </a:solidFill>
                <a:latin typeface="Aptos"/>
                <a:ea typeface="Aptos"/>
                <a:cs typeface="Aptos"/>
              </a:defRPr>
            </a:lvl4pPr>
            <a:lvl5pPr>
              <a:defRPr sz="1200" b="0">
                <a:solidFill>
                  <a:srgbClr val="526477"/>
                </a:solidFill>
                <a:latin typeface="Aptos"/>
                <a:ea typeface="Aptos"/>
                <a:cs typeface="Aptos"/>
              </a:defRPr>
            </a:lvl5pPr>
            <a:lvl6pPr>
              <a:defRPr sz="1200" b="0">
                <a:solidFill>
                  <a:srgbClr val="526477"/>
                </a:solidFill>
                <a:latin typeface="Aptos"/>
                <a:ea typeface="Aptos"/>
                <a:cs typeface="Aptos"/>
              </a:defRPr>
            </a:lvl6pPr>
            <a:lvl7pPr>
              <a:defRPr sz="1200" b="0">
                <a:solidFill>
                  <a:srgbClr val="526477"/>
                </a:solidFill>
                <a:latin typeface="Aptos"/>
                <a:ea typeface="Aptos"/>
                <a:cs typeface="Aptos"/>
              </a:defRPr>
            </a:lvl7pPr>
            <a:lvl8pPr>
              <a:defRPr sz="1200" b="0">
                <a:solidFill>
                  <a:srgbClr val="526477"/>
                </a:solidFill>
                <a:latin typeface="Aptos"/>
                <a:ea typeface="Aptos"/>
                <a:cs typeface="Aptos"/>
              </a:defRPr>
            </a:lvl8pPr>
            <a:lvl9pPr>
              <a:defRPr sz="1200" b="0">
                <a:solidFill>
                  <a:srgbClr val="526477"/>
                </a:solidFill>
                <a:latin typeface="Aptos"/>
                <a:ea typeface="Aptos"/>
                <a:cs typeface="Aptos"/>
              </a:defRPr>
            </a:lvl9pPr>
          </a:lstStyle>
          <a:p xmlns:a="http://schemas.openxmlformats.org/drawingml/2006/main">
            <a:pPr>
              <a:defRPr sz="1200" b="0">
                <a:solidFill>
                  <a:srgbClr val="526477"/>
                </a:solidFill>
                <a:latin typeface="Aptos"/>
                <a:ea typeface="Aptos"/>
                <a:cs typeface="Aptos"/>
              </a:defRPr>
            </a:pPr>
            <a:r>
              <a:rPr sz="1200" b="0">
                <a:solidFill>
                  <a:srgbClr val="526477"/>
                </a:solidFill>
                <a:latin typeface="Aptos"/>
                <a:ea typeface="Aptos"/>
                <a:cs typeface="Aptos"/>
              </a:rPr>
              <a:t>20</a:t>
            </a:r>
          </a:p>
        </p:txBody>
      </p:sp>
    </p:spTree>
    <p:extLst>
      <p:ext uri="{BB962C8B-B14F-4D97-AF65-F5344CB8AC3E}">
        <p14:creationId xmlns:p14="http://schemas.microsoft.com/office/powerpoint/2010/main" val="360091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2026-10-21T00:29:19.5040000Z</dcterms:created>
  <dcterms:modified xsi:type="dcterms:W3CDTF">2026-10-21T00:29:19.5040000Z</dcterms:modified>
</coreProperties>
</file>