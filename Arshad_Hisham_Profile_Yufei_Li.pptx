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20e3d90c48476a" /><Relationship Type="http://schemas.openxmlformats.org/officeDocument/2006/relationships/extended-properties" Target="/docProps/app.xml" Id="Rc12de4358d2147cf" /><Relationship Type="http://schemas.openxmlformats.org/officeDocument/2006/relationships/officeDocument" Target="/ppt/presentation.xml" Id="R26c3b2c27f224e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266a7a3db4df4"/>
  </p:sldMasterIdLst>
  <p:notesMasterIdLst>
    <p:notesMasterId xmlns:r="http://schemas.openxmlformats.org/officeDocument/2006/relationships" r:id="R3706833a2c4a46ec"/>
  </p:notesMasterIdLst>
  <p:sldIdLst>
    <p:sldId xmlns:r="http://schemas.openxmlformats.org/officeDocument/2006/relationships" id="256" r:id="Rfdcdc75cf8f74d86"/>
    <p:sldId xmlns:r="http://schemas.openxmlformats.org/officeDocument/2006/relationships" id="257" r:id="Rd565e296adf74d07"/>
    <p:sldId xmlns:r="http://schemas.openxmlformats.org/officeDocument/2006/relationships" id="258" r:id="Rb93c4f0a81344ab4"/>
    <p:sldId xmlns:r="http://schemas.openxmlformats.org/officeDocument/2006/relationships" id="259" r:id="R27027cbe193245c0"/>
    <p:sldId xmlns:r="http://schemas.openxmlformats.org/officeDocument/2006/relationships" id="260" r:id="Rc0ec7c60c2b847c8"/>
    <p:sldId xmlns:r="http://schemas.openxmlformats.org/officeDocument/2006/relationships" id="261" r:id="Rea61251aceba4c41"/>
    <p:sldId xmlns:r="http://schemas.openxmlformats.org/officeDocument/2006/relationships" id="262" r:id="R824590eb37e04023"/>
    <p:sldId xmlns:r="http://schemas.openxmlformats.org/officeDocument/2006/relationships" id="263" r:id="Rc291df4ddea04936"/>
    <p:sldId xmlns:r="http://schemas.openxmlformats.org/officeDocument/2006/relationships" id="264" r:id="R31d5f1b48bd442d1"/>
    <p:sldId xmlns:r="http://schemas.openxmlformats.org/officeDocument/2006/relationships" id="265" r:id="R479812b5f68a47e3"/>
    <p:sldId xmlns:r="http://schemas.openxmlformats.org/officeDocument/2006/relationships" id="266" r:id="Rcd4acb02aa014d40"/>
    <p:sldId xmlns:r="http://schemas.openxmlformats.org/officeDocument/2006/relationships" id="267" r:id="R16e890cc1f6f4ecc"/>
    <p:sldId xmlns:r="http://schemas.openxmlformats.org/officeDocument/2006/relationships" id="268" r:id="Rf92c051603e24383"/>
    <p:sldId xmlns:r="http://schemas.openxmlformats.org/officeDocument/2006/relationships" id="269" r:id="R6486ad4954ad491f"/>
    <p:sldId xmlns:r="http://schemas.openxmlformats.org/officeDocument/2006/relationships" id="270" r:id="R1239abb357b94e23"/>
    <p:sldId xmlns:r="http://schemas.openxmlformats.org/officeDocument/2006/relationships" id="271" r:id="R0b8a21f2910a44fa"/>
    <p:sldId xmlns:r="http://schemas.openxmlformats.org/officeDocument/2006/relationships" id="272" r:id="R159c261183a44666"/>
    <p:sldId xmlns:r="http://schemas.openxmlformats.org/officeDocument/2006/relationships" id="273" r:id="Rdf88619ad90547cf"/>
    <p:sldId xmlns:r="http://schemas.openxmlformats.org/officeDocument/2006/relationships" id="274" r:id="R329b3591403d4916"/>
    <p:sldId xmlns:r="http://schemas.openxmlformats.org/officeDocument/2006/relationships" id="275" r:id="R9f49e683dd3d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b5a14ee9f94c66" /><Relationship Type="http://schemas.openxmlformats.org/officeDocument/2006/relationships/slideMaster" Target="/ppt/slideMasters/slideMaster1.xml" Id="Ra07266a7a3db4df4" /><Relationship Type="http://schemas.openxmlformats.org/officeDocument/2006/relationships/notesMaster" Target="/ppt/notesMasters/notesMaster1.xml" Id="R3706833a2c4a46ec" /><Relationship Type="http://schemas.openxmlformats.org/officeDocument/2006/relationships/presProps" Target="/ppt/presProps.xml" Id="Rb0bcb9afa0fd467f" /><Relationship Type="http://schemas.openxmlformats.org/officeDocument/2006/relationships/tableStyles" Target="/ppt/tableStyles.xml" Id="Ra951a4bbed44442b" /><Relationship Type="http://schemas.openxmlformats.org/officeDocument/2006/relationships/slide" Target="/ppt/slides/slide1.xml" Id="Rfdcdc75cf8f74d86" /><Relationship Type="http://schemas.openxmlformats.org/officeDocument/2006/relationships/slide" Target="/ppt/slides/slide2.xml" Id="Rd565e296adf74d07" /><Relationship Type="http://schemas.openxmlformats.org/officeDocument/2006/relationships/slide" Target="/ppt/slides/slide3.xml" Id="Rb93c4f0a81344ab4" /><Relationship Type="http://schemas.openxmlformats.org/officeDocument/2006/relationships/slide" Target="/ppt/slides/slide4.xml" Id="R27027cbe193245c0" /><Relationship Type="http://schemas.openxmlformats.org/officeDocument/2006/relationships/slide" Target="/ppt/slides/slide5.xml" Id="Rc0ec7c60c2b847c8" /><Relationship Type="http://schemas.openxmlformats.org/officeDocument/2006/relationships/slide" Target="/ppt/slides/slide6.xml" Id="Rea61251aceba4c41" /><Relationship Type="http://schemas.openxmlformats.org/officeDocument/2006/relationships/slide" Target="/ppt/slides/slide7.xml" Id="R824590eb37e04023" /><Relationship Type="http://schemas.openxmlformats.org/officeDocument/2006/relationships/slide" Target="/ppt/slides/slide8.xml" Id="Rc291df4ddea04936" /><Relationship Type="http://schemas.openxmlformats.org/officeDocument/2006/relationships/slide" Target="/ppt/slides/slide9.xml" Id="R31d5f1b48bd442d1" /><Relationship Type="http://schemas.openxmlformats.org/officeDocument/2006/relationships/slide" Target="/ppt/slides/slide10.xml" Id="R479812b5f68a47e3" /><Relationship Type="http://schemas.openxmlformats.org/officeDocument/2006/relationships/slide" Target="/ppt/slides/slide11.xml" Id="Rcd4acb02aa014d40" /><Relationship Type="http://schemas.openxmlformats.org/officeDocument/2006/relationships/slide" Target="/ppt/slides/slide12.xml" Id="R16e890cc1f6f4ecc" /><Relationship Type="http://schemas.openxmlformats.org/officeDocument/2006/relationships/slide" Target="/ppt/slides/slide13.xml" Id="Rf92c051603e24383" /><Relationship Type="http://schemas.openxmlformats.org/officeDocument/2006/relationships/slide" Target="/ppt/slides/slide14.xml" Id="R6486ad4954ad491f" /><Relationship Type="http://schemas.openxmlformats.org/officeDocument/2006/relationships/slide" Target="/ppt/slides/slide15.xml" Id="R1239abb357b94e23" /><Relationship Type="http://schemas.openxmlformats.org/officeDocument/2006/relationships/slide" Target="/ppt/slides/slide16.xml" Id="R0b8a21f2910a44fa" /><Relationship Type="http://schemas.openxmlformats.org/officeDocument/2006/relationships/slide" Target="/ppt/slides/slide17.xml" Id="R159c261183a44666" /><Relationship Type="http://schemas.openxmlformats.org/officeDocument/2006/relationships/slide" Target="/ppt/slides/slide18.xml" Id="Rdf88619ad90547cf" /><Relationship Type="http://schemas.openxmlformats.org/officeDocument/2006/relationships/slide" Target="/ppt/slides/slide19.xml" Id="R329b3591403d4916" /><Relationship Type="http://schemas.openxmlformats.org/officeDocument/2006/relationships/slide" Target="/ppt/slides/slide20.xml" Id="R9f49e683dd3d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4c0fe73f044f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967e0ce284727" /><Relationship Type="http://schemas.openxmlformats.org/officeDocument/2006/relationships/notesMaster" Target="/ppt/notesMasters/notesMaster1.xml" Id="R131e6d96072840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ddf0341b0c4624" /><Relationship Type="http://schemas.openxmlformats.org/officeDocument/2006/relationships/notesMaster" Target="/ppt/notesMasters/notesMaster1.xml" Id="R64ee710ccc38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0d10e4f9514f21" /><Relationship Type="http://schemas.openxmlformats.org/officeDocument/2006/relationships/notesMaster" Target="/ppt/notesMasters/notesMaster1.xml" Id="R8d8605c314b6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f1aae7a6dd47e2" /><Relationship Type="http://schemas.openxmlformats.org/officeDocument/2006/relationships/notesMaster" Target="/ppt/notesMasters/notesMaster1.xml" Id="R59564e3bfa004b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0a05de0a74923" /><Relationship Type="http://schemas.openxmlformats.org/officeDocument/2006/relationships/notesMaster" Target="/ppt/notesMasters/notesMaster1.xml" Id="R7aab824f73924b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8e4eb309ef479f" /><Relationship Type="http://schemas.openxmlformats.org/officeDocument/2006/relationships/notesMaster" Target="/ppt/notesMasters/notesMaster1.xml" Id="Reb65011183f0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19e8f71a6d48cc" /><Relationship Type="http://schemas.openxmlformats.org/officeDocument/2006/relationships/notesMaster" Target="/ppt/notesMasters/notesMaster1.xml" Id="R1f1420c8cc6146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739ee6daf443cc" /><Relationship Type="http://schemas.openxmlformats.org/officeDocument/2006/relationships/notesMaster" Target="/ppt/notesMasters/notesMaster1.xml" Id="R290b6d4885fb48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fc3fb809864494" /><Relationship Type="http://schemas.openxmlformats.org/officeDocument/2006/relationships/notesMaster" Target="/ppt/notesMasters/notesMaster1.xml" Id="R976042b40c2845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a6b01a01144c51" /><Relationship Type="http://schemas.openxmlformats.org/officeDocument/2006/relationships/notesMaster" Target="/ppt/notesMasters/notesMaster1.xml" Id="Rbbc951a805e549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1608f64cfe4386" /><Relationship Type="http://schemas.openxmlformats.org/officeDocument/2006/relationships/notesMaster" Target="/ppt/notesMasters/notesMaster1.xml" Id="R7c83f32adc084b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2004f5d8ca4250" /><Relationship Type="http://schemas.openxmlformats.org/officeDocument/2006/relationships/notesMaster" Target="/ppt/notesMasters/notesMaster1.xml" Id="R24d169f379a54b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5ce20d3d84c9e" /><Relationship Type="http://schemas.openxmlformats.org/officeDocument/2006/relationships/notesMaster" Target="/ppt/notesMasters/notesMaster1.xml" Id="Rb45c6bb1d1734f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2422ac6325432f" /><Relationship Type="http://schemas.openxmlformats.org/officeDocument/2006/relationships/notesMaster" Target="/ppt/notesMasters/notesMaster1.xml" Id="R071e8c1a040f46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67234a23d54e5f" /><Relationship Type="http://schemas.openxmlformats.org/officeDocument/2006/relationships/notesMaster" Target="/ppt/notesMasters/notesMaster1.xml" Id="Rc07a71f262d844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74088ebd81464e" /><Relationship Type="http://schemas.openxmlformats.org/officeDocument/2006/relationships/notesMaster" Target="/ppt/notesMasters/notesMaster1.xml" Id="Rf4e70253502e4c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7c9cd7ac534b99" /><Relationship Type="http://schemas.openxmlformats.org/officeDocument/2006/relationships/notesMaster" Target="/ppt/notesMasters/notesMaster1.xml" Id="R524a872d296d4e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ce95b5d39744c7" /><Relationship Type="http://schemas.openxmlformats.org/officeDocument/2006/relationships/notesMaster" Target="/ppt/notesMasters/notesMaster1.xml" Id="Rb651d298b61140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907f4493924de0" /><Relationship Type="http://schemas.openxmlformats.org/officeDocument/2006/relationships/notesMaster" Target="/ppt/notesMasters/notesMaster1.xml" Id="R089a06a0dea240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042df7095840ef" /><Relationship Type="http://schemas.openxmlformats.org/officeDocument/2006/relationships/notesMaster" Target="/ppt/notesMasters/notesMaster1.xml" Id="R1c818f35a393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Image: official Arshad Hisham website, portrait.jpg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Image: official Arshad Hisham website, executive.jpg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Image: official Arshad Hisham website, leader.jpg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second point is presenter analysis of the disclosed career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Transaction details are founder-reported. No transaction value is stated. The leadership perspective is presenter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synthesis of organizational disclosures and the university announcement. This is not an assessment of internal management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stages follow the company website accessed October 2026. Product descriptions are intended applications, not independently verified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C: https://www.ingendynamics.com/</a:t>
            </a:r>
          </a:p>
          <a:p xmlns:a="http://schemas.openxmlformats.org/drawingml/2006/main">
            <a:r>
              <a:t>Image: official Arshad Hisham website, sentinel.png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announcement describes planned collaboration. It does not establish clinical effectiveness or completed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Image: official Arshad Hisham website, fari.jpg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C: https://www.ingendynamics.com/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Image: official Arshad Hisham website, origami.jpg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2025 Form C-AR, Note 10. The amount is conditional financing capacity, not cash raised. Do not interpret it as revenue, current valuation or a completed public listing.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E: https://www.sec.gov/Archives/edgar/data/1690888/000169088826000003/ingen_form_c-ar_20251.htm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is a May 18, 2021 company press release distributed by EINPresswire. The award belongs to the product/company, rather than a separate personal lifetime-achievement award.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F: https://markets.financialcontent.com/wedbush/article/einpresswire-2021-5-18-ingen-dynamics-wins-silver-in-the-smart-productivity-tools-category-at-the-2021-edison-awards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Image: official Arshad Hisham website, columbia.jpg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University announcement dated April 10, 2025. An MoU establishes a collaboration agenda. Planned activities should not be described as completed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Image: official Arshad Hisham website, education.png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stated priorities and future themes. It does not forecast company performance or guarantee product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C: https://www.ingendynamics.com/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Image: official Arshad Hisham website, book.jpg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synthesis. The discussion question is an analytical prompt, not a statement by Arshad Hisham.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C: https://www.ingendynamics.com/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October 20, 2026:</a:t>
            </a:r>
          </a:p>
          <a:p xmlns:a="http://schemas.openxmlformats.org/drawingml/2006/main">
            <a:r>
              <a:t>A: https://www.arshadhisham.com/</a:t>
            </a:r>
          </a:p>
          <a:p xmlns:a="http://schemas.openxmlformats.org/drawingml/2006/main">
            <a:r>
              <a:t>B: https://www.sec.gov/Archives/edgar/data/1690888/000121390023031471/ea177248-1a_ingen.htm</a:t>
            </a:r>
          </a:p>
          <a:p xmlns:a="http://schemas.openxmlformats.org/drawingml/2006/main">
            <a:r>
              <a:t>C: https://www.ingendynamics.com/</a:t>
            </a:r>
          </a:p>
          <a:p xmlns:a="http://schemas.openxmlformats.org/drawingml/2006/main">
            <a:r>
              <a:t>D: https://www.manchester.ac.uk/about/news/the-university-of-manchester-to-collaborate-with-leading-innovator-in-ai-driven-automation-and-robotics/</a:t>
            </a:r>
          </a:p>
          <a:p xmlns:a="http://schemas.openxmlformats.org/drawingml/2006/main">
            <a:r>
              <a:t>E: https://www.sec.gov/Archives/edgar/data/1690888/000169088826000003/ingen_form_c-ar_20251.htm</a:t>
            </a:r>
          </a:p>
          <a:p xmlns:a="http://schemas.openxmlformats.org/drawingml/2006/main">
            <a:r>
              <a:t>F: https://markets.financialcontent.com/wedbush/article/einpresswire-2021-5-18-ingen-dynamics-wins-silver-in-the-smart-productivity-tools-category-at-the-2021-edison-awards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be796dada43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0d22cb32944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49b41895c48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2b824770445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1481e5a774c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fec7c7a2c4f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8F1776-D4B1-4E79-92CB-B833374A30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9FBEAF-EAEC-4BB1-9F67-677CEBE5E8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E4CD34-84E4-47DB-972B-765D26BC8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52B938-4297-4205-A72A-54A28F334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5017CE-01A1-4A94-98C3-606B46ADFB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235C80-8F43-4B86-8101-75949FF5D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4DF71E-6607-41A0-A729-AC38CD10F7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70B077-3997-43DC-BF5D-03FDEC5FB5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3A7A1B-E4AF-4F98-921E-1DE1429EA3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7570ED-566C-4522-8A25-CF3FACEE18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be5f0308e343a5" /><Relationship Type="http://schemas.openxmlformats.org/officeDocument/2006/relationships/slideLayout" Target="/ppt/slideLayouts/slideLayout1.xml" Id="Rd6503a63910d4aa1" /><Relationship Type="http://schemas.openxmlformats.org/officeDocument/2006/relationships/slideLayout" Target="/ppt/slideLayouts/slideLayout2.xml" Id="Rbfcf200f943c4e39" /><Relationship Type="http://schemas.openxmlformats.org/officeDocument/2006/relationships/slideLayout" Target="/ppt/slideLayouts/slideLayout3.xml" Id="R3c25d4a8c7f4482d" /><Relationship Type="http://schemas.openxmlformats.org/officeDocument/2006/relationships/slideLayout" Target="/ppt/slideLayouts/slideLayout4.xml" Id="Rc4e3d38f188a4974" /><Relationship Type="http://schemas.openxmlformats.org/officeDocument/2006/relationships/slideLayout" Target="/ppt/slideLayouts/slideLayout5.xml" Id="Rf270580c826b4915" /><Relationship Type="http://schemas.openxmlformats.org/officeDocument/2006/relationships/slideLayout" Target="/ppt/slideLayouts/slideLayout6.xml" Id="R9b55e471c39e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03a63910d4aa1"/>
    <p:sldLayoutId xmlns:r="http://schemas.openxmlformats.org/officeDocument/2006/relationships" id="2147483650" r:id="Rbfcf200f943c4e39"/>
    <p:sldLayoutId xmlns:r="http://schemas.openxmlformats.org/officeDocument/2006/relationships" id="2147483651" r:id="R3c25d4a8c7f4482d"/>
    <p:sldLayoutId xmlns:r="http://schemas.openxmlformats.org/officeDocument/2006/relationships" id="2147483652" r:id="Rc4e3d38f188a4974"/>
    <p:sldLayoutId xmlns:r="http://schemas.openxmlformats.org/officeDocument/2006/relationships" id="2147483653" r:id="Rf270580c826b4915"/>
    <p:sldLayoutId xmlns:r="http://schemas.openxmlformats.org/officeDocument/2006/relationships" id="2147483654" r:id="R9b55e471c39e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9ec7e8c504fae" /><Relationship Type="http://schemas.openxmlformats.org/officeDocument/2006/relationships/image" Target="/ppt/media/image.jpeg" Id="Rb774153daad74520" /><Relationship Type="http://schemas.openxmlformats.org/officeDocument/2006/relationships/notesSlide" Target="/ppt/notesSlides/notesSlide1.xml" Id="Rb9edc2852764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64b32ddf34c9b" /><Relationship Type="http://schemas.openxmlformats.org/officeDocument/2006/relationships/image" Target="/ppt/media/image2.jpeg" Id="R113881f929b945f1" /><Relationship Type="http://schemas.openxmlformats.org/officeDocument/2006/relationships/notesSlide" Target="/ppt/notesSlides/notesSlide2.xml" Id="R797fb4442d9a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982e3cd9841f3" /><Relationship Type="http://schemas.openxmlformats.org/officeDocument/2006/relationships/notesSlide" Target="/ppt/notesSlides/notesSlide3.xml" Id="R32bc8daaf202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b4331c17f4481" /><Relationship Type="http://schemas.openxmlformats.org/officeDocument/2006/relationships/image" Target="/ppt/media/image3.jpeg" Id="Ree4b909bc0714e0d" /><Relationship Type="http://schemas.openxmlformats.org/officeDocument/2006/relationships/notesSlide" Target="/ppt/notesSlides/notesSlide4.xml" Id="R776784e21c1b45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ffb23fc2245b6" /><Relationship Type="http://schemas.openxmlformats.org/officeDocument/2006/relationships/notesSlide" Target="/ppt/notesSlides/notesSlide5.xml" Id="Rfb150feb076842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c36ad262d42d2" /><Relationship Type="http://schemas.openxmlformats.org/officeDocument/2006/relationships/notesSlide" Target="/ppt/notesSlides/notesSlide6.xml" Id="R4e56f7d5bb12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8ae585e1e4882" /><Relationship Type="http://schemas.openxmlformats.org/officeDocument/2006/relationships/notesSlide" Target="/ppt/notesSlides/notesSlide7.xml" Id="Rc465e68c6317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3fdf2a12648b9" /><Relationship Type="http://schemas.openxmlformats.org/officeDocument/2006/relationships/notesSlide" Target="/ppt/notesSlides/notesSlide8.xml" Id="Rf610e29ce8ef4d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0408caafe472d" /><Relationship Type="http://schemas.openxmlformats.org/officeDocument/2006/relationships/notesSlide" Target="/ppt/notesSlides/notesSlide9.xml" Id="R5b044863e93440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44fdaf5064a8d" /><Relationship Type="http://schemas.openxmlformats.org/officeDocument/2006/relationships/image" Target="/ppt/media/image.png" Id="R80dd9a7e99504a95" /><Relationship Type="http://schemas.openxmlformats.org/officeDocument/2006/relationships/notesSlide" Target="/ppt/notesSlides/notesSlide10.xml" Id="R2cd2bb9d455e4f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40052ac314404" /><Relationship Type="http://schemas.openxmlformats.org/officeDocument/2006/relationships/image" Target="/ppt/media/image4.jpeg" Id="R1238c8ed79034d2c" /><Relationship Type="http://schemas.openxmlformats.org/officeDocument/2006/relationships/notesSlide" Target="/ppt/notesSlides/notesSlide11.xml" Id="Rdad812fef06f46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9f0e7f85c646d7" /><Relationship Type="http://schemas.openxmlformats.org/officeDocument/2006/relationships/image" Target="/ppt/media/image5.jpeg" Id="Rcf434787a1d742a6" /><Relationship Type="http://schemas.openxmlformats.org/officeDocument/2006/relationships/notesSlide" Target="/ppt/notesSlides/notesSlide12.xml" Id="Rc5f513477a4446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218518d0e4e70" /><Relationship Type="http://schemas.openxmlformats.org/officeDocument/2006/relationships/notesSlide" Target="/ppt/notesSlides/notesSlide13.xml" Id="Re6d9fe9ab4174c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ecd05eeea4011" /><Relationship Type="http://schemas.openxmlformats.org/officeDocument/2006/relationships/notesSlide" Target="/ppt/notesSlides/notesSlide14.xml" Id="Rfe41f886f4ff4f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1bfeb68b54d64" /><Relationship Type="http://schemas.openxmlformats.org/officeDocument/2006/relationships/image" Target="/ppt/media/image6.jpeg" Id="Recf353a62503416e" /><Relationship Type="http://schemas.openxmlformats.org/officeDocument/2006/relationships/notesSlide" Target="/ppt/notesSlides/notesSlide15.xml" Id="R6dff2903d3254c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c99d17be9b4af8" /><Relationship Type="http://schemas.openxmlformats.org/officeDocument/2006/relationships/notesSlide" Target="/ppt/notesSlides/notesSlide16.xml" Id="R57b884c5f35843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8d6bcdaf34f70" /><Relationship Type="http://schemas.openxmlformats.org/officeDocument/2006/relationships/image" Target="/ppt/media/image2.png" Id="Rf74870dcb2674d79" /><Relationship Type="http://schemas.openxmlformats.org/officeDocument/2006/relationships/notesSlide" Target="/ppt/notesSlides/notesSlide17.xml" Id="R390677e0a3444d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6f154a85142d7" /><Relationship Type="http://schemas.openxmlformats.org/officeDocument/2006/relationships/image" Target="/ppt/media/image7.jpeg" Id="R4658d7092e5b4577" /><Relationship Type="http://schemas.openxmlformats.org/officeDocument/2006/relationships/notesSlide" Target="/ppt/notesSlides/notesSlide18.xml" Id="R760697d97b0c4c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32a8058464a15" /><Relationship Type="http://schemas.openxmlformats.org/officeDocument/2006/relationships/notesSlide" Target="/ppt/notesSlides/notesSlide19.xml" Id="R4b0d8ed9a9f246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1f3b2fb2f43ef" /><Relationship Type="http://schemas.openxmlformats.org/officeDocument/2006/relationships/notesSlide" Target="/ppt/notesSlides/notesSlide20.xml" Id="R761a084825ae47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204FD-D5D1-4EF6-A1EB-C3C21162F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4153daad74520"/>
          <a:srcRect xmlns:a="http://schemas.openxmlformats.org/drawingml/2006/main" l="11593" t="0" r="115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2276571-E482-4D79-A293-19F2D171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Arshad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Hisham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09C8DD2-5146-4D1E-B06A-3DA84D4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CE5EF"/>
                </a:solidFill>
                <a:latin typeface="Aptos"/>
                <a:ea typeface="Aptos"/>
                <a:cs typeface="Aptos"/>
              </a:rPr>
              <a:t>Leadership journey, AI &amp; robotics contributions,</a:t>
            </a:r>
          </a:p>
          <a:p xmlns:a="http://schemas.openxmlformats.org/drawingml/2006/main">
            <a:pPr>
              <a:defRPr sz="210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CE5EF"/>
                </a:solidFill>
                <a:latin typeface="Aptos"/>
                <a:ea typeface="Aptos"/>
                <a:cs typeface="Aptos"/>
              </a:rPr>
              <a:t>and entrepreneurial achievements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6579619-714D-404B-8690-629EF3F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CE5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5EF"/>
                </a:solidFill>
                <a:latin typeface="Aptos"/>
                <a:ea typeface="Aptos"/>
                <a:cs typeface="Aptos"/>
              </a:rPr>
              <a:t>Prepared by Yufei Li  /  October 2026</a:t>
            </a:r>
          </a:p>
        </p:txBody>
      </p:sp>
    </p:spTree>
    <p:extLst>
      <p:ext uri="{BB962C8B-B14F-4D97-AF65-F5344CB8AC3E}">
        <p14:creationId xmlns:p14="http://schemas.microsoft.com/office/powerpoint/2010/main" val="2082656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D5307A19-A0E8-43E5-B2F7-9E0D319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An entrepreneur connecting technology and business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A63CAE-E42B-404C-8C36-78162BF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Founder and CEO of inGen Dynamics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433FA-1DE2-470F-AD12-FFB73EE0E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881f929b945f1"/>
          <a:stretch xmlns:a="http://schemas.openxmlformats.org/drawingml/2006/main"/>
        </p:blipFill>
        <p:spPr>
          <a:xfrm xmlns:a="http://schemas.openxmlformats.org/drawingml/2006/main">
            <a:off x="8367210" y="2381250"/>
            <a:ext cx="222033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6167BB8-AD5D-428D-99E5-EC546AE2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Engineering background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36CB5CF-81AF-4240-997A-BC40463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Experience spans enterprise software and hardware automation.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732C890-7D4D-43FB-945A-7B01E0C8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Business leadership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352C01C-7619-4F42-B33E-7D9BBA1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work connects product development with commercial strategy.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4210621-1EF8-4F33-8FD1-EF34A0B4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Wider contribution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E5FC364-2333-46CD-A7FE-F20AA1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Education and research partnerships extend his role beyond the company.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E49E4D8-AE77-49F3-A7CC-F93E37E4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7B1264C-8DB7-46D1-B881-6965B1FB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8D78053C-0177-400F-AF69-18C0D594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B D</a:t>
            </a:r>
          </a:p>
        </p:txBody>
      </p:sp>
    </p:spTree>
    <p:extLst>
      <p:ext uri="{BB962C8B-B14F-4D97-AF65-F5344CB8AC3E}">
        <p14:creationId xmlns:p14="http://schemas.microsoft.com/office/powerpoint/2010/main" val="484014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AAA0512-5CE0-47D1-8E72-98DEC44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Career milestones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4B5944-3902-489D-A4A2-4C555C23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2001–2008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F3E495-0EDC-4788-9E8B-895CC46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Corporate experience at IBM and Bluephoenix, according to his biography.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3CB496-3BA5-4018-B255-F886069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2008–2015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279DFD-953C-4AD2-9933-A9BF24E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Early ventures in enterprise software, retail systems and fleet analytics.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E8B5D63-2688-439B-88BE-BE0C6099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2015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9C232B5-CDCB-450E-BB7C-B25EDEF1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Founded inGen Dynamics.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723FC81-EB5B-4763-B91B-78700FF7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7D8F60E-D331-441E-A846-82A98D77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Co-chairs the Manchester partnership steering committee.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45921F3-5D17-4781-B4C3-0B804B69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597310D-A48D-4084-AEBF-9DE9F72C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F5057F-DB08-4B0C-8236-B728A653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 B D</a:t>
            </a:r>
          </a:p>
        </p:txBody>
      </p:sp>
    </p:spTree>
    <p:extLst>
      <p:ext uri="{BB962C8B-B14F-4D97-AF65-F5344CB8AC3E}">
        <p14:creationId xmlns:p14="http://schemas.microsoft.com/office/powerpoint/2010/main" val="798647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E170DAE-7194-4B7D-91D4-244867E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Education and early foundations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CA0F79-FE3E-4D1F-9377-C4FC605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Technical training followed by business education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6ED9F-9F6D-47C3-B977-CA9D3DC03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b909bc0714e0d"/>
          <a:stretch xmlns:a="http://schemas.openxmlformats.org/drawingml/2006/main"/>
        </p:blipFill>
        <p:spPr>
          <a:xfrm xmlns:a="http://schemas.openxmlformats.org/drawingml/2006/main">
            <a:off x="7667625" y="2418943"/>
            <a:ext cx="3619500" cy="3258365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D4BD22C-8C70-4A9A-ACE8-8E4CF809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BC96764-2532-4303-A279-46E6D8C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B.Tech, National Institute of Technology Calicut.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B680EFB-10E6-4B38-A934-5F72DA38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E2299A-3083-49D0-A56B-B068978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MBA, Cranfield School of Management.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E3DAB77-24B2-49BB-B416-A2203BB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Early interest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389FD1D-4D57-4B45-94D3-EA3F1E24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biography describes childhood programming and student robotics activities.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BA92BB32-AEEF-4324-B347-8A83FD00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3EEE66D-3350-4695-9393-5ADAF69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45961F0-D1DE-465D-B597-124EEEB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</a:t>
            </a:r>
          </a:p>
        </p:txBody>
      </p:sp>
    </p:spTree>
    <p:extLst>
      <p:ext uri="{BB962C8B-B14F-4D97-AF65-F5344CB8AC3E}">
        <p14:creationId xmlns:p14="http://schemas.microsoft.com/office/powerpoint/2010/main" val="1636911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678D705B-74B5-4C05-8CAF-2C30505F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Corporate experience before entrepreneurship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9E6E7DC-DDBB-4AC8-BA2C-D2E5324B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Enterprise technology and international delivery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8E83FF-0195-41F7-B8E7-DE60939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Professional background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CE6194-183E-40E0-9FDB-A9BF0B7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2023 offering circular describes senior roles involving IBM, the Australian government and Toyota.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19BDA6-9099-41C8-9E06-98D229B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Relevance to entrepreneurship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FAD6A43-5991-4BF0-98DE-1C0F5FD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This experience provides context for his later focus on enterprise applications.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A1F9394-D15D-44CB-BFC3-B1938B3E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64F94C9-FDA3-4DAE-B244-E77624D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B9C9430-01B0-4B71-9F95-9AF904FD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B</a:t>
            </a:r>
          </a:p>
        </p:txBody>
      </p:sp>
    </p:spTree>
    <p:extLst>
      <p:ext uri="{BB962C8B-B14F-4D97-AF65-F5344CB8AC3E}">
        <p14:creationId xmlns:p14="http://schemas.microsoft.com/office/powerpoint/2010/main" val="69282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38F52D25-D7FD-4743-B7D5-F07E3DD4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Early entrepreneurial ventures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8E4466-B5F8-487C-8C76-F02B9575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 portfolio of ventures before inGen Dynamics, as described in his biography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863285-938C-4F17-A3D6-F7634197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BusinessNow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6B52F9-A4C1-45C2-92F0-607DB984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Enterprise resource planning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44D4AA-519D-4262-92BE-604BABC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EasyShop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3654AFC-ECC9-4CDB-ADC1-E02472A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Retail point-of-sale systems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D5253A-0A12-4B40-9D48-DE190C4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EasyTrackX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BBCD8B5-73B7-4936-9B53-74FD496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GPS tracking and fleet analytics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AC253BA-01FB-471C-BC89-021ACE4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LordofOdds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8575204-87CD-4C48-ADBC-8234D73C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Online gaming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5BAB44B-55A6-4194-8E52-4302EBE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95FE717-1651-47D1-A1AB-90F7D0BF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4E437C5-F63C-4653-88CE-E7A33C98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</a:t>
            </a:r>
          </a:p>
        </p:txBody>
      </p:sp>
    </p:spTree>
    <p:extLst>
      <p:ext uri="{BB962C8B-B14F-4D97-AF65-F5344CB8AC3E}">
        <p14:creationId xmlns:p14="http://schemas.microsoft.com/office/powerpoint/2010/main" val="1611666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D8CC4091-D2CF-48EA-A0AB-5EDE3A0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EasyTrackX: an early business milestone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21204F-9AE3-46A6-9E92-3CB2572B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Fleet technology offered a commercial application for software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89C542-8545-4EB8-99D8-BF07C3D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Business focus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7595D25-8E93-4706-96E6-CF6968A8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GPS tracking and fleet analytics.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B2AEA7-1AD5-484A-9E63-D40B746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Reported transaction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EEE91D-561A-40B6-A66D-7C4754B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biography reports a sale of 50% of the business.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D10CAE1-A934-4031-AAB4-DE238F32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Leadership perspective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74E1BFD-3BDD-44B4-88B5-56B08BD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case illustrates experience developing a venture and negotiating an ownership transaction.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F78C257-A1A7-4303-AA5D-5538FB2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469B179-D59D-444E-B6DC-5A051240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FE390C4-A402-4C47-8A14-E10FBCB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</a:t>
            </a:r>
          </a:p>
        </p:txBody>
      </p:sp>
    </p:spTree>
    <p:extLst>
      <p:ext uri="{BB962C8B-B14F-4D97-AF65-F5344CB8AC3E}">
        <p14:creationId xmlns:p14="http://schemas.microsoft.com/office/powerpoint/2010/main" val="2032259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ACB0D38-B913-4DC7-B513-3A9FAA1D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Founding inGen Dynamics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AA5F45-24A3-4440-B225-2750230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 company focused on AI, automation and robotics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9C2D50-1AD1-41E2-AB03-558416D5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2015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C8FC90B-7C5C-4258-A308-B737C5F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Founder’s objective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3D1512-1A9D-4A26-9082-BB611307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Apply affordable robotics to everyday needs.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16BD124-D18A-439B-B06C-333764EB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Initial direction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4CE5F4A-65B7-4258-ACE2-220441B0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Aido served as a modular service robot platform.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9FDDE0-C7A9-4BD8-BF03-CA59D419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AE0FB-80DE-4516-9BE7-ACA85F8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7DDC21E-36E0-41EF-A75F-311242E2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 B</a:t>
            </a:r>
          </a:p>
        </p:txBody>
      </p:sp>
    </p:spTree>
    <p:extLst>
      <p:ext uri="{BB962C8B-B14F-4D97-AF65-F5344CB8AC3E}">
        <p14:creationId xmlns:p14="http://schemas.microsoft.com/office/powerpoint/2010/main" val="384798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54593C4-D8FE-4543-AA57-D32B47C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Leadership across product and business functions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021249-FE73-4C89-B52A-FDC8A311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Product direction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E40307-B039-447F-AD8F-29ACA26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company describes a platform strategy that connects devices with software services.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42F673-BBF4-4EFD-B03B-B401601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Organizational development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45F0CA-6002-4C65-8C5E-9C6EF068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Its 2023 disclosures identify leadership roles in operations, strategy, technology and growth.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C9BFF3-3D71-4DB2-96AB-EA5776E9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Partnership building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F24CB3D-F6B3-475F-A41E-06456252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Manchester collaboration adds an academic research relationship.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F85A21-BD8D-4C84-97CD-FAEE83F1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4D07CA7-B09D-4654-B4E3-AC64EA62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5961E28-4A4F-4E38-9C10-75227698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B D</a:t>
            </a:r>
          </a:p>
        </p:txBody>
      </p:sp>
    </p:spTree>
    <p:extLst>
      <p:ext uri="{BB962C8B-B14F-4D97-AF65-F5344CB8AC3E}">
        <p14:creationId xmlns:p14="http://schemas.microsoft.com/office/powerpoint/2010/main" val="154976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11FDAEF9-E1DE-41A2-85CF-2CB8291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AI and robotics applied to human needs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363ACD-A196-478F-925A-65CE2773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Examples from the company’s current product portfolio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4E3B9B-0F50-4F79-B7DC-851AA301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Fari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F191B3-5917-4D90-8AC7-989AB52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Eldercare companion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FE50ECC-A5D7-45F5-A3DC-E24836A3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In development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3CDAAF-50CC-4A85-93EF-D1D11327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Senpai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1A9BDC-A232-4A6F-9E64-596611DE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Educational companion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BAC40D5-AE57-4EC5-9406-431F5AA8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In development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EE23398-7860-4A5D-A296-5D3C5CD1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Sentinel Prime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53C7EA8-EA3A-463B-B94E-72B81EC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Security intelligence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3885CB-730A-47C8-B25C-89BC19A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72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Operational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4CB70-7E04-41D5-A423-FE4E9E1C1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d9a7e99504a95"/>
          <a:stretch xmlns:a="http://schemas.openxmlformats.org/drawingml/2006/main"/>
        </p:blipFill>
        <p:spPr>
          <a:xfrm xmlns:a="http://schemas.openxmlformats.org/drawingml/2006/main">
            <a:off x="9762520" y="5238750"/>
            <a:ext cx="858461" cy="714375"/>
          </a:xfrm>
          <a:prstGeom xmlns:a="http://schemas.openxmlformats.org/drawingml/2006/main" prst="rect">
            <a:avLst/>
          </a:prstGeom>
        </p:spPr>
      </p:pic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BB00A06-5982-4805-AF7E-5E2C52C3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62F561F9-D7C2-4F35-8EAF-6B36BC1D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6346E735-C41E-4F35-8573-A4325FF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C</a:t>
            </a:r>
          </a:p>
        </p:txBody>
      </p:sp>
    </p:spTree>
    <p:extLst>
      <p:ext uri="{BB962C8B-B14F-4D97-AF65-F5344CB8AC3E}">
        <p14:creationId xmlns:p14="http://schemas.microsoft.com/office/powerpoint/2010/main" val="1160887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E8541B1-6592-4A2D-AB95-86D6301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Fari and Senpai in the research agenda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08338-7B50-46D7-ACBF-964016230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8c8ed79034d2c"/>
          <a:stretch xmlns:a="http://schemas.openxmlformats.org/drawingml/2006/main"/>
        </p:blipFill>
        <p:spPr>
          <a:xfrm xmlns:a="http://schemas.openxmlformats.org/drawingml/2006/main">
            <a:off x="8249151" y="2381250"/>
            <a:ext cx="2456447" cy="3333750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84A9760-CD4A-44A9-AF90-C58EB782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Fari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79E891B-1E2C-40CA-BF66-D1C237B8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Manchester’s partnership announcement identifies elderly care as a research application.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A87113C-169E-425A-A880-26DA8E8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Senpai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251FDBF-90D1-4AD5-8331-F843DAA9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announcement also identifies special needs education.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306AA06-3C57-4BD6-9A5C-E7C452D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6BF96BB-0244-4264-AD4B-3E194FF5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MoU includes a social care testbed to evaluate robotics in real settings.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C74BA1B-AD64-4DCE-BEF4-D80B841F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A85C893-6FF5-48BB-95AE-F30F968A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7264EFD-4714-4D42-8E61-48EBFB1F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D</a:t>
            </a:r>
          </a:p>
        </p:txBody>
      </p:sp>
    </p:spTree>
    <p:extLst>
      <p:ext uri="{BB962C8B-B14F-4D97-AF65-F5344CB8AC3E}">
        <p14:creationId xmlns:p14="http://schemas.microsoft.com/office/powerpoint/2010/main" val="109518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BAB9CEFE-F7BF-47F4-A507-77C9CD6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Origami AI and the platform strategy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DE7B8F4-923D-4D90-A7D7-A426E545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 shared software direction across the robotics portfolio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EE32-4374-44AC-93BF-CF2A736E4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34787a1d742a6"/>
          <a:stretch xmlns:a="http://schemas.openxmlformats.org/drawingml/2006/main"/>
        </p:blipFill>
        <p:spPr>
          <a:xfrm xmlns:a="http://schemas.openxmlformats.org/drawingml/2006/main">
            <a:off x="8006347" y="2381250"/>
            <a:ext cx="2942056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39AEECD-10D5-4B83-94AC-E08E052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Company positioning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A4BEE15-F192-4848-914A-C6E4BE5C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Origami AI is described as a physical intelligence platform.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1E81CD8-C342-4D4E-949C-649B0A4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Development status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22EF54F-BC4D-438E-8266-785E3AE5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current company website labels it in development.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6721608-6FA6-4B67-A3BA-37AC5B9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Academic connection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1F24B12-D692-4971-A903-35C58CF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Manchester’s MoU includes hands-on learning involving Origami AI.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E9915CA-A81F-4AE5-92C1-95E9F5D8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BC5C3B0-671E-4C79-BC16-58C1922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E5C4BE35-04DD-4676-9FF6-41322B13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C D</a:t>
            </a:r>
          </a:p>
        </p:txBody>
      </p:sp>
    </p:spTree>
    <p:extLst>
      <p:ext uri="{BB962C8B-B14F-4D97-AF65-F5344CB8AC3E}">
        <p14:creationId xmlns:p14="http://schemas.microsoft.com/office/powerpoint/2010/main" val="1229242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DC40A51-97C9-4704-A485-E6EE8FBE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Financing milestones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B55CFB2-467F-44DB-902C-FBDDD1F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Maximum GEM share-subscription capacity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A1F66D-3ECC-46AB-A871-793697F9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$150M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75FB96-37F2-4537-B7F2-7F157CC8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Agreement history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8DA3CB-6AE3-46DD-9894-BE82C6FD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company entered the agreement in 2021 and amended it in July 2023.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76D44D-0363-4239-85FA-94D8C7C1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Financing conditions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4B230CD-482E-4442-8D48-E3ADEE9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2025 annual report states that the facility is undrawn and available only after a qualifying event.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8EE75E-B107-4D71-9430-BCDE1F6A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5E5061B-A5BF-4DF2-B028-99F9CE6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745CC09-CA80-4475-BACE-4F789CA7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E</a:t>
            </a:r>
          </a:p>
        </p:txBody>
      </p:sp>
    </p:spTree>
    <p:extLst>
      <p:ext uri="{BB962C8B-B14F-4D97-AF65-F5344CB8AC3E}">
        <p14:creationId xmlns:p14="http://schemas.microsoft.com/office/powerpoint/2010/main" val="9020223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DC74F90D-528A-4D0A-8FCE-237DC8D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Recognition for product innovation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BE546A-7049-44C0-A8C0-E17A1CB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Edison Awards silver recognition for Aido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7D59DD-108A-464E-82F7-FA1711A2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F3FB54-23CC-4587-B845-F9A0B149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Award category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0DF33F-C71F-46F5-AB5F-FFE9FA25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Smart Productivity Tools.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C60219-CF2C-4675-A65D-EDD88A71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480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Recipient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B39B705-E2E9-4C1B-BF23-BF5164C2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inGen Dynamics received the award for its modular service robot.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236DD57-CDE1-4153-A7D4-CC5A225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Founder’s role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DBA128F-4998-4311-A2DF-3082D60F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482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Hisham led the company as founder and CEO.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BB6C058-6BBB-4F92-BFB1-913FEA4B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467DD80-03EB-41BC-B6B5-25B00C1C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EA69BE6-557B-4AC2-81A0-296A74B2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F</a:t>
            </a:r>
          </a:p>
        </p:txBody>
      </p:sp>
    </p:spTree>
    <p:extLst>
      <p:ext uri="{BB962C8B-B14F-4D97-AF65-F5344CB8AC3E}">
        <p14:creationId xmlns:p14="http://schemas.microsoft.com/office/powerpoint/2010/main" val="822933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F5E3760-C885-4580-9DDC-E6539EA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Communicating AI and robotics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1630E9-EDCC-4BBA-97E5-9E8B7FB4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Industry talks and public discussion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1062-F9F7-49BF-8BF1-3A1A35BB8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353a62503416e"/>
          <a:stretch xmlns:a="http://schemas.openxmlformats.org/drawingml/2006/main"/>
        </p:blipFill>
        <p:spPr>
          <a:xfrm xmlns:a="http://schemas.openxmlformats.org/drawingml/2006/main">
            <a:off x="7667625" y="2924381"/>
            <a:ext cx="3619500" cy="2247487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7F2B030-E8C3-45C7-BBAC-0DBAD42D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Industry audiences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C26971A-13FF-4580-A5BD-3CA90878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2023 filing lists IEEE, Boston Consulting Group and RoboBusiness speaking engagements.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6D9C86F-23FB-4E2B-8E26-FBE8EA2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Public conversation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E6EFE23-19D8-4979-A916-4ABCECE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website presents talks on technology, work and AI ethics.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E50EC39-E3E3-4818-9743-E2513C2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7CC0F576-9475-40D8-902D-2D61E066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C39D5C9-4A51-4FD1-87B9-D104E5E3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B A</a:t>
            </a:r>
          </a:p>
        </p:txBody>
      </p:sp>
    </p:spTree>
    <p:extLst>
      <p:ext uri="{BB962C8B-B14F-4D97-AF65-F5344CB8AC3E}">
        <p14:creationId xmlns:p14="http://schemas.microsoft.com/office/powerpoint/2010/main" val="10602497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40728F7-D814-4B71-87A7-DEF87748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A research partnership with Manchester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E3B6F49-5605-49D5-83E3-ABAB61E2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University of Manchester and inGen Dynamics sign an MoU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882A12-4466-476B-A33F-B3EB8F45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5C2FA7-3B8B-4C12-9D47-EB22A83D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Shared agenda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1AB1C68-B120-4B4B-A952-0FDCBA4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Joint research, curriculum development and academic exchange.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077C2C2-52D2-4763-857F-BE2D1BD7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36C2B6-2767-41AC-AF0D-DE75FCA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Hisham co-chairs the steering committee with Professor Andrew Weightman.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FC32EA-64C9-4D41-AFE0-D2CD9997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7D465AE-4719-4E65-AC04-A0A97A7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0FED297-ACC0-43D9-9C80-B80CF2D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D</a:t>
            </a:r>
          </a:p>
        </p:txBody>
      </p:sp>
    </p:spTree>
    <p:extLst>
      <p:ext uri="{BB962C8B-B14F-4D97-AF65-F5344CB8AC3E}">
        <p14:creationId xmlns:p14="http://schemas.microsoft.com/office/powerpoint/2010/main" val="20721708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DEC07204-817B-4EBB-849F-54F518E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Education and wider access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5BA7F-AE5B-4271-AB65-5D0AA33E1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870dcb2674d79"/>
          <a:stretch xmlns:a="http://schemas.openxmlformats.org/drawingml/2006/main"/>
        </p:blipFill>
        <p:spPr>
          <a:xfrm xmlns:a="http://schemas.openxmlformats.org/drawingml/2006/main">
            <a:off x="7667625" y="3646074"/>
            <a:ext cx="3619500" cy="80410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BBA51AA-E427-4B2E-98AA-98456CE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Futurenauts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3447734-63EB-400A-8375-B692B32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Manchester’s MoU includes exchanges connected with this education initiative.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D8A169D-01E1-4109-B9EB-13B0C40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Workforce development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16066F9-C135-43FE-B90E-68813F3A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The partnership proposes AI and robotics upskilling for care and education professionals.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3C7FEE3-6991-4D66-88CF-BBA2F62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AH Foundation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F194897-21D0-45F2-93B7-280A252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website describes programs intended to reduce barriers to technology education.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810A2E4-0F3A-4C32-8C5A-1E62DE5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461BFF9E-EE1C-44CC-B26A-4BC66B9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A9F5DCE-2486-4911-A4A6-47AAE043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D A</a:t>
            </a:r>
          </a:p>
        </p:txBody>
      </p:sp>
    </p:spTree>
    <p:extLst>
      <p:ext uri="{BB962C8B-B14F-4D97-AF65-F5344CB8AC3E}">
        <p14:creationId xmlns:p14="http://schemas.microsoft.com/office/powerpoint/2010/main" val="14887096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923BB05-B17E-4BE0-850F-DA23A5B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vision for the future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8C7D1D-C16F-48A9-A85B-07CF18E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AI and robotics as tools that support people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1C204-3B86-46A6-95F1-B850784CF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8d7092e5b4577"/>
          <a:stretch xmlns:a="http://schemas.openxmlformats.org/drawingml/2006/main"/>
        </p:blipFill>
        <p:spPr>
          <a:xfrm xmlns:a="http://schemas.openxmlformats.org/drawingml/2006/main">
            <a:off x="7810500" y="2381250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5621695-F641-487F-829D-9B80ABA7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Everyday applications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0C1A42B-5192-4CD6-A961-3AFB7AD4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Company priorities include care, education and safety.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969198F-AA1C-4B3E-917A-8EFA3064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Responsible adoption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5B89489-EEB7-44E1-B78F-5633DB61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Manchester’s collaboration agenda includes transparency, accountability and AI ethics.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F5BECEF-9348-40A9-B66C-769A1BE0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Longer-term thinking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4692924-D400-40F7-80B1-DD3D140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2C43"/>
                </a:solidFill>
                <a:latin typeface="Aptos"/>
                <a:ea typeface="Aptos"/>
                <a:cs typeface="Aptos"/>
              </a:rPr>
              <a:t>His 2035 book series explores the future of technology and education.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7F4FAFDB-CFDD-43FE-9516-D42AC203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A00FDDD-5FD5-4E0F-BA51-A75CD01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5ED0B57-3DBA-498F-BE46-CFECA2A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Sources: A C D</a:t>
            </a:r>
          </a:p>
        </p:txBody>
      </p:sp>
    </p:spTree>
    <p:extLst>
      <p:ext uri="{BB962C8B-B14F-4D97-AF65-F5344CB8AC3E}">
        <p14:creationId xmlns:p14="http://schemas.microsoft.com/office/powerpoint/2010/main" val="17196637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2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2822CF72-EC62-4BDC-8331-100E38C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14F4235-8451-414E-9F51-93273CC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AD8E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AD8E7"/>
                </a:solidFill>
                <a:latin typeface="Aptos"/>
                <a:ea typeface="Aptos"/>
                <a:cs typeface="Aptos"/>
              </a:rPr>
              <a:t>Discussion: Which application offers the clearest opportunity to demonstrate measurable user value?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F9AEA5-2434-45F2-A50E-E7FDADBE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7AF75"/>
                </a:solidFill>
                <a:latin typeface="Aptos"/>
                <a:ea typeface="Aptos"/>
                <a:cs typeface="Aptos"/>
              </a:rPr>
              <a:t>Leadership journey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FD1095-5E11-4A0B-A1B8-EC4BD9A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Corporate technology experience preceded a sequence of entrepreneurial ventures.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BFDED5D-0FFE-4EB5-8E13-40C501F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7AF75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E6CC47-0678-484C-9D3A-653A5720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 company connects robotics development with software platforms and specific applications.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AAF638C-D938-49C4-B7EF-474EE5B5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7AF7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7AF75"/>
                </a:solidFill>
                <a:latin typeface="Aptos"/>
                <a:ea typeface="Aptos"/>
                <a:cs typeface="Aptos"/>
              </a:rPr>
              <a:t>Future direction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FEF4A1-0CD2-4B1E-9C22-BE833ED6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partnerships and education initiatives complement the commercial agenda.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1EFB430-7F92-4475-A95C-E40D5AE0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C8DA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DDB60F7-CF32-48E3-A914-41F8C274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8D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9A8EACF-FDD8-4C80-AC2F-F6AD9EF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151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6C8D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6C8DA"/>
                </a:solidFill>
                <a:latin typeface="Aptos"/>
                <a:ea typeface="Aptos"/>
                <a:cs typeface="Aptos"/>
              </a:rPr>
              <a:t>Sources: A B C D</a:t>
            </a:r>
          </a:p>
        </p:txBody>
      </p:sp>
    </p:spTree>
    <p:extLst>
      <p:ext uri="{BB962C8B-B14F-4D97-AF65-F5344CB8AC3E}">
        <p14:creationId xmlns:p14="http://schemas.microsoft.com/office/powerpoint/2010/main" val="16970103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BB97F57E-0FCA-408E-886D-1527FC3C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Selected references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15BB40-BF22-455D-9F26-6CF9E79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AADE57-6F43-4AF6-91BB-FEB2CCC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Arshad Hisham, official biography and initiatives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51FE3E2-A438-468C-8283-0D14A4C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57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arshadhisham.com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06D0821-22A7-4459-BA72-3206E80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11AA51-32D3-4928-8B77-5C407F1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28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inGen Dynamics, 2023 preliminary offering circular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CB1AF39-8AC6-453C-B3EC-CE6A6383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SEC EDGAR, April 21, 2023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3425754-8B3C-4935-93AB-8D2CDCDA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C1CD1DA-4ECD-4952-9602-6A562160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inGen Dynamics, current product portfolio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B63B6BB-4A7D-4765-BE94-8DD3E8EF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ingendynamics.com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D46E783-D547-468B-8814-EC0440D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78E3EA1-628E-44D9-9EFB-BEFF83E8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004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University of Manchester, partnership announcement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86F401A-40C6-41A9-926F-48136F4B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April 10, 2025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A7B3129-9366-4E02-BB7C-ECB7D3C8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9471D9E-69E0-4C40-BD3B-2DAE6F6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862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inGen Dynamics, 2025 Form C-AR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6BEB83D7-66C5-4B89-8C78-AD2AB5C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SEC EDGAR, financial statements and Note 10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BB1C2C97-AF64-4C2F-9D54-CEF2A8BF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687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8743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3B4074B-0521-460D-83C6-618BFAE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720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C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C43"/>
                </a:solidFill>
                <a:latin typeface="Aptos"/>
                <a:ea typeface="Aptos"/>
                <a:cs typeface="Aptos"/>
              </a:rPr>
              <a:t>inGen Dynamics, Edison Awards announcement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5ECFF756-0D8E-4108-BF33-FF56E7D1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EINPresswire, May 18, 2021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CE398D92-39A7-44CC-9B0A-7EF4C4DC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Sources accessed October 20, 2026. Full URLs and source qualifications appear in slide notes.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32236FBD-985D-4E6D-9CDC-AE77B81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ARSHAD HISHAM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50B4B117-B6AE-4A42-8212-E7235282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47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4482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2026-10-21T00:16:21.4400000Z</dcterms:created>
  <dcterms:modified xsi:type="dcterms:W3CDTF">2026-10-21T00:16:21.4400000Z</dcterms:modified>
</coreProperties>
</file>