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c77812671d4280" /><Relationship Type="http://schemas.openxmlformats.org/officeDocument/2006/relationships/extended-properties" Target="/docProps/app.xml" Id="R1469df0fc8c747bb" /><Relationship Type="http://schemas.openxmlformats.org/officeDocument/2006/relationships/officeDocument" Target="/ppt/presentation.xml" Id="R0879ab9dee1a482c" /></Relationships>
</file>

<file path=ppt/presentation.xml><?xml version="1.0" encoding="utf-8"?>
<p:presentation xmlns:p="http://schemas.openxmlformats.org/presentationml/2006/main">
  <p:sldMasterIdLst>
    <p:sldMasterId xmlns:r="http://schemas.openxmlformats.org/officeDocument/2006/relationships" id="2147483648" r:id="R9f1a0a36138f4aa4"/>
  </p:sldMasterIdLst>
  <p:notesMasterIdLst>
    <p:notesMasterId xmlns:r="http://schemas.openxmlformats.org/officeDocument/2006/relationships" r:id="Rb7c572fcccea485f"/>
  </p:notesMasterIdLst>
  <p:sldIdLst>
    <p:sldId xmlns:r="http://schemas.openxmlformats.org/officeDocument/2006/relationships" id="256" r:id="Rdf24338c2d3b4a2d"/>
    <p:sldId xmlns:r="http://schemas.openxmlformats.org/officeDocument/2006/relationships" id="257" r:id="Rc8e88918001c4c74"/>
    <p:sldId xmlns:r="http://schemas.openxmlformats.org/officeDocument/2006/relationships" id="258" r:id="Rd53bfe7f0e6f47ef"/>
    <p:sldId xmlns:r="http://schemas.openxmlformats.org/officeDocument/2006/relationships" id="259" r:id="R0d3eb8cf490546a2"/>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3de63f72e9435b" /><Relationship Type="http://schemas.openxmlformats.org/officeDocument/2006/relationships/slideMaster" Target="/ppt/slideMasters/slideMaster1.xml" Id="R9f1a0a36138f4aa4" /><Relationship Type="http://schemas.openxmlformats.org/officeDocument/2006/relationships/notesMaster" Target="/ppt/notesMasters/notesMaster1.xml" Id="Rb7c572fcccea485f" /><Relationship Type="http://schemas.openxmlformats.org/officeDocument/2006/relationships/presProps" Target="/ppt/presProps.xml" Id="R0ea8d6c0adc84e02" /><Relationship Type="http://schemas.openxmlformats.org/officeDocument/2006/relationships/tableStyles" Target="/ppt/tableStyles.xml" Id="R33acfabd6e024750" /><Relationship Type="http://schemas.openxmlformats.org/officeDocument/2006/relationships/slide" Target="/ppt/slides/slide1.xml" Id="Rdf24338c2d3b4a2d" /><Relationship Type="http://schemas.openxmlformats.org/officeDocument/2006/relationships/slide" Target="/ppt/slides/slide2.xml" Id="Rc8e88918001c4c74" /><Relationship Type="http://schemas.openxmlformats.org/officeDocument/2006/relationships/slide" Target="/ppt/slides/slide3.xml" Id="Rd53bfe7f0e6f47ef" /><Relationship Type="http://schemas.openxmlformats.org/officeDocument/2006/relationships/slide" Target="/ppt/slides/slide4.xml" Id="R0d3eb8cf490546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d353c184b943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02ea33b1074f2d" /><Relationship Type="http://schemas.openxmlformats.org/officeDocument/2006/relationships/notesMaster" Target="/ppt/notesMasters/notesMaster1.xml" Id="Rd6a566cdfa9147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043da5134f4662" /><Relationship Type="http://schemas.openxmlformats.org/officeDocument/2006/relationships/notesMaster" Target="/ppt/notesMasters/notesMaster1.xml" Id="R45152471ec144c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5a322054b947af" /><Relationship Type="http://schemas.openxmlformats.org/officeDocument/2006/relationships/notesMaster" Target="/ppt/notesMasters/notesMaster1.xml" Id="R1de4a5dadda14b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7f7f3aa3134811" /><Relationship Type="http://schemas.openxmlformats.org/officeDocument/2006/relationships/notesMaster" Target="/ppt/notesMasters/notesMaster1.xml" Id="Rb412f5fd12fb48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Governing question follows the internship plan, with channel choice stated explicitly. The four branches cover demand, alternatives, economics and execution. Readiness/ability-to-win sits in G1/G2. Each risk belongs to the decision it affects rather than forming an overlapping fifth branch. E2 evaluates InGen returns as a condition for a viable customer offer. C2 owns peer observations and E2 owns InGen modelling. All eight leaves have one initial hypothesis, test, source family and expected answer week on slides 2–3.</a:t>
            </a:r>
          </a:p>
          <a:p xmlns:a="http://schemas.openxmlformats.org/drawingml/2006/main">
            <a:r>
              <a:t/>
            </a:r>
          </a:p>
          <a:p xmlns:a="http://schemas.openxmlformats.org/drawingml/2006/main">
            <a:r>
              <a:t>Baseline consistency: Rover remains the main hardware case. Sentinel remains the commercial security co-anchor. The W01 brief ranks investigation priority, which does not establish a standalone offer or replace the programme scope. G1 validates H01/H02. No product availability or customer demand is assumed.</a:t>
            </a:r>
          </a:p>
          <a:p xmlns:a="http://schemas.openxmlformats.org/drawingml/2006/main">
            <a:r>
              <a:t/>
            </a:r>
          </a:p>
          <a:p xmlns:a="http://schemas.openxmlformats.org/drawingml/2006/main">
            <a:r>
              <a:t>Evidence and planned collection</a:t>
            </a:r>
          </a:p>
          <a:p xmlns:a="http://schemas.openxmlformats.org/drawingml/2006/main">
            <a:r>
              <a:t>I1: Internship Plan for Yufei Li, v1.0, October 2026</a:t>
            </a:r>
          </a:p>
          <a:p xmlns:a="http://schemas.openxmlformats.org/drawingml/2006/main">
            <a:r>
              <a:t>Sections 1.4, 2.1 and Weeks 1–6. The four-branch analysis structure groups readiness and risk under the decision they affect.</a:t>
            </a:r>
          </a:p>
          <a:p xmlns:a="http://schemas.openxmlformats.org/drawingml/2006/main">
            <a:r>
              <a:t/>
            </a:r>
          </a:p>
          <a:p xmlns:a="http://schemas.openxmlformats.org/drawingml/2006/main">
            <a:r>
              <a:t>I2: W01_Platform_Business_Brief.docx</a:t>
            </a:r>
          </a:p>
          <a:p xmlns:a="http://schemas.openxmlformats.org/drawingml/2006/main">
            <a:r>
              <a:t>Five platform commercial profiles; validation tests maintained in Assumptions_Register.xlsx.</a:t>
            </a:r>
          </a:p>
          <a:p xmlns:a="http://schemas.openxmlformats.org/drawingml/2006/main">
            <a:r>
              <a:t/>
            </a:r>
          </a:p>
          <a:p xmlns:a="http://schemas.openxmlformats.org/drawingml/2006/main">
            <a:r>
              <a:t>S1: InGen product portfolio</a:t>
            </a:r>
          </a:p>
          <a:p xmlns:a="http://schemas.openxmlformats.org/drawingml/2006/main">
            <a:r>
              <a:t>https://www.ingendynamics.com/</a:t>
            </a:r>
          </a:p>
          <a:p xmlns:a="http://schemas.openxmlformats.org/drawingml/2006/main">
            <a:r>
              <a:t/>
            </a:r>
          </a:p>
          <a:p xmlns:a="http://schemas.openxmlformats.org/drawingml/2006/main">
            <a:r>
              <a:t>All leaf hypotheses remain open. P01–P06 are planned evidence families, not completed research datasets. Specific records and numerical inputs must enter Sources_Log.xlsx or Assumptions_Register.xlsx before use. Review date: 27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M1: Use the latest available BLS OEWS data and lock the vintage before modelling. BLS employment is headcount, not site-level patrol hours. Wages require explicit annual hours/benefit/overhead assumptions. Census CBP establishments provide industry counts but need a physical-site crosswalk and coverage adjustments. Size guard-spend TAM/SAM separately from monetisable vendor revenue. Bottom-up starts with sites and average guard spend, then converts the addressable task pool to candidate robot/service revenue with explicit price/units assumptions. Reconcile years, geography, task scope and price basis rather than averaging incompatible estimates. If the gap exceeds 2×, identify its driver. SOM uses three-year sales/partner capacity, conversion and deployment limits, constrained by SAM.</a:t>
            </a:r>
          </a:p>
          <a:p xmlns:a="http://schemas.openxmlformats.org/drawingml/2006/main">
            <a:r>
              <a:t/>
            </a:r>
          </a:p>
          <a:p xmlns:a="http://schemas.openxmlformats.org/drawingml/2006/main">
            <a:r>
              <a:t>M2: Six criteria follow the plan: size, pain, deployment ease, buyer access/sales cycle, competition and capability fit. Logistics is an initial hypothesis, not a chosen beachhead. Test ±10 percentage points per weight with proportional renormalisation, keeping non-negative weights. Report any rank reversal. Avoid double counting warehouses and logistics yards.</a:t>
            </a:r>
          </a:p>
          <a:p xmlns:a="http://schemas.openxmlformats.org/drawingml/2006/main">
            <a:r>
              <a:t/>
            </a:r>
          </a:p>
          <a:p xmlns:a="http://schemas.openxmlformats.org/drawingml/2006/main">
            <a:r>
              <a:t>C1: Include robotic and non-robotic alternatives and one workflow baseline. An 8–12 entity longlist is a programme target. Chinese-source translations retain original date/source and translation confidence.</a:t>
            </a:r>
          </a:p>
          <a:p xmlns:a="http://schemas.openxmlformats.org/drawingml/2006/main">
            <a:r>
              <a:t/>
            </a:r>
          </a:p>
          <a:p xmlns:a="http://schemas.openxmlformats.org/drawingml/2006/main">
            <a:r>
              <a:t>C2: Public-company filing ratios are observed benchmarks. They do not establish InGen unit cost or runway. Separate company-wide operating cash flow from per-unit contribution and recurring revenue from profitable recurring revenue. Analyse two or three fiscal years on consistent definitions.</a:t>
            </a:r>
          </a:p>
          <a:p xmlns:a="http://schemas.openxmlformats.org/drawingml/2006/main">
            <a:r>
              <a:t/>
            </a:r>
          </a:p>
          <a:p xmlns:a="http://schemas.openxmlformats.org/drawingml/2006/main">
            <a:r>
              <a:t>Outputs: W02_Market_Sizing_Model.xlsx, W02_Segment_Prioritisation_Memo.docx, W03_Competitor_Database.xlsx, W03_Financial_Benchmark.xlsx and W03_Competitive_Analysis.docx.</a:t>
            </a:r>
          </a:p>
          <a:p xmlns:a="http://schemas.openxmlformats.org/drawingml/2006/main">
            <a:r>
              <a:t/>
            </a:r>
          </a:p>
          <a:p xmlns:a="http://schemas.openxmlformats.org/drawingml/2006/main">
            <a:r>
              <a:t>Assumptions are initialised in Assumptions_Register.xlsx. Review site mapping, patrol-only share, guard cost, sales capacity, segment weights and delivery cost before using them.</a:t>
            </a:r>
          </a:p>
          <a:p xmlns:a="http://schemas.openxmlformats.org/drawingml/2006/main">
            <a:r>
              <a:t>Evidence and planned collection</a:t>
            </a:r>
          </a:p>
          <a:p xmlns:a="http://schemas.openxmlformats.org/drawingml/2006/main">
            <a:r>
              <a:t>I1: Internship Plan for Yufei Li, v1.0, October 2026</a:t>
            </a:r>
          </a:p>
          <a:p xmlns:a="http://schemas.openxmlformats.org/drawingml/2006/main">
            <a:r>
              <a:t>Sections 1.4, 2.1 and Weeks 1–6. The four-branch analysis structure groups readiness and risk under the decision they affect.</a:t>
            </a:r>
          </a:p>
          <a:p xmlns:a="http://schemas.openxmlformats.org/drawingml/2006/main">
            <a:r>
              <a:t/>
            </a:r>
          </a:p>
          <a:p xmlns:a="http://schemas.openxmlformats.org/drawingml/2006/main">
            <a:r>
              <a:t>P01: BLS OEWS national occupation tables, SOC 33-9032</a:t>
            </a:r>
          </a:p>
          <a:p xmlns:a="http://schemas.openxmlformats.org/drawingml/2006/main">
            <a:r>
              <a:t>https://www.bls.gov/oes/tables.htm</a:t>
            </a:r>
          </a:p>
          <a:p xmlns:a="http://schemas.openxmlformats.org/drawingml/2006/main">
            <a:r>
              <a:t/>
            </a:r>
          </a:p>
          <a:p xmlns:a="http://schemas.openxmlformats.org/drawingml/2006/main">
            <a:r>
              <a:t>P02: US Census County Business Patterns, methodology and datasets</a:t>
            </a:r>
          </a:p>
          <a:p xmlns:a="http://schemas.openxmlformats.org/drawingml/2006/main">
            <a:r>
              <a:t>https://www.census.gov/programs-surveys/cbp/about.html</a:t>
            </a:r>
          </a:p>
          <a:p xmlns:a="http://schemas.openxmlformats.org/drawingml/2006/main">
            <a:r>
              <a:t/>
            </a:r>
          </a:p>
          <a:p xmlns:a="http://schemas.openxmlformats.org/drawingml/2006/main">
            <a:r>
              <a:t>P03: Public procurement records, operator case studies and security job descriptions</a:t>
            </a:r>
          </a:p>
          <a:p xmlns:a="http://schemas.openxmlformats.org/drawingml/2006/main">
            <a:r>
              <a:t>Planned collection: retain each original URL, date, geography and reliability grade.</a:t>
            </a:r>
          </a:p>
          <a:p xmlns:a="http://schemas.openxmlformats.org/drawingml/2006/main">
            <a:r>
              <a:t/>
            </a:r>
          </a:p>
          <a:p xmlns:a="http://schemas.openxmlformats.org/drawingml/2006/main">
            <a:r>
              <a:t>P04: Official competitor product, pricing, support and Chinese-language disclosures</a:t>
            </a:r>
          </a:p>
          <a:p xmlns:a="http://schemas.openxmlformats.org/drawingml/2006/main">
            <a:r>
              <a:t>Planned collection: preserve original source, date and translation/confidence flag.</a:t>
            </a:r>
          </a:p>
          <a:p xmlns:a="http://schemas.openxmlformats.org/drawingml/2006/main">
            <a:r>
              <a:t/>
            </a:r>
          </a:p>
          <a:p xmlns:a="http://schemas.openxmlformats.org/drawingml/2006/main">
            <a:r>
              <a:t>P05: SEC/HKEX annual filings, including Knightscope 2025 10-K</a:t>
            </a:r>
          </a:p>
          <a:p xmlns:a="http://schemas.openxmlformats.org/drawingml/2006/main">
            <a:r>
              <a:t>https://www.sec.gov/Archives/edgar/data/1600983/000110465926036240/kscp-20251231x10k.htm</a:t>
            </a:r>
          </a:p>
          <a:p xmlns:a="http://schemas.openxmlformats.org/drawingml/2006/main">
            <a:r>
              <a:t/>
            </a:r>
          </a:p>
          <a:p xmlns:a="http://schemas.openxmlformats.org/drawingml/2006/main">
            <a:r>
              <a:t>S1: InGen product portfolio</a:t>
            </a:r>
          </a:p>
          <a:p xmlns:a="http://schemas.openxmlformats.org/drawingml/2006/main">
            <a:r>
              <a:t>https://www.ingendynamics.com/</a:t>
            </a:r>
          </a:p>
          <a:p xmlns:a="http://schemas.openxmlformats.org/drawingml/2006/main">
            <a:r>
              <a:t/>
            </a:r>
          </a:p>
          <a:p xmlns:a="http://schemas.openxmlformats.org/drawingml/2006/main">
            <a:r>
              <a:t>All leaf hypotheses remain open. P01–P06 are planned evidence families, not completed research datasets. Specific records and numerical inputs must enter Sources_Log.xlsx or Assumptions_Register.xlsx before use. Review date: 27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E1: Savings count only demonstrably removable tasks. A guard also provides access control, response and judgement. Redeployed hours are operational value and do not automatically become cash savings. Model budget savings and capacity released separately. Test three-year TCO, annual saving, payback and break-even removable hours under base/upside/downside scenarios. Validate the buyer’s hurdle rather than inventing one.</a:t>
            </a:r>
          </a:p>
          <a:p xmlns:a="http://schemas.openxmlformats.org/drawingml/2006/main">
            <a:r>
              <a:t/>
            </a:r>
          </a:p>
          <a:p xmlns:a="http://schemas.openxmlformats.org/drawingml/2006/main">
            <a:r>
              <a:t>E2: Compare sale, lease and RaaS with hardware funding, support, installation, CAC and retention. Show cash outflow timing and financing needs. Evaluate a software-led Sentinel offer only if G1 establishes feasibility. Do not claim InGen prices, unit costs or positive margin. The initial RaaS preference is a testable hypothesis. Customer savings and supplier economics share one source of truth for price.</a:t>
            </a:r>
          </a:p>
          <a:p xmlns:a="http://schemas.openxmlformats.org/drawingml/2006/main">
            <a:r>
              <a:t/>
            </a:r>
          </a:p>
          <a:p xmlns:a="http://schemas.openxmlformats.org/drawingml/2006/main">
            <a:r>
              <a:t>G1: H01 concerns Rover service feasibility and H02 concerns standalone Sentinel feasibility. Confirm maturity and configuration early. Define buyer (Security Director/VP Facilities), direct user (SOC supervisor/analyst or guard) and approver/influencers (IT, procurement, risk/insurer). Keep roles consistent with the next stakeholder map and programme RACI. Evaluate physical safety, terrain/weather envelope, connectivity/charging, privacy/retention, VMS integration and human response. NIST is voluntary guidance, not product certification. Public evidence is the default. Any external discovery needs prior written supervisor approval.</a:t>
            </a:r>
          </a:p>
          <a:p xmlns:a="http://schemas.openxmlformats.org/drawingml/2006/main">
            <a:r>
              <a:t/>
            </a:r>
          </a:p>
          <a:p xmlns:a="http://schemas.openxmlformats.org/drawingml/2006/main">
            <a:r>
              <a:t>G2: Compare channel options using evidence and explicit cost ranges. A partner route is unconfirmed. Pilot design occurs W4, economic/KPI thresholds W5, and integration of offer, channel and decision gates W6. A proposed 12-week pilot is a recommendation, not a live experiment completed during the six-week programme. Define uptime, coverage, false alarms, detection/escalation quality, human intervention and economic value. If genuine incident events are sparse, use agreed test events without claiming real-world effectiveness. Synthetic dashboard data demonstrates reporting logic only.</a:t>
            </a:r>
          </a:p>
          <a:p xmlns:a="http://schemas.openxmlformats.org/drawingml/2006/main">
            <a:r>
              <a:t/>
            </a:r>
          </a:p>
          <a:p xmlns:a="http://schemas.openxmlformats.org/drawingml/2006/main">
            <a:r>
              <a:t>Outputs: W04_Personas_and_Journey.pptx, W04_Process_Maps.pdf, W04_Pilot_BRD.docx, W04_Traceability_Matrix.xlsx, W05_Customer_ROI_Calculator.xlsx, W05_Unit_Economics_Model.xlsx, W05_KPI_Framework.xlsx and W06_GTM_Recommendation_Memo.docx.</a:t>
            </a:r>
          </a:p>
          <a:p xmlns:a="http://schemas.openxmlformats.org/drawingml/2006/main">
            <a:r>
              <a:t/>
            </a:r>
          </a:p>
          <a:p xmlns:a="http://schemas.openxmlformats.org/drawingml/2006/main">
            <a:r>
              <a:t>Assumptions are initialised in Assumptions_Register.xlsx. Human supervision, retained guard coverage, price and channel terms remain open.</a:t>
            </a:r>
          </a:p>
          <a:p xmlns:a="http://schemas.openxmlformats.org/drawingml/2006/main">
            <a:r>
              <a:t>Evidence and planned collection</a:t>
            </a:r>
          </a:p>
          <a:p xmlns:a="http://schemas.openxmlformats.org/drawingml/2006/main">
            <a:r>
              <a:t>I1: Internship Plan for Yufei Li, v1.0, October 2026</a:t>
            </a:r>
          </a:p>
          <a:p xmlns:a="http://schemas.openxmlformats.org/drawingml/2006/main">
            <a:r>
              <a:t>Sections 1.4, 2.1 and Weeks 1–6. The four-branch analysis structure groups readiness and risk under the decision they affect.</a:t>
            </a:r>
          </a:p>
          <a:p xmlns:a="http://schemas.openxmlformats.org/drawingml/2006/main">
            <a:r>
              <a:t/>
            </a:r>
          </a:p>
          <a:p xmlns:a="http://schemas.openxmlformats.org/drawingml/2006/main">
            <a:r>
              <a:t>I2: W01_Platform_Business_Brief.docx</a:t>
            </a:r>
          </a:p>
          <a:p xmlns:a="http://schemas.openxmlformats.org/drawingml/2006/main">
            <a:r>
              <a:t>Five platform commercial profiles; validation tests maintained in Assumptions_Register.xlsx.</a:t>
            </a:r>
          </a:p>
          <a:p xmlns:a="http://schemas.openxmlformats.org/drawingml/2006/main">
            <a:r>
              <a:t/>
            </a:r>
          </a:p>
          <a:p xmlns:a="http://schemas.openxmlformats.org/drawingml/2006/main">
            <a:r>
              <a:t>S1: InGen product portfolio</a:t>
            </a:r>
          </a:p>
          <a:p xmlns:a="http://schemas.openxmlformats.org/drawingml/2006/main">
            <a:r>
              <a:t>https://www.ingendynamics.com/</a:t>
            </a:r>
          </a:p>
          <a:p xmlns:a="http://schemas.openxmlformats.org/drawingml/2006/main">
            <a:r>
              <a:t/>
            </a:r>
          </a:p>
          <a:p xmlns:a="http://schemas.openxmlformats.org/drawingml/2006/main">
            <a:r>
              <a:t>S2: InGen 2025 Form C-AR</a:t>
            </a:r>
          </a:p>
          <a:p xmlns:a="http://schemas.openxmlformats.org/drawingml/2006/main">
            <a:r>
              <a:t>https://www.sec.gov/Archives/edgar/data/1690888/000169088826000003/ingen_form_c-ar_20251.htm</a:t>
            </a:r>
          </a:p>
          <a:p xmlns:a="http://schemas.openxmlformats.org/drawingml/2006/main">
            <a:r>
              <a:t/>
            </a:r>
          </a:p>
          <a:p xmlns:a="http://schemas.openxmlformats.org/drawingml/2006/main">
            <a:r>
              <a:t>P01: BLS OEWS national occupation tables, SOC 33-9032</a:t>
            </a:r>
          </a:p>
          <a:p xmlns:a="http://schemas.openxmlformats.org/drawingml/2006/main">
            <a:r>
              <a:t>https://www.bls.gov/oes/tables.htm</a:t>
            </a:r>
          </a:p>
          <a:p xmlns:a="http://schemas.openxmlformats.org/drawingml/2006/main">
            <a:r>
              <a:t/>
            </a:r>
          </a:p>
          <a:p xmlns:a="http://schemas.openxmlformats.org/drawingml/2006/main">
            <a:r>
              <a:t>P03: Public procurement records, operator case studies and security job descriptions</a:t>
            </a:r>
          </a:p>
          <a:p xmlns:a="http://schemas.openxmlformats.org/drawingml/2006/main">
            <a:r>
              <a:t>Planned collection: retain each original URL, date, geography and reliability grade.</a:t>
            </a:r>
          </a:p>
          <a:p xmlns:a="http://schemas.openxmlformats.org/drawingml/2006/main">
            <a:r>
              <a:t/>
            </a:r>
          </a:p>
          <a:p xmlns:a="http://schemas.openxmlformats.org/drawingml/2006/main">
            <a:r>
              <a:t>P04: Official competitor product, pricing, support and Chinese-language disclosures</a:t>
            </a:r>
          </a:p>
          <a:p xmlns:a="http://schemas.openxmlformats.org/drawingml/2006/main">
            <a:r>
              <a:t>Planned collection: preserve original source, date and translation/confidence flag.</a:t>
            </a:r>
          </a:p>
          <a:p xmlns:a="http://schemas.openxmlformats.org/drawingml/2006/main">
            <a:r>
              <a:t/>
            </a:r>
          </a:p>
          <a:p xmlns:a="http://schemas.openxmlformats.org/drawingml/2006/main">
            <a:r>
              <a:t>P05: SEC/HKEX annual filings, including Knightscope 2025 10-K</a:t>
            </a:r>
          </a:p>
          <a:p xmlns:a="http://schemas.openxmlformats.org/drawingml/2006/main">
            <a:r>
              <a:t>https://www.sec.gov/Archives/edgar/data/1600983/000110465926036240/kscp-20251231x10k.htm</a:t>
            </a:r>
          </a:p>
          <a:p xmlns:a="http://schemas.openxmlformats.org/drawingml/2006/main">
            <a:r>
              <a:t/>
            </a:r>
          </a:p>
          <a:p xmlns:a="http://schemas.openxmlformats.org/drawingml/2006/main">
            <a:r>
              <a:t>P06: NIST AI Risk Management Framework</a:t>
            </a:r>
          </a:p>
          <a:p xmlns:a="http://schemas.openxmlformats.org/drawingml/2006/main">
            <a:r>
              <a:t>https://www.nist.gov/itl/ai-risk-management-framework</a:t>
            </a:r>
          </a:p>
          <a:p xmlns:a="http://schemas.openxmlformats.org/drawingml/2006/main">
            <a:r>
              <a:t/>
            </a:r>
          </a:p>
          <a:p xmlns:a="http://schemas.openxmlformats.org/drawingml/2006/main">
            <a:r>
              <a:t>All leaf hypotheses remain open. P01–P06 are planned evidence families, not completed research datasets. Specific records and numerical inputs must enter Sources_Log.xlsx or Assumptions_Register.xlsx before use. Review date: 27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Programme weeks follow the source internship plan. This deck does not infer revised calendar deadlines from its preparation date. W1 establishes the hypotheses. W2–W6 progressively answer them. The W3 midpoint revisits findings, scope and uncertainties before committing to customer and financial analysis.</a:t>
            </a:r>
          </a:p>
          <a:p xmlns:a="http://schemas.openxmlformats.org/drawingml/2006/main">
            <a:r>
              <a:t/>
            </a:r>
          </a:p>
          <a:p xmlns:a="http://schemas.openxmlformats.org/drawingml/2006/main">
            <a:r>
              <a:t>Consistency rules for later files:</a:t>
            </a:r>
          </a:p>
          <a:p xmlns:a="http://schemas.openxmlformats.org/drawingml/2006/main">
            <a:r>
              <a:t>1. Keep leaf IDs M1, M2, C1, C2, E1, E2, G1, G2 stable. Add each output’s leaf ID and source/assumption ID to the evidence trail.</a:t>
            </a:r>
          </a:p>
          <a:p xmlns:a="http://schemas.openxmlformats.org/drawingml/2006/main">
            <a:r>
              <a:t>2. Preserve W01 hypothesis IDs H01–H05 and source IDs S1–S6, even if a hypothesis changes. Record status changes in the register.</a:t>
            </a:r>
          </a:p>
          <a:p xmlns:a="http://schemas.openxmlformats.org/drawingml/2006/main">
            <a:r>
              <a:t>3. Create P01–P06 source families as exact record entries during collection. Reliability grades describe each original source, not an entire family. Government statistics and audited accounts can be strong sources for their own measures without proving customer adoption or InGen economics.</a:t>
            </a:r>
          </a:p>
          <a:p xmlns:a="http://schemas.openxmlformats.org/drawingml/2006/main">
            <a:r>
              <a:t>4. The model assumptions are initialised in Assumptions_Register.xlsx and remain open and unvalued.</a:t>
            </a:r>
          </a:p>
          <a:p xmlns:a="http://schemas.openxmlformats.org/drawingml/2006/main">
            <a:r>
              <a:t>5. Annual USD is the default flow basis. State model year, count unit and geography. Model annual TAM/SAM, three-year SOM and customer TCO, with a proposed 12-week paid pilot. Keep market spend distinct from InGen revenue.</a:t>
            </a:r>
          </a:p>
          <a:p xmlns:a="http://schemas.openxmlformats.org/drawingml/2006/main">
            <a:r>
              <a:t>6. Stakeholder-map role labels: InGen leadership/supervisor, buyer Security Director/VP Facilities, security operations user, InGen sales/partnerships and product/engineering. Map power/interest as a hypothesis. The programme RACI must separate analyst, reviewer and accountable approver, with one accountable role per deliverable. No RACI responsibility is assigned as a fact in this deck.</a:t>
            </a:r>
          </a:p>
          <a:p xmlns:a="http://schemas.openxmlformats.org/drawingml/2006/main">
            <a:r>
              <a:t>7. Fari is a secondary framework-transfer test, not an addition to the security TAM. Senpai/Humanoid inform future research options.</a:t>
            </a:r>
          </a:p>
          <a:p xmlns:a="http://schemas.openxmlformats.org/drawingml/2006/main">
            <a:r>
              <a:t>8. The final recommendation must cite supporting evidence, the strongest counterargument and what would change it.</a:t>
            </a:r>
          </a:p>
          <a:p xmlns:a="http://schemas.openxmlformats.org/drawingml/2006/main">
            <a:r>
              <a:t/>
            </a:r>
          </a:p>
          <a:p xmlns:a="http://schemas.openxmlformats.org/drawingml/2006/main">
            <a:r>
              <a:t>The assumptions register is initialised; all validation questions remain open. Use its source names and topic names as the evidence trail.</a:t>
            </a:r>
          </a:p>
          <a:p xmlns:a="http://schemas.openxmlformats.org/drawingml/2006/main">
            <a:r>
              <a:t>Evidence and planned collection</a:t>
            </a:r>
          </a:p>
          <a:p xmlns:a="http://schemas.openxmlformats.org/drawingml/2006/main">
            <a:r>
              <a:t>I1: Internship Plan for Yufei Li, v1.0, October 2026</a:t>
            </a:r>
          </a:p>
          <a:p xmlns:a="http://schemas.openxmlformats.org/drawingml/2006/main">
            <a:r>
              <a:t>Sections 1.4, 2.1 and Weeks 1–6. The four-branch analysis structure groups readiness and risk under the decision they affect.</a:t>
            </a:r>
          </a:p>
          <a:p xmlns:a="http://schemas.openxmlformats.org/drawingml/2006/main">
            <a:r>
              <a:t/>
            </a:r>
          </a:p>
          <a:p xmlns:a="http://schemas.openxmlformats.org/drawingml/2006/main">
            <a:r>
              <a:t>I2: W01_Platform_Business_Brief.docx</a:t>
            </a:r>
          </a:p>
          <a:p xmlns:a="http://schemas.openxmlformats.org/drawingml/2006/main">
            <a:r>
              <a:t>Five platform commercial profiles; validation tests maintained in Assumptions_Register.xlsx.</a:t>
            </a:r>
          </a:p>
          <a:p xmlns:a="http://schemas.openxmlformats.org/drawingml/2006/main">
            <a:r>
              <a:t/>
            </a:r>
          </a:p>
          <a:p xmlns:a="http://schemas.openxmlformats.org/drawingml/2006/main">
            <a:r>
              <a:t>S1: InGen product portfolio</a:t>
            </a:r>
          </a:p>
          <a:p xmlns:a="http://schemas.openxmlformats.org/drawingml/2006/main">
            <a:r>
              <a:t>https://www.ingendynamics.com/</a:t>
            </a:r>
          </a:p>
          <a:p xmlns:a="http://schemas.openxmlformats.org/drawingml/2006/main">
            <a:r>
              <a:t/>
            </a:r>
          </a:p>
          <a:p xmlns:a="http://schemas.openxmlformats.org/drawingml/2006/main">
            <a:r>
              <a:t>P01: BLS OEWS national occupation tables, SOC 33-9032</a:t>
            </a:r>
          </a:p>
          <a:p xmlns:a="http://schemas.openxmlformats.org/drawingml/2006/main">
            <a:r>
              <a:t>https://www.bls.gov/oes/tables.htm</a:t>
            </a:r>
          </a:p>
          <a:p xmlns:a="http://schemas.openxmlformats.org/drawingml/2006/main">
            <a:r>
              <a:t/>
            </a:r>
          </a:p>
          <a:p xmlns:a="http://schemas.openxmlformats.org/drawingml/2006/main">
            <a:r>
              <a:t>P02: US Census County Business Patterns, methodology and datasets</a:t>
            </a:r>
          </a:p>
          <a:p xmlns:a="http://schemas.openxmlformats.org/drawingml/2006/main">
            <a:r>
              <a:t>https://www.census.gov/programs-surveys/cbp/about.html</a:t>
            </a:r>
          </a:p>
          <a:p xmlns:a="http://schemas.openxmlformats.org/drawingml/2006/main">
            <a:r>
              <a:t/>
            </a:r>
          </a:p>
          <a:p xmlns:a="http://schemas.openxmlformats.org/drawingml/2006/main">
            <a:r>
              <a:t>P03: Public procurement records, operator case studies and security job descriptions</a:t>
            </a:r>
          </a:p>
          <a:p xmlns:a="http://schemas.openxmlformats.org/drawingml/2006/main">
            <a:r>
              <a:t>Planned collection: retain each original URL, date, geography and reliability grade.</a:t>
            </a:r>
          </a:p>
          <a:p xmlns:a="http://schemas.openxmlformats.org/drawingml/2006/main">
            <a:r>
              <a:t/>
            </a:r>
          </a:p>
          <a:p xmlns:a="http://schemas.openxmlformats.org/drawingml/2006/main">
            <a:r>
              <a:t>P04: Official competitor product, pricing, support and Chinese-language disclosures</a:t>
            </a:r>
          </a:p>
          <a:p xmlns:a="http://schemas.openxmlformats.org/drawingml/2006/main">
            <a:r>
              <a:t>Planned collection: preserve original source, date and translation/confidence flag.</a:t>
            </a:r>
          </a:p>
          <a:p xmlns:a="http://schemas.openxmlformats.org/drawingml/2006/main">
            <a:r>
              <a:t/>
            </a:r>
          </a:p>
          <a:p xmlns:a="http://schemas.openxmlformats.org/drawingml/2006/main">
            <a:r>
              <a:t>P05: SEC/HKEX annual filings, including Knightscope 2025 10-K</a:t>
            </a:r>
          </a:p>
          <a:p xmlns:a="http://schemas.openxmlformats.org/drawingml/2006/main">
            <a:r>
              <a:t>https://www.sec.gov/Archives/edgar/data/1600983/000110465926036240/kscp-20251231x10k.htm</a:t>
            </a:r>
          </a:p>
          <a:p xmlns:a="http://schemas.openxmlformats.org/drawingml/2006/main">
            <a:r>
              <a:t/>
            </a:r>
          </a:p>
          <a:p xmlns:a="http://schemas.openxmlformats.org/drawingml/2006/main">
            <a:r>
              <a:t>P06: NIST AI Risk Management Framework</a:t>
            </a:r>
          </a:p>
          <a:p xmlns:a="http://schemas.openxmlformats.org/drawingml/2006/main">
            <a:r>
              <a:t>https://www.nist.gov/itl/ai-risk-management-framework</a:t>
            </a:r>
          </a:p>
          <a:p xmlns:a="http://schemas.openxmlformats.org/drawingml/2006/main">
            <a:r>
              <a:t/>
            </a:r>
          </a:p>
          <a:p xmlns:a="http://schemas.openxmlformats.org/drawingml/2006/main">
            <a:r>
              <a:t>All leaf hypotheses remain open. P01–P06 are planned evidence families, not completed research datasets. Specific records and numerical inputs must enter Sources_Log.xlsx or Assumptions_Register.xlsx before use. Review date: 27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98840476594ec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ffc62e543fd4a3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0ad8353bf43475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92c610db5ad44b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db1787218d64a1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f6eac1a0fe94d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9DBAAD-2A96-4A94-800C-B7B62FA31E67}"/>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20764F5-496B-44ED-AF81-BE13BB385F41}"/>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4915BED-B56C-4B64-8D27-4D86206151AA}"/>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3111D7-E809-491F-9F8D-8A701713D269}"/>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6A014E7-03C1-400F-8569-CC4BBA755F97}"/>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3548D44-0960-4A4C-AD43-B998F1B5A60D}"/>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4932CE4-7A0C-4A09-8426-790920A4A926}"/>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F1AA610-A7A2-4CCD-B3FB-0E8992C51665}"/>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30E121C-8EAB-4F41-8A05-781E2E7E398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81304EB-5DA3-42A7-B6F2-717933B335A3}"/>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e7d6fc5370413e" /><Relationship Type="http://schemas.openxmlformats.org/officeDocument/2006/relationships/slideLayout" Target="/ppt/slideLayouts/slideLayout1.xml" Id="Rca364216dbd94758" /><Relationship Type="http://schemas.openxmlformats.org/officeDocument/2006/relationships/slideLayout" Target="/ppt/slideLayouts/slideLayout2.xml" Id="R1069322293e645d4" /><Relationship Type="http://schemas.openxmlformats.org/officeDocument/2006/relationships/slideLayout" Target="/ppt/slideLayouts/slideLayout3.xml" Id="R500255d3d0144b4d" /><Relationship Type="http://schemas.openxmlformats.org/officeDocument/2006/relationships/slideLayout" Target="/ppt/slideLayouts/slideLayout4.xml" Id="R0bbafd6b07d7462d" /><Relationship Type="http://schemas.openxmlformats.org/officeDocument/2006/relationships/slideLayout" Target="/ppt/slideLayouts/slideLayout5.xml" Id="R7689cfcb575b44df" /><Relationship Type="http://schemas.openxmlformats.org/officeDocument/2006/relationships/slideLayout" Target="/ppt/slideLayouts/slideLayout6.xml" Id="R5abecd2a6c904d2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364216dbd94758"/>
    <p:sldLayoutId xmlns:r="http://schemas.openxmlformats.org/officeDocument/2006/relationships" id="2147483650" r:id="R1069322293e645d4"/>
    <p:sldLayoutId xmlns:r="http://schemas.openxmlformats.org/officeDocument/2006/relationships" id="2147483651" r:id="R500255d3d0144b4d"/>
    <p:sldLayoutId xmlns:r="http://schemas.openxmlformats.org/officeDocument/2006/relationships" id="2147483652" r:id="R0bbafd6b07d7462d"/>
    <p:sldLayoutId xmlns:r="http://schemas.openxmlformats.org/officeDocument/2006/relationships" id="2147483653" r:id="R7689cfcb575b44df"/>
    <p:sldLayoutId xmlns:r="http://schemas.openxmlformats.org/officeDocument/2006/relationships" id="2147483654" r:id="R5abecd2a6c904d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2e6a1491bc7456b" /><Relationship Type="http://schemas.openxmlformats.org/officeDocument/2006/relationships/notesSlide" Target="/ppt/notesSlides/notesSlide1.xml" Id="R2fde64fb2a91432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ab8405b0bf345cd" /><Relationship Type="http://schemas.openxmlformats.org/officeDocument/2006/relationships/notesSlide" Target="/ppt/notesSlides/notesSlide2.xml" Id="R59ede8fc44e34b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0b831002c704a31" /><Relationship Type="http://schemas.openxmlformats.org/officeDocument/2006/relationships/notesSlide" Target="/ppt/notesSlides/notesSlide3.xml" Id="Rb34cc482513d4c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a6d12cc1ded4783" /><Relationship Type="http://schemas.openxmlformats.org/officeDocument/2006/relationships/notesSlide" Target="/ppt/notesSlides/notesSlide4.xml" Id="Rc9aa24339e394f6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5" name="">
            <a:extLst xmlns:a="http://schemas.openxmlformats.org/drawingml/2006/main">
              <a:ext uri="{FF2B5EF4-FFF2-40B4-BE49-F238E27FC236}">
                <a16:creationId xmlns:a16="http://schemas.microsoft.com/office/drawing/2014/main" id="{75C1D078-1463-4814-8755-AB95FA698FCA}"/>
              </a:ext>
            </a:extLst>
          </p:cNvPr>
          <p:cNvCxnSpPr>
            <a:stCxn xmlns:a="http://schemas.openxmlformats.org/drawingml/2006/main" id="29" idx="3"/>
            <a:endCxn xmlns:a="http://schemas.openxmlformats.org/drawingml/2006/main" id="34" idx="1"/>
          </p:cNvCxnSpPr>
          <p:nvPr/>
        </p:nvCxnSpPr>
        <p:spPr>
          <a:xfrm xmlns:a="http://schemas.openxmlformats.org/drawingml/2006/main">
            <a:off x="6238875" y="6400800"/>
            <a:ext cx="904875" cy="357188"/>
          </a:xfrm>
          <a:prstGeom xmlns:a="http://schemas.openxmlformats.org/drawingml/2006/main" prst="bentConnector3">
            <a:avLst>
              <a:gd name="adj1" fmla="val 50000"/>
            </a:avLst>
          </a:prstGeom>
          <a:ln xmlns:a="http://schemas.openxmlformats.org/drawingml/2006/main" w="15240">
            <a:solidFill>
              <a:srgbClr val="C8D5DF"/>
            </a:solidFill>
            <a:prstDash val="solid"/>
          </a:ln>
        </p:spPr>
      </p:cxnSp>
      <p:cxnSp>
        <p:nvCxnSpPr>
          <p:cNvPr id="33" name="">
            <a:extLst xmlns:a="http://schemas.openxmlformats.org/drawingml/2006/main">
              <a:ext uri="{FF2B5EF4-FFF2-40B4-BE49-F238E27FC236}">
                <a16:creationId xmlns:a16="http://schemas.microsoft.com/office/drawing/2014/main" id="{77E1AF99-0D2A-4829-859C-C1568C318C53}"/>
              </a:ext>
            </a:extLst>
          </p:cNvPr>
          <p:cNvCxnSpPr>
            <a:stCxn xmlns:a="http://schemas.openxmlformats.org/drawingml/2006/main" id="29" idx="3"/>
            <a:endCxn xmlns:a="http://schemas.openxmlformats.org/drawingml/2006/main" id="32" idx="1"/>
          </p:cNvCxnSpPr>
          <p:nvPr/>
        </p:nvCxnSpPr>
        <p:spPr>
          <a:xfrm xmlns:a="http://schemas.openxmlformats.org/drawingml/2006/main" flipV="1">
            <a:off x="6238875" y="6291263"/>
            <a:ext cx="904875" cy="109538"/>
          </a:xfrm>
          <a:prstGeom xmlns:a="http://schemas.openxmlformats.org/drawingml/2006/main" prst="bentConnector3">
            <a:avLst>
              <a:gd name="adj1" fmla="val 50000"/>
            </a:avLst>
          </a:prstGeom>
          <a:ln xmlns:a="http://schemas.openxmlformats.org/drawingml/2006/main" w="15240">
            <a:solidFill>
              <a:srgbClr val="C8D5DF"/>
            </a:solidFill>
            <a:prstDash val="solid"/>
          </a:ln>
        </p:spPr>
      </p:cxnSp>
      <p:cxnSp>
        <p:nvCxnSpPr>
          <p:cNvPr id="31" name="">
            <a:extLst xmlns:a="http://schemas.openxmlformats.org/drawingml/2006/main">
              <a:ext uri="{FF2B5EF4-FFF2-40B4-BE49-F238E27FC236}">
                <a16:creationId xmlns:a16="http://schemas.microsoft.com/office/drawing/2014/main" id="{62B09C82-24A2-4A4E-BF61-8353999CF9FE}"/>
              </a:ext>
            </a:extLst>
          </p:cNvPr>
          <p:cNvCxnSpPr>
            <a:stCxn xmlns:a="http://schemas.openxmlformats.org/drawingml/2006/main" id="7" idx="3"/>
            <a:endCxn xmlns:a="http://schemas.openxmlformats.org/drawingml/2006/main" id="29" idx="1"/>
          </p:cNvCxnSpPr>
          <p:nvPr/>
        </p:nvCxnSpPr>
        <p:spPr>
          <a:xfrm xmlns:a="http://schemas.openxmlformats.org/drawingml/2006/main">
            <a:off x="2667000" y="4857750"/>
            <a:ext cx="857250" cy="1543050"/>
          </a:xfrm>
          <a:prstGeom xmlns:a="http://schemas.openxmlformats.org/drawingml/2006/main" prst="bentConnector3">
            <a:avLst>
              <a:gd name="adj1" fmla="val 50000"/>
            </a:avLst>
          </a:prstGeom>
          <a:ln xmlns:a="http://schemas.openxmlformats.org/drawingml/2006/main" w="19050">
            <a:solidFill>
              <a:srgbClr val="C8D5DF"/>
            </a:solidFill>
            <a:prstDash val="solid"/>
          </a:ln>
        </p:spPr>
      </p:cxnSp>
      <p:cxnSp>
        <p:nvCxnSpPr>
          <p:cNvPr id="28" name="">
            <a:extLst xmlns:a="http://schemas.openxmlformats.org/drawingml/2006/main">
              <a:ext uri="{FF2B5EF4-FFF2-40B4-BE49-F238E27FC236}">
                <a16:creationId xmlns:a16="http://schemas.microsoft.com/office/drawing/2014/main" id="{3111E9AC-4046-4610-AF3B-1BED12A33DE0}"/>
              </a:ext>
            </a:extLst>
          </p:cNvPr>
          <p:cNvCxnSpPr>
            <a:stCxn xmlns:a="http://schemas.openxmlformats.org/drawingml/2006/main" id="22" idx="3"/>
            <a:endCxn xmlns:a="http://schemas.openxmlformats.org/drawingml/2006/main" id="27" idx="1"/>
          </p:cNvCxnSpPr>
          <p:nvPr/>
        </p:nvCxnSpPr>
        <p:spPr>
          <a:xfrm xmlns:a="http://schemas.openxmlformats.org/drawingml/2006/main">
            <a:off x="6238875" y="5353050"/>
            <a:ext cx="904875" cy="357188"/>
          </a:xfrm>
          <a:prstGeom xmlns:a="http://schemas.openxmlformats.org/drawingml/2006/main" prst="bentConnector3">
            <a:avLst>
              <a:gd name="adj1" fmla="val 50000"/>
            </a:avLst>
          </a:prstGeom>
          <a:ln xmlns:a="http://schemas.openxmlformats.org/drawingml/2006/main" w="15240">
            <a:solidFill>
              <a:srgbClr val="C8D5DF"/>
            </a:solidFill>
            <a:prstDash val="solid"/>
          </a:ln>
        </p:spPr>
      </p:cxnSp>
      <p:cxnSp>
        <p:nvCxnSpPr>
          <p:cNvPr id="26" name="">
            <a:extLst xmlns:a="http://schemas.openxmlformats.org/drawingml/2006/main">
              <a:ext uri="{FF2B5EF4-FFF2-40B4-BE49-F238E27FC236}">
                <a16:creationId xmlns:a16="http://schemas.microsoft.com/office/drawing/2014/main" id="{67D8C4EC-DC8B-4B74-A75E-F548EE9E4822}"/>
              </a:ext>
            </a:extLst>
          </p:cNvPr>
          <p:cNvCxnSpPr>
            <a:stCxn xmlns:a="http://schemas.openxmlformats.org/drawingml/2006/main" id="22" idx="3"/>
            <a:endCxn xmlns:a="http://schemas.openxmlformats.org/drawingml/2006/main" id="25" idx="1"/>
          </p:cNvCxnSpPr>
          <p:nvPr/>
        </p:nvCxnSpPr>
        <p:spPr>
          <a:xfrm xmlns:a="http://schemas.openxmlformats.org/drawingml/2006/main" flipV="1">
            <a:off x="6238875" y="5243513"/>
            <a:ext cx="904875" cy="109538"/>
          </a:xfrm>
          <a:prstGeom xmlns:a="http://schemas.openxmlformats.org/drawingml/2006/main" prst="bentConnector3">
            <a:avLst>
              <a:gd name="adj1" fmla="val 50000"/>
            </a:avLst>
          </a:prstGeom>
          <a:ln xmlns:a="http://schemas.openxmlformats.org/drawingml/2006/main" w="15240">
            <a:solidFill>
              <a:srgbClr val="C8D5DF"/>
            </a:solidFill>
            <a:prstDash val="solid"/>
          </a:ln>
        </p:spPr>
      </p:cxnSp>
      <p:cxnSp>
        <p:nvCxnSpPr>
          <p:cNvPr id="24" name="">
            <a:extLst xmlns:a="http://schemas.openxmlformats.org/drawingml/2006/main">
              <a:ext uri="{FF2B5EF4-FFF2-40B4-BE49-F238E27FC236}">
                <a16:creationId xmlns:a16="http://schemas.microsoft.com/office/drawing/2014/main" id="{31B4F6C8-1A3C-4D12-A171-DECA1648A022}"/>
              </a:ext>
            </a:extLst>
          </p:cNvPr>
          <p:cNvCxnSpPr>
            <a:stCxn xmlns:a="http://schemas.openxmlformats.org/drawingml/2006/main" id="7" idx="3"/>
            <a:endCxn xmlns:a="http://schemas.openxmlformats.org/drawingml/2006/main" id="22" idx="1"/>
          </p:cNvCxnSpPr>
          <p:nvPr/>
        </p:nvCxnSpPr>
        <p:spPr>
          <a:xfrm xmlns:a="http://schemas.openxmlformats.org/drawingml/2006/main">
            <a:off x="2667000" y="4857750"/>
            <a:ext cx="857250" cy="495300"/>
          </a:xfrm>
          <a:prstGeom xmlns:a="http://schemas.openxmlformats.org/drawingml/2006/main" prst="bentConnector3">
            <a:avLst>
              <a:gd name="adj1" fmla="val 50000"/>
            </a:avLst>
          </a:prstGeom>
          <a:ln xmlns:a="http://schemas.openxmlformats.org/drawingml/2006/main" w="19050">
            <a:solidFill>
              <a:srgbClr val="C8D5DF"/>
            </a:solidFill>
            <a:prstDash val="solid"/>
          </a:ln>
        </p:spPr>
      </p:cxnSp>
      <p:cxnSp>
        <p:nvCxnSpPr>
          <p:cNvPr id="21" name="">
            <a:extLst xmlns:a="http://schemas.openxmlformats.org/drawingml/2006/main">
              <a:ext uri="{FF2B5EF4-FFF2-40B4-BE49-F238E27FC236}">
                <a16:creationId xmlns:a16="http://schemas.microsoft.com/office/drawing/2014/main" id="{C768ED1C-20B8-4CBD-90D0-F106045F1A5E}"/>
              </a:ext>
            </a:extLst>
          </p:cNvPr>
          <p:cNvCxnSpPr>
            <a:stCxn xmlns:a="http://schemas.openxmlformats.org/drawingml/2006/main" id="15" idx="3"/>
            <a:endCxn xmlns:a="http://schemas.openxmlformats.org/drawingml/2006/main" id="20" idx="1"/>
          </p:cNvCxnSpPr>
          <p:nvPr/>
        </p:nvCxnSpPr>
        <p:spPr>
          <a:xfrm xmlns:a="http://schemas.openxmlformats.org/drawingml/2006/main">
            <a:off x="6238875" y="4305300"/>
            <a:ext cx="904875" cy="357188"/>
          </a:xfrm>
          <a:prstGeom xmlns:a="http://schemas.openxmlformats.org/drawingml/2006/main" prst="bentConnector3">
            <a:avLst>
              <a:gd name="adj1" fmla="val 50000"/>
            </a:avLst>
          </a:prstGeom>
          <a:ln xmlns:a="http://schemas.openxmlformats.org/drawingml/2006/main" w="15240">
            <a:solidFill>
              <a:srgbClr val="C8D5DF"/>
            </a:solidFill>
            <a:prstDash val="solid"/>
          </a:ln>
        </p:spPr>
      </p:cxnSp>
      <p:cxnSp>
        <p:nvCxnSpPr>
          <p:cNvPr id="19" name="">
            <a:extLst xmlns:a="http://schemas.openxmlformats.org/drawingml/2006/main">
              <a:ext uri="{FF2B5EF4-FFF2-40B4-BE49-F238E27FC236}">
                <a16:creationId xmlns:a16="http://schemas.microsoft.com/office/drawing/2014/main" id="{E3F2D102-0A80-48BB-99C7-80EE24787CD1}"/>
              </a:ext>
            </a:extLst>
          </p:cNvPr>
          <p:cNvCxnSpPr>
            <a:stCxn xmlns:a="http://schemas.openxmlformats.org/drawingml/2006/main" id="15" idx="3"/>
            <a:endCxn xmlns:a="http://schemas.openxmlformats.org/drawingml/2006/main" id="18" idx="1"/>
          </p:cNvCxnSpPr>
          <p:nvPr/>
        </p:nvCxnSpPr>
        <p:spPr>
          <a:xfrm xmlns:a="http://schemas.openxmlformats.org/drawingml/2006/main" flipV="1">
            <a:off x="6238875" y="4195763"/>
            <a:ext cx="904875" cy="109538"/>
          </a:xfrm>
          <a:prstGeom xmlns:a="http://schemas.openxmlformats.org/drawingml/2006/main" prst="bentConnector3">
            <a:avLst>
              <a:gd name="adj1" fmla="val 50000"/>
            </a:avLst>
          </a:prstGeom>
          <a:ln xmlns:a="http://schemas.openxmlformats.org/drawingml/2006/main" w="15240">
            <a:solidFill>
              <a:srgbClr val="C8D5DF"/>
            </a:solidFill>
            <a:prstDash val="solid"/>
          </a:ln>
        </p:spPr>
      </p:cxnSp>
      <p:cxnSp>
        <p:nvCxnSpPr>
          <p:cNvPr id="17" name="">
            <a:extLst xmlns:a="http://schemas.openxmlformats.org/drawingml/2006/main">
              <a:ext uri="{FF2B5EF4-FFF2-40B4-BE49-F238E27FC236}">
                <a16:creationId xmlns:a16="http://schemas.microsoft.com/office/drawing/2014/main" id="{35ACBC87-8D03-491B-947D-4E93FF171950}"/>
              </a:ext>
            </a:extLst>
          </p:cNvPr>
          <p:cNvCxnSpPr>
            <a:stCxn xmlns:a="http://schemas.openxmlformats.org/drawingml/2006/main" id="7" idx="3"/>
            <a:endCxn xmlns:a="http://schemas.openxmlformats.org/drawingml/2006/main" id="15" idx="1"/>
          </p:cNvCxnSpPr>
          <p:nvPr/>
        </p:nvCxnSpPr>
        <p:spPr>
          <a:xfrm xmlns:a="http://schemas.openxmlformats.org/drawingml/2006/main" flipV="1">
            <a:off x="2667000" y="4305300"/>
            <a:ext cx="857250" cy="552450"/>
          </a:xfrm>
          <a:prstGeom xmlns:a="http://schemas.openxmlformats.org/drawingml/2006/main" prst="bentConnector3">
            <a:avLst>
              <a:gd name="adj1" fmla="val 50000"/>
            </a:avLst>
          </a:prstGeom>
          <a:ln xmlns:a="http://schemas.openxmlformats.org/drawingml/2006/main" w="19050">
            <a:solidFill>
              <a:srgbClr val="C8D5DF"/>
            </a:solidFill>
            <a:prstDash val="solid"/>
          </a:ln>
        </p:spPr>
      </p:cxnSp>
      <p:cxnSp>
        <p:nvCxnSpPr>
          <p:cNvPr id="14" name="">
            <a:extLst xmlns:a="http://schemas.openxmlformats.org/drawingml/2006/main">
              <a:ext uri="{FF2B5EF4-FFF2-40B4-BE49-F238E27FC236}">
                <a16:creationId xmlns:a16="http://schemas.microsoft.com/office/drawing/2014/main" id="{BE5A9AF0-7E2C-4FB5-9FEE-BAE9D11BEEB6}"/>
              </a:ext>
            </a:extLst>
          </p:cNvPr>
          <p:cNvCxnSpPr>
            <a:stCxn xmlns:a="http://schemas.openxmlformats.org/drawingml/2006/main" id="8" idx="3"/>
            <a:endCxn xmlns:a="http://schemas.openxmlformats.org/drawingml/2006/main" id="13" idx="1"/>
          </p:cNvCxnSpPr>
          <p:nvPr/>
        </p:nvCxnSpPr>
        <p:spPr>
          <a:xfrm xmlns:a="http://schemas.openxmlformats.org/drawingml/2006/main">
            <a:off x="6238875" y="3257550"/>
            <a:ext cx="904875" cy="357188"/>
          </a:xfrm>
          <a:prstGeom xmlns:a="http://schemas.openxmlformats.org/drawingml/2006/main" prst="bentConnector3">
            <a:avLst>
              <a:gd name="adj1" fmla="val 50000"/>
            </a:avLst>
          </a:prstGeom>
          <a:ln xmlns:a="http://schemas.openxmlformats.org/drawingml/2006/main" w="15240">
            <a:solidFill>
              <a:srgbClr val="C8D5DF"/>
            </a:solidFill>
            <a:prstDash val="solid"/>
          </a:ln>
        </p:spPr>
      </p:cxnSp>
      <p:cxnSp>
        <p:nvCxnSpPr>
          <p:cNvPr id="12" name="">
            <a:extLst xmlns:a="http://schemas.openxmlformats.org/drawingml/2006/main">
              <a:ext uri="{FF2B5EF4-FFF2-40B4-BE49-F238E27FC236}">
                <a16:creationId xmlns:a16="http://schemas.microsoft.com/office/drawing/2014/main" id="{7358D479-3981-47FD-8B98-6A493CC510A2}"/>
              </a:ext>
            </a:extLst>
          </p:cNvPr>
          <p:cNvCxnSpPr>
            <a:stCxn xmlns:a="http://schemas.openxmlformats.org/drawingml/2006/main" id="8" idx="3"/>
            <a:endCxn xmlns:a="http://schemas.openxmlformats.org/drawingml/2006/main" id="11" idx="1"/>
          </p:cNvCxnSpPr>
          <p:nvPr/>
        </p:nvCxnSpPr>
        <p:spPr>
          <a:xfrm xmlns:a="http://schemas.openxmlformats.org/drawingml/2006/main" flipV="1">
            <a:off x="6238875" y="3148013"/>
            <a:ext cx="904875" cy="109538"/>
          </a:xfrm>
          <a:prstGeom xmlns:a="http://schemas.openxmlformats.org/drawingml/2006/main" prst="bentConnector3">
            <a:avLst>
              <a:gd name="adj1" fmla="val 50000"/>
            </a:avLst>
          </a:prstGeom>
          <a:ln xmlns:a="http://schemas.openxmlformats.org/drawingml/2006/main" w="15240">
            <a:solidFill>
              <a:srgbClr val="C8D5DF"/>
            </a:solidFill>
            <a:prstDash val="solid"/>
          </a:ln>
        </p:spPr>
      </p:cxnSp>
      <p:cxnSp>
        <p:nvCxnSpPr>
          <p:cNvPr id="10" name="">
            <a:extLst xmlns:a="http://schemas.openxmlformats.org/drawingml/2006/main">
              <a:ext uri="{FF2B5EF4-FFF2-40B4-BE49-F238E27FC236}">
                <a16:creationId xmlns:a16="http://schemas.microsoft.com/office/drawing/2014/main" id="{C878B72D-52B8-405A-8F7B-A121C1B28156}"/>
              </a:ext>
            </a:extLst>
          </p:cNvPr>
          <p:cNvCxnSpPr>
            <a:stCxn xmlns:a="http://schemas.openxmlformats.org/drawingml/2006/main" id="7" idx="3"/>
            <a:endCxn xmlns:a="http://schemas.openxmlformats.org/drawingml/2006/main" id="8" idx="1"/>
          </p:cNvCxnSpPr>
          <p:nvPr/>
        </p:nvCxnSpPr>
        <p:spPr>
          <a:xfrm xmlns:a="http://schemas.openxmlformats.org/drawingml/2006/main" flipV="1">
            <a:off x="2667000" y="3257550"/>
            <a:ext cx="857250" cy="1600200"/>
          </a:xfrm>
          <a:prstGeom xmlns:a="http://schemas.openxmlformats.org/drawingml/2006/main" prst="bentConnector3">
            <a:avLst>
              <a:gd name="adj1" fmla="val 50000"/>
            </a:avLst>
          </a:prstGeom>
          <a:ln xmlns:a="http://schemas.openxmlformats.org/drawingml/2006/main" w="19050">
            <a:solidFill>
              <a:srgbClr val="C8D5DF"/>
            </a:solidFill>
            <a:prstDash val="solid"/>
          </a:ln>
        </p:spPr>
      </p:cxnSp>
      <p:sp>
        <p:nvSpPr>
          <p:cNvPr id="37" name="text-0">
            <a:extLst xmlns:a="http://schemas.openxmlformats.org/drawingml/2006/main">
              <a:ext uri="{FF2B5EF4-FFF2-40B4-BE49-F238E27FC236}">
                <a16:creationId xmlns:a16="http://schemas.microsoft.com/office/drawing/2014/main" id="{4A93DA66-1F11-4D21-ABB3-10CC5E31EB15}"/>
              </a:ext>
            </a:extLst>
          </p:cNvPr>
          <p:cNvSpPr>
            <a:spLocks xmlns:a="http://schemas.openxmlformats.org/drawingml/2006/main" noGrp="1"/>
          </p:cNvSpPr>
          <p:nvPr/>
        </p:nvSpPr>
        <p:spPr>
          <a:xfrm xmlns:a="http://schemas.openxmlformats.org/drawingml/2006/main">
            <a:off x="571500" y="361950"/>
            <a:ext cx="1409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73B5E"/>
                </a:solidFill>
                <a:latin typeface="Nimbus Sans"/>
                <a:ea typeface="Nimbus Sans"/>
                <a:cs typeface="Nimbus Sans"/>
              </a:defRPr>
            </a:defPPr>
            <a:lvl1pPr>
              <a:buNone/>
              <a:defRPr sz="3225" b="1">
                <a:solidFill>
                  <a:srgbClr val="173B5E"/>
                </a:solidFill>
                <a:latin typeface="Nimbus Sans"/>
                <a:ea typeface="Nimbus Sans"/>
                <a:cs typeface="Nimbus Sans"/>
              </a:defRPr>
            </a:lvl1pPr>
            <a:lvl2pPr>
              <a:buNone/>
              <a:defRPr sz="3225" b="1">
                <a:solidFill>
                  <a:srgbClr val="173B5E"/>
                </a:solidFill>
                <a:latin typeface="Nimbus Sans"/>
                <a:ea typeface="Nimbus Sans"/>
                <a:cs typeface="Nimbus Sans"/>
              </a:defRPr>
            </a:lvl2pPr>
            <a:lvl3pPr>
              <a:buNone/>
              <a:defRPr sz="3225" b="1">
                <a:solidFill>
                  <a:srgbClr val="173B5E"/>
                </a:solidFill>
                <a:latin typeface="Nimbus Sans"/>
                <a:ea typeface="Nimbus Sans"/>
                <a:cs typeface="Nimbus Sans"/>
              </a:defRPr>
            </a:lvl3pPr>
            <a:lvl4pPr>
              <a:buNone/>
              <a:defRPr sz="3225" b="1">
                <a:solidFill>
                  <a:srgbClr val="173B5E"/>
                </a:solidFill>
                <a:latin typeface="Nimbus Sans"/>
                <a:ea typeface="Nimbus Sans"/>
                <a:cs typeface="Nimbus Sans"/>
              </a:defRPr>
            </a:lvl4pPr>
            <a:lvl5pPr>
              <a:buNone/>
              <a:defRPr sz="3225" b="1">
                <a:solidFill>
                  <a:srgbClr val="173B5E"/>
                </a:solidFill>
                <a:latin typeface="Nimbus Sans"/>
                <a:ea typeface="Nimbus Sans"/>
                <a:cs typeface="Nimbus Sans"/>
              </a:defRPr>
            </a:lvl5pPr>
            <a:lvl6pPr>
              <a:buNone/>
              <a:defRPr sz="3225" b="1">
                <a:solidFill>
                  <a:srgbClr val="173B5E"/>
                </a:solidFill>
                <a:latin typeface="Nimbus Sans"/>
                <a:ea typeface="Nimbus Sans"/>
                <a:cs typeface="Nimbus Sans"/>
              </a:defRPr>
            </a:lvl6pPr>
            <a:lvl7pPr>
              <a:buNone/>
              <a:defRPr sz="3225" b="1">
                <a:solidFill>
                  <a:srgbClr val="173B5E"/>
                </a:solidFill>
                <a:latin typeface="Nimbus Sans"/>
                <a:ea typeface="Nimbus Sans"/>
                <a:cs typeface="Nimbus Sans"/>
              </a:defRPr>
            </a:lvl7pPr>
            <a:lvl8pPr>
              <a:buNone/>
              <a:defRPr sz="3225" b="1">
                <a:solidFill>
                  <a:srgbClr val="173B5E"/>
                </a:solidFill>
                <a:latin typeface="Nimbus Sans"/>
                <a:ea typeface="Nimbus Sans"/>
                <a:cs typeface="Nimbus Sans"/>
              </a:defRPr>
            </a:lvl8pPr>
            <a:lvl9pPr>
              <a:buNone/>
              <a:defRPr sz="3225" b="1">
                <a:solidFill>
                  <a:srgbClr val="173B5E"/>
                </a:solidFill>
                <a:latin typeface="Nimbus Sans"/>
                <a:ea typeface="Nimbus Sans"/>
                <a:cs typeface="Nimbus Sans"/>
              </a:defRPr>
            </a:lvl9pPr>
          </a:lstStyle>
          <a:p xmlns:a="http://schemas.openxmlformats.org/drawingml/2006/main">
            <a:pPr>
              <a:buNone/>
              <a:defRPr sz="3225" b="1">
                <a:solidFill>
                  <a:srgbClr val="173B5E"/>
                </a:solidFill>
                <a:latin typeface="Nimbus Sans"/>
                <a:ea typeface="Nimbus Sans"/>
                <a:cs typeface="Nimbus Sans"/>
              </a:defRPr>
            </a:pPr>
            <a:r>
              <a:rPr sz="3225" b="1">
                <a:solidFill>
                  <a:srgbClr val="173B5E"/>
                </a:solidFill>
                <a:latin typeface="Nimbus Sans"/>
                <a:ea typeface="Nimbus Sans"/>
                <a:cs typeface="Nimbus Sans"/>
              </a:rPr>
              <a:t>Governing question and MECE issue tree</a:t>
            </a:r>
          </a:p>
        </p:txBody>
      </p:sp>
      <p:cxnSp>
        <p:nvCxnSpPr>
          <p:cNvPr id="2" name="">
            <a:extLst xmlns:a="http://schemas.openxmlformats.org/drawingml/2006/main">
              <a:ext uri="{FF2B5EF4-FFF2-40B4-BE49-F238E27FC236}">
                <a16:creationId xmlns:a16="http://schemas.microsoft.com/office/drawing/2014/main" id="{15B3200C-81C3-46FA-BC8C-F307937903B0}"/>
              </a:ext>
            </a:extLst>
          </p:cNvPr>
          <p:cNvCxnSpPr/>
          <p:nvPr/>
        </p:nvCxnSpPr>
        <p:spPr>
          <a:xfrm xmlns:a="http://schemas.openxmlformats.org/drawingml/2006/main">
            <a:off x="571500" y="8001000"/>
            <a:ext cx="14097000" cy="0"/>
          </a:xfrm>
          <a:prstGeom xmlns:a="http://schemas.openxmlformats.org/drawingml/2006/main" prst="bentConnector4">
            <a:avLst/>
          </a:prstGeom>
          <a:ln xmlns:a="http://schemas.openxmlformats.org/drawingml/2006/main" w="9525">
            <a:solidFill>
              <a:srgbClr val="C8D5DF"/>
            </a:solidFill>
            <a:prstDash val="solid"/>
          </a:ln>
        </p:spPr>
      </p:cxnSp>
      <p:sp>
        <p:nvSpPr>
          <p:cNvPr id="3" name="text-2">
            <a:extLst xmlns:a="http://schemas.openxmlformats.org/drawingml/2006/main">
              <a:ext uri="{FF2B5EF4-FFF2-40B4-BE49-F238E27FC236}">
                <a16:creationId xmlns:a16="http://schemas.microsoft.com/office/drawing/2014/main" id="{65F341B0-8558-456F-A592-F9E599DE5B03}"/>
              </a:ext>
            </a:extLst>
          </p:cNvPr>
          <p:cNvSpPr>
            <a:spLocks xmlns:a="http://schemas.openxmlformats.org/drawingml/2006/main" noGrp="1"/>
          </p:cNvSpPr>
          <p:nvPr/>
        </p:nvSpPr>
        <p:spPr>
          <a:xfrm xmlns:a="http://schemas.openxmlformats.org/drawingml/2006/main">
            <a:off x="571500" y="8124825"/>
            <a:ext cx="1257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2677A"/>
                </a:solidFill>
                <a:latin typeface="Nimbus Sans"/>
                <a:ea typeface="Nimbus Sans"/>
                <a:cs typeface="Nimbus Sans"/>
              </a:defRPr>
            </a:defPPr>
            <a:lvl1pPr>
              <a:buNone/>
              <a:defRPr sz="1275" b="0">
                <a:solidFill>
                  <a:srgbClr val="52677A"/>
                </a:solidFill>
                <a:latin typeface="Nimbus Sans"/>
                <a:ea typeface="Nimbus Sans"/>
                <a:cs typeface="Nimbus Sans"/>
              </a:defRPr>
            </a:lvl1pPr>
            <a:lvl2pPr>
              <a:buNone/>
              <a:defRPr sz="1275" b="0">
                <a:solidFill>
                  <a:srgbClr val="52677A"/>
                </a:solidFill>
                <a:latin typeface="Nimbus Sans"/>
                <a:ea typeface="Nimbus Sans"/>
                <a:cs typeface="Nimbus Sans"/>
              </a:defRPr>
            </a:lvl2pPr>
            <a:lvl3pPr>
              <a:buNone/>
              <a:defRPr sz="1275" b="0">
                <a:solidFill>
                  <a:srgbClr val="52677A"/>
                </a:solidFill>
                <a:latin typeface="Nimbus Sans"/>
                <a:ea typeface="Nimbus Sans"/>
                <a:cs typeface="Nimbus Sans"/>
              </a:defRPr>
            </a:lvl3pPr>
            <a:lvl4pPr>
              <a:buNone/>
              <a:defRPr sz="1275" b="0">
                <a:solidFill>
                  <a:srgbClr val="52677A"/>
                </a:solidFill>
                <a:latin typeface="Nimbus Sans"/>
                <a:ea typeface="Nimbus Sans"/>
                <a:cs typeface="Nimbus Sans"/>
              </a:defRPr>
            </a:lvl4pPr>
            <a:lvl5pPr>
              <a:buNone/>
              <a:defRPr sz="1275" b="0">
                <a:solidFill>
                  <a:srgbClr val="52677A"/>
                </a:solidFill>
                <a:latin typeface="Nimbus Sans"/>
                <a:ea typeface="Nimbus Sans"/>
                <a:cs typeface="Nimbus Sans"/>
              </a:defRPr>
            </a:lvl5pPr>
            <a:lvl6pPr>
              <a:buNone/>
              <a:defRPr sz="1275" b="0">
                <a:solidFill>
                  <a:srgbClr val="52677A"/>
                </a:solidFill>
                <a:latin typeface="Nimbus Sans"/>
                <a:ea typeface="Nimbus Sans"/>
                <a:cs typeface="Nimbus Sans"/>
              </a:defRPr>
            </a:lvl6pPr>
            <a:lvl7pPr>
              <a:buNone/>
              <a:defRPr sz="1275" b="0">
                <a:solidFill>
                  <a:srgbClr val="52677A"/>
                </a:solidFill>
                <a:latin typeface="Nimbus Sans"/>
                <a:ea typeface="Nimbus Sans"/>
                <a:cs typeface="Nimbus Sans"/>
              </a:defRPr>
            </a:lvl7pPr>
            <a:lvl8pPr>
              <a:buNone/>
              <a:defRPr sz="1275" b="0">
                <a:solidFill>
                  <a:srgbClr val="52677A"/>
                </a:solidFill>
                <a:latin typeface="Nimbus Sans"/>
                <a:ea typeface="Nimbus Sans"/>
                <a:cs typeface="Nimbus Sans"/>
              </a:defRPr>
            </a:lvl8pPr>
            <a:lvl9pPr>
              <a:buNone/>
              <a:defRPr sz="1275" b="0">
                <a:solidFill>
                  <a:srgbClr val="52677A"/>
                </a:solidFill>
                <a:latin typeface="Nimbus Sans"/>
                <a:ea typeface="Nimbus Sans"/>
                <a:cs typeface="Nimbus Sans"/>
              </a:defRPr>
            </a:lvl9pPr>
          </a:lstStyle>
          <a:p xmlns:a="http://schemas.openxmlformats.org/drawingml/2006/main">
            <a:pPr>
              <a:buNone/>
              <a:defRPr sz="1275" b="0">
                <a:solidFill>
                  <a:srgbClr val="52677A"/>
                </a:solidFill>
                <a:latin typeface="Nimbus Sans"/>
                <a:ea typeface="Nimbus Sans"/>
                <a:cs typeface="Nimbus Sans"/>
              </a:defRPr>
            </a:pPr>
            <a:r>
              <a:rPr sz="1275" b="0">
                <a:solidFill>
                  <a:srgbClr val="52677A"/>
                </a:solidFill>
                <a:latin typeface="Nimbus Sans"/>
                <a:ea typeface="Nimbus Sans"/>
                <a:cs typeface="Nimbus Sans"/>
              </a:rPr>
              <a:t>InGen Dynamics   Week 1   Yufei Li   27 October 2026</a:t>
            </a:r>
          </a:p>
        </p:txBody>
      </p:sp>
      <p:sp>
        <p:nvSpPr>
          <p:cNvPr id="4" name="text-3">
            <a:extLst xmlns:a="http://schemas.openxmlformats.org/drawingml/2006/main">
              <a:ext uri="{FF2B5EF4-FFF2-40B4-BE49-F238E27FC236}">
                <a16:creationId xmlns:a16="http://schemas.microsoft.com/office/drawing/2014/main" id="{A8A60F97-252F-4570-BE7D-4CE2456F99EB}"/>
              </a:ext>
            </a:extLst>
          </p:cNvPr>
          <p:cNvSpPr>
            <a:spLocks xmlns:a="http://schemas.openxmlformats.org/drawingml/2006/main" noGrp="1"/>
          </p:cNvSpPr>
          <p:nvPr/>
        </p:nvSpPr>
        <p:spPr>
          <a:xfrm xmlns:a="http://schemas.openxmlformats.org/drawingml/2006/main">
            <a:off x="14097000" y="81057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1">
                <a:solidFill>
                  <a:srgbClr val="173B5E"/>
                </a:solidFill>
                <a:latin typeface="Nimbus Sans"/>
                <a:ea typeface="Nimbus Sans"/>
                <a:cs typeface="Nimbus Sans"/>
              </a:defRPr>
            </a:defPPr>
            <a:lvl1pPr algn="r">
              <a:buNone/>
              <a:defRPr sz="1500" b="1">
                <a:solidFill>
                  <a:srgbClr val="173B5E"/>
                </a:solidFill>
                <a:latin typeface="Nimbus Sans"/>
                <a:ea typeface="Nimbus Sans"/>
                <a:cs typeface="Nimbus Sans"/>
              </a:defRPr>
            </a:lvl1pPr>
            <a:lvl2pPr algn="r">
              <a:buNone/>
              <a:defRPr sz="1500" b="1">
                <a:solidFill>
                  <a:srgbClr val="173B5E"/>
                </a:solidFill>
                <a:latin typeface="Nimbus Sans"/>
                <a:ea typeface="Nimbus Sans"/>
                <a:cs typeface="Nimbus Sans"/>
              </a:defRPr>
            </a:lvl2pPr>
            <a:lvl3pPr algn="r">
              <a:buNone/>
              <a:defRPr sz="1500" b="1">
                <a:solidFill>
                  <a:srgbClr val="173B5E"/>
                </a:solidFill>
                <a:latin typeface="Nimbus Sans"/>
                <a:ea typeface="Nimbus Sans"/>
                <a:cs typeface="Nimbus Sans"/>
              </a:defRPr>
            </a:lvl3pPr>
            <a:lvl4pPr algn="r">
              <a:buNone/>
              <a:defRPr sz="1500" b="1">
                <a:solidFill>
                  <a:srgbClr val="173B5E"/>
                </a:solidFill>
                <a:latin typeface="Nimbus Sans"/>
                <a:ea typeface="Nimbus Sans"/>
                <a:cs typeface="Nimbus Sans"/>
              </a:defRPr>
            </a:lvl4pPr>
            <a:lvl5pPr algn="r">
              <a:buNone/>
              <a:defRPr sz="1500" b="1">
                <a:solidFill>
                  <a:srgbClr val="173B5E"/>
                </a:solidFill>
                <a:latin typeface="Nimbus Sans"/>
                <a:ea typeface="Nimbus Sans"/>
                <a:cs typeface="Nimbus Sans"/>
              </a:defRPr>
            </a:lvl5pPr>
            <a:lvl6pPr algn="r">
              <a:buNone/>
              <a:defRPr sz="1500" b="1">
                <a:solidFill>
                  <a:srgbClr val="173B5E"/>
                </a:solidFill>
                <a:latin typeface="Nimbus Sans"/>
                <a:ea typeface="Nimbus Sans"/>
                <a:cs typeface="Nimbus Sans"/>
              </a:defRPr>
            </a:lvl6pPr>
            <a:lvl7pPr algn="r">
              <a:buNone/>
              <a:defRPr sz="1500" b="1">
                <a:solidFill>
                  <a:srgbClr val="173B5E"/>
                </a:solidFill>
                <a:latin typeface="Nimbus Sans"/>
                <a:ea typeface="Nimbus Sans"/>
                <a:cs typeface="Nimbus Sans"/>
              </a:defRPr>
            </a:lvl7pPr>
            <a:lvl8pPr algn="r">
              <a:buNone/>
              <a:defRPr sz="1500" b="1">
                <a:solidFill>
                  <a:srgbClr val="173B5E"/>
                </a:solidFill>
                <a:latin typeface="Nimbus Sans"/>
                <a:ea typeface="Nimbus Sans"/>
                <a:cs typeface="Nimbus Sans"/>
              </a:defRPr>
            </a:lvl8pPr>
            <a:lvl9pPr algn="r">
              <a:buNone/>
              <a:defRPr sz="1500" b="1">
                <a:solidFill>
                  <a:srgbClr val="173B5E"/>
                </a:solidFill>
                <a:latin typeface="Nimbus Sans"/>
                <a:ea typeface="Nimbus Sans"/>
                <a:cs typeface="Nimbus Sans"/>
              </a:defRPr>
            </a:lvl9pPr>
          </a:lstStyle>
          <a:p xmlns:a="http://schemas.openxmlformats.org/drawingml/2006/main">
            <a:pPr algn="r">
              <a:buNone/>
              <a:defRPr sz="1500" b="1">
                <a:solidFill>
                  <a:srgbClr val="173B5E"/>
                </a:solidFill>
                <a:latin typeface="Nimbus Sans"/>
                <a:ea typeface="Nimbus Sans"/>
                <a:cs typeface="Nimbus Sans"/>
              </a:defRPr>
            </a:pPr>
            <a:r>
              <a:rPr sz="1500" b="1">
                <a:solidFill>
                  <a:srgbClr val="173B5E"/>
                </a:solidFill>
                <a:latin typeface="Nimbus Sans"/>
                <a:ea typeface="Nimbus Sans"/>
                <a:cs typeface="Nimbus Sans"/>
              </a:rPr>
              <a:t>01</a:t>
            </a:r>
          </a:p>
        </p:txBody>
      </p:sp>
      <p:sp>
        <p:nvSpPr>
          <p:cNvPr id="5" name="text-4">
            <a:extLst xmlns:a="http://schemas.openxmlformats.org/drawingml/2006/main">
              <a:ext uri="{FF2B5EF4-FFF2-40B4-BE49-F238E27FC236}">
                <a16:creationId xmlns:a16="http://schemas.microsoft.com/office/drawing/2014/main" id="{5FE8AB74-2C15-432D-8EF7-0640437994A9}"/>
              </a:ext>
            </a:extLst>
          </p:cNvPr>
          <p:cNvSpPr>
            <a:spLocks xmlns:a="http://schemas.openxmlformats.org/drawingml/2006/main" noGrp="1"/>
          </p:cNvSpPr>
          <p:nvPr/>
        </p:nvSpPr>
        <p:spPr>
          <a:xfrm xmlns:a="http://schemas.openxmlformats.org/drawingml/2006/main">
            <a:off x="571500" y="1162050"/>
            <a:ext cx="14097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173B5E"/>
                </a:solidFill>
                <a:latin typeface="Nimbus Sans"/>
                <a:ea typeface="Nimbus Sans"/>
                <a:cs typeface="Nimbus Sans"/>
              </a:defRPr>
            </a:defPPr>
            <a:lvl1pPr>
              <a:buNone/>
              <a:defRPr sz="2325" b="1">
                <a:solidFill>
                  <a:srgbClr val="173B5E"/>
                </a:solidFill>
                <a:latin typeface="Nimbus Sans"/>
                <a:ea typeface="Nimbus Sans"/>
                <a:cs typeface="Nimbus Sans"/>
              </a:defRPr>
            </a:lvl1pPr>
            <a:lvl2pPr>
              <a:buNone/>
              <a:defRPr sz="2325" b="1">
                <a:solidFill>
                  <a:srgbClr val="173B5E"/>
                </a:solidFill>
                <a:latin typeface="Nimbus Sans"/>
                <a:ea typeface="Nimbus Sans"/>
                <a:cs typeface="Nimbus Sans"/>
              </a:defRPr>
            </a:lvl2pPr>
            <a:lvl3pPr>
              <a:buNone/>
              <a:defRPr sz="2325" b="1">
                <a:solidFill>
                  <a:srgbClr val="173B5E"/>
                </a:solidFill>
                <a:latin typeface="Nimbus Sans"/>
                <a:ea typeface="Nimbus Sans"/>
                <a:cs typeface="Nimbus Sans"/>
              </a:defRPr>
            </a:lvl3pPr>
            <a:lvl4pPr>
              <a:buNone/>
              <a:defRPr sz="2325" b="1">
                <a:solidFill>
                  <a:srgbClr val="173B5E"/>
                </a:solidFill>
                <a:latin typeface="Nimbus Sans"/>
                <a:ea typeface="Nimbus Sans"/>
                <a:cs typeface="Nimbus Sans"/>
              </a:defRPr>
            </a:lvl4pPr>
            <a:lvl5pPr>
              <a:buNone/>
              <a:defRPr sz="2325" b="1">
                <a:solidFill>
                  <a:srgbClr val="173B5E"/>
                </a:solidFill>
                <a:latin typeface="Nimbus Sans"/>
                <a:ea typeface="Nimbus Sans"/>
                <a:cs typeface="Nimbus Sans"/>
              </a:defRPr>
            </a:lvl5pPr>
            <a:lvl6pPr>
              <a:buNone/>
              <a:defRPr sz="2325" b="1">
                <a:solidFill>
                  <a:srgbClr val="173B5E"/>
                </a:solidFill>
                <a:latin typeface="Nimbus Sans"/>
                <a:ea typeface="Nimbus Sans"/>
                <a:cs typeface="Nimbus Sans"/>
              </a:defRPr>
            </a:lvl6pPr>
            <a:lvl7pPr>
              <a:buNone/>
              <a:defRPr sz="2325" b="1">
                <a:solidFill>
                  <a:srgbClr val="173B5E"/>
                </a:solidFill>
                <a:latin typeface="Nimbus Sans"/>
                <a:ea typeface="Nimbus Sans"/>
                <a:cs typeface="Nimbus Sans"/>
              </a:defRPr>
            </a:lvl7pPr>
            <a:lvl8pPr>
              <a:buNone/>
              <a:defRPr sz="2325" b="1">
                <a:solidFill>
                  <a:srgbClr val="173B5E"/>
                </a:solidFill>
                <a:latin typeface="Nimbus Sans"/>
                <a:ea typeface="Nimbus Sans"/>
                <a:cs typeface="Nimbus Sans"/>
              </a:defRPr>
            </a:lvl8pPr>
            <a:lvl9pPr>
              <a:buNone/>
              <a:defRPr sz="2325" b="1">
                <a:solidFill>
                  <a:srgbClr val="173B5E"/>
                </a:solidFill>
                <a:latin typeface="Nimbus Sans"/>
                <a:ea typeface="Nimbus Sans"/>
                <a:cs typeface="Nimbus Sans"/>
              </a:defRPr>
            </a:lvl9pPr>
          </a:lstStyle>
          <a:p xmlns:a="http://schemas.openxmlformats.org/drawingml/2006/main">
            <a:pPr>
              <a:buNone/>
              <a:defRPr sz="2325" b="1">
                <a:solidFill>
                  <a:srgbClr val="173B5E"/>
                </a:solidFill>
                <a:latin typeface="Nimbus Sans"/>
                <a:ea typeface="Nimbus Sans"/>
                <a:cs typeface="Nimbus Sans"/>
              </a:defRPr>
            </a:pPr>
            <a:r>
              <a:rPr sz="2325" b="1">
                <a:solidFill>
                  <a:srgbClr val="173B5E"/>
                </a:solidFill>
                <a:latin typeface="Nimbus Sans"/>
                <a:ea typeface="Nimbus Sans"/>
                <a:cs typeface="Nimbus Sans"/>
              </a:rPr>
              <a:t>Which US customer segment should InGen target first with Aido Rover and Sentinel Prime AI, under which commercial model and channel, and what must a 12-week paid pilot prove before rollout?</a:t>
            </a:r>
          </a:p>
        </p:txBody>
      </p:sp>
      <p:sp>
        <p:nvSpPr>
          <p:cNvPr id="6" name="text-5">
            <a:extLst xmlns:a="http://schemas.openxmlformats.org/drawingml/2006/main">
              <a:ext uri="{FF2B5EF4-FFF2-40B4-BE49-F238E27FC236}">
                <a16:creationId xmlns:a16="http://schemas.microsoft.com/office/drawing/2014/main" id="{A23D4B92-8162-4729-9187-6710EB9D7336}"/>
              </a:ext>
            </a:extLst>
          </p:cNvPr>
          <p:cNvSpPr>
            <a:spLocks xmlns:a="http://schemas.openxmlformats.org/drawingml/2006/main" noGrp="1"/>
          </p:cNvSpPr>
          <p:nvPr/>
        </p:nvSpPr>
        <p:spPr>
          <a:xfrm xmlns:a="http://schemas.openxmlformats.org/drawingml/2006/main">
            <a:off x="571500" y="2362200"/>
            <a:ext cx="1409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2677A"/>
                </a:solidFill>
                <a:latin typeface="Nimbus Sans"/>
                <a:ea typeface="Nimbus Sans"/>
                <a:cs typeface="Nimbus Sans"/>
              </a:defRPr>
            </a:defPPr>
            <a:lvl1pPr>
              <a:buNone/>
              <a:defRPr sz="1725" b="0">
                <a:solidFill>
                  <a:srgbClr val="52677A"/>
                </a:solidFill>
                <a:latin typeface="Nimbus Sans"/>
                <a:ea typeface="Nimbus Sans"/>
                <a:cs typeface="Nimbus Sans"/>
              </a:defRPr>
            </a:lvl1pPr>
            <a:lvl2pPr>
              <a:buNone/>
              <a:defRPr sz="1725" b="0">
                <a:solidFill>
                  <a:srgbClr val="52677A"/>
                </a:solidFill>
                <a:latin typeface="Nimbus Sans"/>
                <a:ea typeface="Nimbus Sans"/>
                <a:cs typeface="Nimbus Sans"/>
              </a:defRPr>
            </a:lvl2pPr>
            <a:lvl3pPr>
              <a:buNone/>
              <a:defRPr sz="1725" b="0">
                <a:solidFill>
                  <a:srgbClr val="52677A"/>
                </a:solidFill>
                <a:latin typeface="Nimbus Sans"/>
                <a:ea typeface="Nimbus Sans"/>
                <a:cs typeface="Nimbus Sans"/>
              </a:defRPr>
            </a:lvl3pPr>
            <a:lvl4pPr>
              <a:buNone/>
              <a:defRPr sz="1725" b="0">
                <a:solidFill>
                  <a:srgbClr val="52677A"/>
                </a:solidFill>
                <a:latin typeface="Nimbus Sans"/>
                <a:ea typeface="Nimbus Sans"/>
                <a:cs typeface="Nimbus Sans"/>
              </a:defRPr>
            </a:lvl4pPr>
            <a:lvl5pPr>
              <a:buNone/>
              <a:defRPr sz="1725" b="0">
                <a:solidFill>
                  <a:srgbClr val="52677A"/>
                </a:solidFill>
                <a:latin typeface="Nimbus Sans"/>
                <a:ea typeface="Nimbus Sans"/>
                <a:cs typeface="Nimbus Sans"/>
              </a:defRPr>
            </a:lvl5pPr>
            <a:lvl6pPr>
              <a:buNone/>
              <a:defRPr sz="1725" b="0">
                <a:solidFill>
                  <a:srgbClr val="52677A"/>
                </a:solidFill>
                <a:latin typeface="Nimbus Sans"/>
                <a:ea typeface="Nimbus Sans"/>
                <a:cs typeface="Nimbus Sans"/>
              </a:defRPr>
            </a:lvl6pPr>
            <a:lvl7pPr>
              <a:buNone/>
              <a:defRPr sz="1725" b="0">
                <a:solidFill>
                  <a:srgbClr val="52677A"/>
                </a:solidFill>
                <a:latin typeface="Nimbus Sans"/>
                <a:ea typeface="Nimbus Sans"/>
                <a:cs typeface="Nimbus Sans"/>
              </a:defRPr>
            </a:lvl7pPr>
            <a:lvl8pPr>
              <a:buNone/>
              <a:defRPr sz="1725" b="0">
                <a:solidFill>
                  <a:srgbClr val="52677A"/>
                </a:solidFill>
                <a:latin typeface="Nimbus Sans"/>
                <a:ea typeface="Nimbus Sans"/>
                <a:cs typeface="Nimbus Sans"/>
              </a:defRPr>
            </a:lvl8pPr>
            <a:lvl9pPr>
              <a:buNone/>
              <a:defRPr sz="1725" b="0">
                <a:solidFill>
                  <a:srgbClr val="52677A"/>
                </a:solidFill>
                <a:latin typeface="Nimbus Sans"/>
                <a:ea typeface="Nimbus Sans"/>
                <a:cs typeface="Nimbus Sans"/>
              </a:defRPr>
            </a:lvl9pPr>
          </a:lstStyle>
          <a:p xmlns:a="http://schemas.openxmlformats.org/drawingml/2006/main">
            <a:pPr>
              <a:buNone/>
              <a:defRPr sz="1725" b="0">
                <a:solidFill>
                  <a:srgbClr val="52677A"/>
                </a:solidFill>
                <a:latin typeface="Nimbus Sans"/>
                <a:ea typeface="Nimbus Sans"/>
                <a:cs typeface="Nimbus Sans"/>
              </a:defRPr>
            </a:pPr>
            <a:r>
              <a:rPr sz="1725" b="0">
                <a:solidFill>
                  <a:srgbClr val="52677A"/>
                </a:solidFill>
                <a:latin typeface="Nimbus Sans"/>
                <a:ea typeface="Nimbus Sans"/>
                <a:cs typeface="Nimbus Sans"/>
              </a:rPr>
              <a:t>Scope: US commercial security and patrol. Annual TAM/SAM, three-year SOM and a proposed 12-week paid pilot.</a:t>
            </a:r>
          </a:p>
        </p:txBody>
      </p:sp>
      <p:sp>
        <p:nvSpPr>
          <p:cNvPr id="7" name="text-6">
            <a:extLst xmlns:a="http://schemas.openxmlformats.org/drawingml/2006/main">
              <a:ext uri="{FF2B5EF4-FFF2-40B4-BE49-F238E27FC236}">
                <a16:creationId xmlns:a16="http://schemas.microsoft.com/office/drawing/2014/main" id="{9987741F-DE88-41E5-B59A-0931BBF866EC}"/>
              </a:ext>
            </a:extLst>
          </p:cNvPr>
          <p:cNvSpPr>
            <a:spLocks xmlns:a="http://schemas.openxmlformats.org/drawingml/2006/main" noGrp="1"/>
          </p:cNvSpPr>
          <p:nvPr/>
        </p:nvSpPr>
        <p:spPr>
          <a:xfrm xmlns:a="http://schemas.openxmlformats.org/drawingml/2006/main">
            <a:off x="571500" y="4448175"/>
            <a:ext cx="2095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175" b="1">
                <a:solidFill>
                  <a:srgbClr val="173B5E"/>
                </a:solidFill>
                <a:latin typeface="Nimbus Sans"/>
                <a:ea typeface="Nimbus Sans"/>
                <a:cs typeface="Nimbus Sans"/>
              </a:defRPr>
            </a:defPPr>
            <a:lvl1pPr>
              <a:buNone/>
              <a:defRPr sz="2175" b="1">
                <a:solidFill>
                  <a:srgbClr val="173B5E"/>
                </a:solidFill>
                <a:latin typeface="Nimbus Sans"/>
                <a:ea typeface="Nimbus Sans"/>
                <a:cs typeface="Nimbus Sans"/>
              </a:defRPr>
            </a:lvl1pPr>
            <a:lvl2pPr>
              <a:buNone/>
              <a:defRPr sz="2175" b="1">
                <a:solidFill>
                  <a:srgbClr val="173B5E"/>
                </a:solidFill>
                <a:latin typeface="Nimbus Sans"/>
                <a:ea typeface="Nimbus Sans"/>
                <a:cs typeface="Nimbus Sans"/>
              </a:defRPr>
            </a:lvl2pPr>
            <a:lvl3pPr>
              <a:buNone/>
              <a:defRPr sz="2175" b="1">
                <a:solidFill>
                  <a:srgbClr val="173B5E"/>
                </a:solidFill>
                <a:latin typeface="Nimbus Sans"/>
                <a:ea typeface="Nimbus Sans"/>
                <a:cs typeface="Nimbus Sans"/>
              </a:defRPr>
            </a:lvl3pPr>
            <a:lvl4pPr>
              <a:buNone/>
              <a:defRPr sz="2175" b="1">
                <a:solidFill>
                  <a:srgbClr val="173B5E"/>
                </a:solidFill>
                <a:latin typeface="Nimbus Sans"/>
                <a:ea typeface="Nimbus Sans"/>
                <a:cs typeface="Nimbus Sans"/>
              </a:defRPr>
            </a:lvl4pPr>
            <a:lvl5pPr>
              <a:buNone/>
              <a:defRPr sz="2175" b="1">
                <a:solidFill>
                  <a:srgbClr val="173B5E"/>
                </a:solidFill>
                <a:latin typeface="Nimbus Sans"/>
                <a:ea typeface="Nimbus Sans"/>
                <a:cs typeface="Nimbus Sans"/>
              </a:defRPr>
            </a:lvl5pPr>
            <a:lvl6pPr>
              <a:buNone/>
              <a:defRPr sz="2175" b="1">
                <a:solidFill>
                  <a:srgbClr val="173B5E"/>
                </a:solidFill>
                <a:latin typeface="Nimbus Sans"/>
                <a:ea typeface="Nimbus Sans"/>
                <a:cs typeface="Nimbus Sans"/>
              </a:defRPr>
            </a:lvl6pPr>
            <a:lvl7pPr>
              <a:buNone/>
              <a:defRPr sz="2175" b="1">
                <a:solidFill>
                  <a:srgbClr val="173B5E"/>
                </a:solidFill>
                <a:latin typeface="Nimbus Sans"/>
                <a:ea typeface="Nimbus Sans"/>
                <a:cs typeface="Nimbus Sans"/>
              </a:defRPr>
            </a:lvl7pPr>
            <a:lvl8pPr>
              <a:buNone/>
              <a:defRPr sz="2175" b="1">
                <a:solidFill>
                  <a:srgbClr val="173B5E"/>
                </a:solidFill>
                <a:latin typeface="Nimbus Sans"/>
                <a:ea typeface="Nimbus Sans"/>
                <a:cs typeface="Nimbus Sans"/>
              </a:defRPr>
            </a:lvl8pPr>
            <a:lvl9pPr>
              <a:buNone/>
              <a:defRPr sz="2175" b="1">
                <a:solidFill>
                  <a:srgbClr val="173B5E"/>
                </a:solidFill>
                <a:latin typeface="Nimbus Sans"/>
                <a:ea typeface="Nimbus Sans"/>
                <a:cs typeface="Nimbus Sans"/>
              </a:defRPr>
            </a:lvl9pPr>
          </a:lstStyle>
          <a:p xmlns:a="http://schemas.openxmlformats.org/drawingml/2006/main">
            <a:pPr>
              <a:buNone/>
              <a:defRPr sz="2175" b="1">
                <a:solidFill>
                  <a:srgbClr val="173B5E"/>
                </a:solidFill>
                <a:latin typeface="Nimbus Sans"/>
                <a:ea typeface="Nimbus Sans"/>
                <a:cs typeface="Nimbus Sans"/>
              </a:defRPr>
            </a:pPr>
            <a:r>
              <a:rPr sz="2175" b="1">
                <a:solidFill>
                  <a:srgbClr val="173B5E"/>
                </a:solidFill>
                <a:latin typeface="Nimbus Sans"/>
                <a:ea typeface="Nimbus Sans"/>
                <a:cs typeface="Nimbus Sans"/>
              </a:rPr>
              <a:t>US security</a:t>
            </a:r>
          </a:p>
          <a:p xmlns:a="http://schemas.openxmlformats.org/drawingml/2006/main">
            <a:pPr>
              <a:buNone/>
              <a:defRPr sz="2175" b="1">
                <a:solidFill>
                  <a:srgbClr val="173B5E"/>
                </a:solidFill>
                <a:latin typeface="Nimbus Sans"/>
                <a:ea typeface="Nimbus Sans"/>
                <a:cs typeface="Nimbus Sans"/>
              </a:defRPr>
            </a:pPr>
            <a:r>
              <a:rPr sz="2175" b="1">
                <a:solidFill>
                  <a:srgbClr val="173B5E"/>
                </a:solidFill>
                <a:latin typeface="Nimbus Sans"/>
                <a:ea typeface="Nimbus Sans"/>
                <a:cs typeface="Nimbus Sans"/>
              </a:rPr>
              <a:t>launch decision</a:t>
            </a:r>
          </a:p>
        </p:txBody>
      </p:sp>
      <p:sp>
        <p:nvSpPr>
          <p:cNvPr id="8" name="text-7">
            <a:extLst xmlns:a="http://schemas.openxmlformats.org/drawingml/2006/main">
              <a:ext uri="{FF2B5EF4-FFF2-40B4-BE49-F238E27FC236}">
                <a16:creationId xmlns:a16="http://schemas.microsoft.com/office/drawing/2014/main" id="{C5ED5241-061D-4904-B558-4124A224CB7B}"/>
              </a:ext>
            </a:extLst>
          </p:cNvPr>
          <p:cNvSpPr>
            <a:spLocks xmlns:a="http://schemas.openxmlformats.org/drawingml/2006/main" noGrp="1"/>
          </p:cNvSpPr>
          <p:nvPr/>
        </p:nvSpPr>
        <p:spPr>
          <a:xfrm xmlns:a="http://schemas.openxmlformats.org/drawingml/2006/main">
            <a:off x="3524250" y="3067050"/>
            <a:ext cx="2714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73B5E"/>
                </a:solidFill>
                <a:latin typeface="Nimbus Sans"/>
                <a:ea typeface="Nimbus Sans"/>
                <a:cs typeface="Nimbus Sans"/>
              </a:defRPr>
            </a:defPPr>
            <a:lvl1pPr>
              <a:buNone/>
              <a:defRPr sz="2025" b="1">
                <a:solidFill>
                  <a:srgbClr val="173B5E"/>
                </a:solidFill>
                <a:latin typeface="Nimbus Sans"/>
                <a:ea typeface="Nimbus Sans"/>
                <a:cs typeface="Nimbus Sans"/>
              </a:defRPr>
            </a:lvl1pPr>
            <a:lvl2pPr>
              <a:buNone/>
              <a:defRPr sz="2025" b="1">
                <a:solidFill>
                  <a:srgbClr val="173B5E"/>
                </a:solidFill>
                <a:latin typeface="Nimbus Sans"/>
                <a:ea typeface="Nimbus Sans"/>
                <a:cs typeface="Nimbus Sans"/>
              </a:defRPr>
            </a:lvl2pPr>
            <a:lvl3pPr>
              <a:buNone/>
              <a:defRPr sz="2025" b="1">
                <a:solidFill>
                  <a:srgbClr val="173B5E"/>
                </a:solidFill>
                <a:latin typeface="Nimbus Sans"/>
                <a:ea typeface="Nimbus Sans"/>
                <a:cs typeface="Nimbus Sans"/>
              </a:defRPr>
            </a:lvl3pPr>
            <a:lvl4pPr>
              <a:buNone/>
              <a:defRPr sz="2025" b="1">
                <a:solidFill>
                  <a:srgbClr val="173B5E"/>
                </a:solidFill>
                <a:latin typeface="Nimbus Sans"/>
                <a:ea typeface="Nimbus Sans"/>
                <a:cs typeface="Nimbus Sans"/>
              </a:defRPr>
            </a:lvl4pPr>
            <a:lvl5pPr>
              <a:buNone/>
              <a:defRPr sz="2025" b="1">
                <a:solidFill>
                  <a:srgbClr val="173B5E"/>
                </a:solidFill>
                <a:latin typeface="Nimbus Sans"/>
                <a:ea typeface="Nimbus Sans"/>
                <a:cs typeface="Nimbus Sans"/>
              </a:defRPr>
            </a:lvl5pPr>
            <a:lvl6pPr>
              <a:buNone/>
              <a:defRPr sz="2025" b="1">
                <a:solidFill>
                  <a:srgbClr val="173B5E"/>
                </a:solidFill>
                <a:latin typeface="Nimbus Sans"/>
                <a:ea typeface="Nimbus Sans"/>
                <a:cs typeface="Nimbus Sans"/>
              </a:defRPr>
            </a:lvl6pPr>
            <a:lvl7pPr>
              <a:buNone/>
              <a:defRPr sz="2025" b="1">
                <a:solidFill>
                  <a:srgbClr val="173B5E"/>
                </a:solidFill>
                <a:latin typeface="Nimbus Sans"/>
                <a:ea typeface="Nimbus Sans"/>
                <a:cs typeface="Nimbus Sans"/>
              </a:defRPr>
            </a:lvl7pPr>
            <a:lvl8pPr>
              <a:buNone/>
              <a:defRPr sz="2025" b="1">
                <a:solidFill>
                  <a:srgbClr val="173B5E"/>
                </a:solidFill>
                <a:latin typeface="Nimbus Sans"/>
                <a:ea typeface="Nimbus Sans"/>
                <a:cs typeface="Nimbus Sans"/>
              </a:defRPr>
            </a:lvl8pPr>
            <a:lvl9pPr>
              <a:buNone/>
              <a:defRPr sz="2025" b="1">
                <a:solidFill>
                  <a:srgbClr val="173B5E"/>
                </a:solidFill>
                <a:latin typeface="Nimbus Sans"/>
                <a:ea typeface="Nimbus Sans"/>
                <a:cs typeface="Nimbus Sans"/>
              </a:defRPr>
            </a:lvl9pPr>
          </a:lstStyle>
          <a:p xmlns:a="http://schemas.openxmlformats.org/drawingml/2006/main">
            <a:pPr>
              <a:buNone/>
              <a:defRPr sz="2025" b="1">
                <a:solidFill>
                  <a:srgbClr val="173B5E"/>
                </a:solidFill>
                <a:latin typeface="Nimbus Sans"/>
                <a:ea typeface="Nimbus Sans"/>
                <a:cs typeface="Nimbus Sans"/>
              </a:defRPr>
            </a:pPr>
            <a:r>
              <a:rPr sz="2025" b="1">
                <a:solidFill>
                  <a:srgbClr val="173B5E"/>
                </a:solidFill>
                <a:latin typeface="Nimbus Sans"/>
                <a:ea typeface="Nimbus Sans"/>
                <a:cs typeface="Nimbus Sans"/>
              </a:rPr>
              <a:t>Market</a:t>
            </a:r>
          </a:p>
        </p:txBody>
      </p:sp>
      <p:sp>
        <p:nvSpPr>
          <p:cNvPr id="9" name="text-8">
            <a:extLst xmlns:a="http://schemas.openxmlformats.org/drawingml/2006/main">
              <a:ext uri="{FF2B5EF4-FFF2-40B4-BE49-F238E27FC236}">
                <a16:creationId xmlns:a16="http://schemas.microsoft.com/office/drawing/2014/main" id="{1AA785E0-0A63-458D-88D9-D14DAA8DF6F5}"/>
              </a:ext>
            </a:extLst>
          </p:cNvPr>
          <p:cNvSpPr>
            <a:spLocks xmlns:a="http://schemas.openxmlformats.org/drawingml/2006/main" noGrp="1"/>
          </p:cNvSpPr>
          <p:nvPr/>
        </p:nvSpPr>
        <p:spPr>
          <a:xfrm xmlns:a="http://schemas.openxmlformats.org/drawingml/2006/main">
            <a:off x="3524250" y="343852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52677A"/>
                </a:solidFill>
                <a:latin typeface="Nimbus Sans"/>
                <a:ea typeface="Nimbus Sans"/>
                <a:cs typeface="Nimbus Sans"/>
              </a:defRPr>
            </a:defPPr>
            <a:lvl1pPr>
              <a:buNone/>
              <a:defRPr sz="1350" b="0">
                <a:solidFill>
                  <a:srgbClr val="52677A"/>
                </a:solidFill>
                <a:latin typeface="Nimbus Sans"/>
                <a:ea typeface="Nimbus Sans"/>
                <a:cs typeface="Nimbus Sans"/>
              </a:defRPr>
            </a:lvl1pPr>
            <a:lvl2pPr>
              <a:buNone/>
              <a:defRPr sz="1350" b="0">
                <a:solidFill>
                  <a:srgbClr val="52677A"/>
                </a:solidFill>
                <a:latin typeface="Nimbus Sans"/>
                <a:ea typeface="Nimbus Sans"/>
                <a:cs typeface="Nimbus Sans"/>
              </a:defRPr>
            </a:lvl2pPr>
            <a:lvl3pPr>
              <a:buNone/>
              <a:defRPr sz="1350" b="0">
                <a:solidFill>
                  <a:srgbClr val="52677A"/>
                </a:solidFill>
                <a:latin typeface="Nimbus Sans"/>
                <a:ea typeface="Nimbus Sans"/>
                <a:cs typeface="Nimbus Sans"/>
              </a:defRPr>
            </a:lvl3pPr>
            <a:lvl4pPr>
              <a:buNone/>
              <a:defRPr sz="1350" b="0">
                <a:solidFill>
                  <a:srgbClr val="52677A"/>
                </a:solidFill>
                <a:latin typeface="Nimbus Sans"/>
                <a:ea typeface="Nimbus Sans"/>
                <a:cs typeface="Nimbus Sans"/>
              </a:defRPr>
            </a:lvl4pPr>
            <a:lvl5pPr>
              <a:buNone/>
              <a:defRPr sz="1350" b="0">
                <a:solidFill>
                  <a:srgbClr val="52677A"/>
                </a:solidFill>
                <a:latin typeface="Nimbus Sans"/>
                <a:ea typeface="Nimbus Sans"/>
                <a:cs typeface="Nimbus Sans"/>
              </a:defRPr>
            </a:lvl5pPr>
            <a:lvl6pPr>
              <a:buNone/>
              <a:defRPr sz="1350" b="0">
                <a:solidFill>
                  <a:srgbClr val="52677A"/>
                </a:solidFill>
                <a:latin typeface="Nimbus Sans"/>
                <a:ea typeface="Nimbus Sans"/>
                <a:cs typeface="Nimbus Sans"/>
              </a:defRPr>
            </a:lvl6pPr>
            <a:lvl7pPr>
              <a:buNone/>
              <a:defRPr sz="1350" b="0">
                <a:solidFill>
                  <a:srgbClr val="52677A"/>
                </a:solidFill>
                <a:latin typeface="Nimbus Sans"/>
                <a:ea typeface="Nimbus Sans"/>
                <a:cs typeface="Nimbus Sans"/>
              </a:defRPr>
            </a:lvl7pPr>
            <a:lvl8pPr>
              <a:buNone/>
              <a:defRPr sz="1350" b="0">
                <a:solidFill>
                  <a:srgbClr val="52677A"/>
                </a:solidFill>
                <a:latin typeface="Nimbus Sans"/>
                <a:ea typeface="Nimbus Sans"/>
                <a:cs typeface="Nimbus Sans"/>
              </a:defRPr>
            </a:lvl8pPr>
            <a:lvl9pPr>
              <a:buNone/>
              <a:defRPr sz="1350" b="0">
                <a:solidFill>
                  <a:srgbClr val="52677A"/>
                </a:solidFill>
                <a:latin typeface="Nimbus Sans"/>
                <a:ea typeface="Nimbus Sans"/>
                <a:cs typeface="Nimbus Sans"/>
              </a:defRPr>
            </a:lvl9pPr>
          </a:lstStyle>
          <a:p xmlns:a="http://schemas.openxmlformats.org/drawingml/2006/main">
            <a:pPr>
              <a:buNone/>
              <a:defRPr sz="1350" b="0">
                <a:solidFill>
                  <a:srgbClr val="52677A"/>
                </a:solidFill>
                <a:latin typeface="Nimbus Sans"/>
                <a:ea typeface="Nimbus Sans"/>
                <a:cs typeface="Nimbus Sans"/>
              </a:defRPr>
            </a:pPr>
            <a:r>
              <a:rPr sz="1350" b="0">
                <a:solidFill>
                  <a:srgbClr val="52677A"/>
                </a:solidFill>
                <a:latin typeface="Nimbus Sans"/>
                <a:ea typeface="Nimbus Sans"/>
                <a:cs typeface="Nimbus Sans"/>
              </a:rPr>
              <a:t>Demand and segment choice</a:t>
            </a:r>
          </a:p>
        </p:txBody>
      </p:sp>
      <p:sp>
        <p:nvSpPr>
          <p:cNvPr id="11" name="text-10">
            <a:extLst xmlns:a="http://schemas.openxmlformats.org/drawingml/2006/main">
              <a:ext uri="{FF2B5EF4-FFF2-40B4-BE49-F238E27FC236}">
                <a16:creationId xmlns:a16="http://schemas.microsoft.com/office/drawing/2014/main" id="{76F5D3F8-0DB5-443B-B73E-339CE594880E}"/>
              </a:ext>
            </a:extLst>
          </p:cNvPr>
          <p:cNvSpPr>
            <a:spLocks xmlns:a="http://schemas.openxmlformats.org/drawingml/2006/main" noGrp="1"/>
          </p:cNvSpPr>
          <p:nvPr/>
        </p:nvSpPr>
        <p:spPr>
          <a:xfrm xmlns:a="http://schemas.openxmlformats.org/drawingml/2006/main">
            <a:off x="7143750" y="2962275"/>
            <a:ext cx="7524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82C40"/>
                </a:solidFill>
                <a:latin typeface="Nimbus Sans"/>
                <a:ea typeface="Nimbus Sans"/>
                <a:cs typeface="Nimbus Sans"/>
              </a:defRPr>
            </a:defPPr>
            <a:lvl1pPr>
              <a:buNone/>
              <a:defRPr sz="1875" b="0">
                <a:solidFill>
                  <a:srgbClr val="182C40"/>
                </a:solidFill>
                <a:latin typeface="Nimbus Sans"/>
                <a:ea typeface="Nimbus Sans"/>
                <a:cs typeface="Nimbus Sans"/>
              </a:defRPr>
            </a:lvl1pPr>
            <a:lvl2pPr>
              <a:buNone/>
              <a:defRPr sz="1875" b="0">
                <a:solidFill>
                  <a:srgbClr val="182C40"/>
                </a:solidFill>
                <a:latin typeface="Nimbus Sans"/>
                <a:ea typeface="Nimbus Sans"/>
                <a:cs typeface="Nimbus Sans"/>
              </a:defRPr>
            </a:lvl2pPr>
            <a:lvl3pPr>
              <a:buNone/>
              <a:defRPr sz="1875" b="0">
                <a:solidFill>
                  <a:srgbClr val="182C40"/>
                </a:solidFill>
                <a:latin typeface="Nimbus Sans"/>
                <a:ea typeface="Nimbus Sans"/>
                <a:cs typeface="Nimbus Sans"/>
              </a:defRPr>
            </a:lvl3pPr>
            <a:lvl4pPr>
              <a:buNone/>
              <a:defRPr sz="1875" b="0">
                <a:solidFill>
                  <a:srgbClr val="182C40"/>
                </a:solidFill>
                <a:latin typeface="Nimbus Sans"/>
                <a:ea typeface="Nimbus Sans"/>
                <a:cs typeface="Nimbus Sans"/>
              </a:defRPr>
            </a:lvl4pPr>
            <a:lvl5pPr>
              <a:buNone/>
              <a:defRPr sz="1875" b="0">
                <a:solidFill>
                  <a:srgbClr val="182C40"/>
                </a:solidFill>
                <a:latin typeface="Nimbus Sans"/>
                <a:ea typeface="Nimbus Sans"/>
                <a:cs typeface="Nimbus Sans"/>
              </a:defRPr>
            </a:lvl5pPr>
            <a:lvl6pPr>
              <a:buNone/>
              <a:defRPr sz="1875" b="0">
                <a:solidFill>
                  <a:srgbClr val="182C40"/>
                </a:solidFill>
                <a:latin typeface="Nimbus Sans"/>
                <a:ea typeface="Nimbus Sans"/>
                <a:cs typeface="Nimbus Sans"/>
              </a:defRPr>
            </a:lvl6pPr>
            <a:lvl7pPr>
              <a:buNone/>
              <a:defRPr sz="1875" b="0">
                <a:solidFill>
                  <a:srgbClr val="182C40"/>
                </a:solidFill>
                <a:latin typeface="Nimbus Sans"/>
                <a:ea typeface="Nimbus Sans"/>
                <a:cs typeface="Nimbus Sans"/>
              </a:defRPr>
            </a:lvl7pPr>
            <a:lvl8pPr>
              <a:buNone/>
              <a:defRPr sz="1875" b="0">
                <a:solidFill>
                  <a:srgbClr val="182C40"/>
                </a:solidFill>
                <a:latin typeface="Nimbus Sans"/>
                <a:ea typeface="Nimbus Sans"/>
                <a:cs typeface="Nimbus Sans"/>
              </a:defRPr>
            </a:lvl8pPr>
            <a:lvl9pPr>
              <a:buNone/>
              <a:defRPr sz="1875" b="0">
                <a:solidFill>
                  <a:srgbClr val="182C40"/>
                </a:solidFill>
                <a:latin typeface="Nimbus Sans"/>
                <a:ea typeface="Nimbus Sans"/>
                <a:cs typeface="Nimbus Sans"/>
              </a:defRPr>
            </a:lvl9pPr>
          </a:lstStyle>
          <a:p xmlns:a="http://schemas.openxmlformats.org/drawingml/2006/main">
            <a:pPr>
              <a:buNone/>
              <a:defRPr sz="1875" b="0">
                <a:solidFill>
                  <a:srgbClr val="182C40"/>
                </a:solidFill>
                <a:latin typeface="Nimbus Sans"/>
                <a:ea typeface="Nimbus Sans"/>
                <a:cs typeface="Nimbus Sans"/>
              </a:defRPr>
            </a:pPr>
            <a:r>
              <a:rPr sz="1875" b="0">
                <a:solidFill>
                  <a:srgbClr val="182C40"/>
                </a:solidFill>
                <a:latin typeface="Nimbus Sans"/>
                <a:ea typeface="Nimbus Sans"/>
                <a:cs typeface="Nimbus Sans"/>
              </a:rPr>
              <a:t>US patrol market size</a:t>
            </a:r>
          </a:p>
        </p:txBody>
      </p:sp>
      <p:sp>
        <p:nvSpPr>
          <p:cNvPr id="13" name="text-12">
            <a:extLst xmlns:a="http://schemas.openxmlformats.org/drawingml/2006/main">
              <a:ext uri="{FF2B5EF4-FFF2-40B4-BE49-F238E27FC236}">
                <a16:creationId xmlns:a16="http://schemas.microsoft.com/office/drawing/2014/main" id="{1B5EB85A-4F1B-4B95-B76D-70D705CCA02B}"/>
              </a:ext>
            </a:extLst>
          </p:cNvPr>
          <p:cNvSpPr>
            <a:spLocks xmlns:a="http://schemas.openxmlformats.org/drawingml/2006/main" noGrp="1"/>
          </p:cNvSpPr>
          <p:nvPr/>
        </p:nvSpPr>
        <p:spPr>
          <a:xfrm xmlns:a="http://schemas.openxmlformats.org/drawingml/2006/main">
            <a:off x="7143750" y="3429000"/>
            <a:ext cx="7524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82C40"/>
                </a:solidFill>
                <a:latin typeface="Nimbus Sans"/>
                <a:ea typeface="Nimbus Sans"/>
                <a:cs typeface="Nimbus Sans"/>
              </a:defRPr>
            </a:defPPr>
            <a:lvl1pPr>
              <a:buNone/>
              <a:defRPr sz="1875" b="0">
                <a:solidFill>
                  <a:srgbClr val="182C40"/>
                </a:solidFill>
                <a:latin typeface="Nimbus Sans"/>
                <a:ea typeface="Nimbus Sans"/>
                <a:cs typeface="Nimbus Sans"/>
              </a:defRPr>
            </a:lvl1pPr>
            <a:lvl2pPr>
              <a:buNone/>
              <a:defRPr sz="1875" b="0">
                <a:solidFill>
                  <a:srgbClr val="182C40"/>
                </a:solidFill>
                <a:latin typeface="Nimbus Sans"/>
                <a:ea typeface="Nimbus Sans"/>
                <a:cs typeface="Nimbus Sans"/>
              </a:defRPr>
            </a:lvl2pPr>
            <a:lvl3pPr>
              <a:buNone/>
              <a:defRPr sz="1875" b="0">
                <a:solidFill>
                  <a:srgbClr val="182C40"/>
                </a:solidFill>
                <a:latin typeface="Nimbus Sans"/>
                <a:ea typeface="Nimbus Sans"/>
                <a:cs typeface="Nimbus Sans"/>
              </a:defRPr>
            </a:lvl3pPr>
            <a:lvl4pPr>
              <a:buNone/>
              <a:defRPr sz="1875" b="0">
                <a:solidFill>
                  <a:srgbClr val="182C40"/>
                </a:solidFill>
                <a:latin typeface="Nimbus Sans"/>
                <a:ea typeface="Nimbus Sans"/>
                <a:cs typeface="Nimbus Sans"/>
              </a:defRPr>
            </a:lvl4pPr>
            <a:lvl5pPr>
              <a:buNone/>
              <a:defRPr sz="1875" b="0">
                <a:solidFill>
                  <a:srgbClr val="182C40"/>
                </a:solidFill>
                <a:latin typeface="Nimbus Sans"/>
                <a:ea typeface="Nimbus Sans"/>
                <a:cs typeface="Nimbus Sans"/>
              </a:defRPr>
            </a:lvl5pPr>
            <a:lvl6pPr>
              <a:buNone/>
              <a:defRPr sz="1875" b="0">
                <a:solidFill>
                  <a:srgbClr val="182C40"/>
                </a:solidFill>
                <a:latin typeface="Nimbus Sans"/>
                <a:ea typeface="Nimbus Sans"/>
                <a:cs typeface="Nimbus Sans"/>
              </a:defRPr>
            </a:lvl6pPr>
            <a:lvl7pPr>
              <a:buNone/>
              <a:defRPr sz="1875" b="0">
                <a:solidFill>
                  <a:srgbClr val="182C40"/>
                </a:solidFill>
                <a:latin typeface="Nimbus Sans"/>
                <a:ea typeface="Nimbus Sans"/>
                <a:cs typeface="Nimbus Sans"/>
              </a:defRPr>
            </a:lvl7pPr>
            <a:lvl8pPr>
              <a:buNone/>
              <a:defRPr sz="1875" b="0">
                <a:solidFill>
                  <a:srgbClr val="182C40"/>
                </a:solidFill>
                <a:latin typeface="Nimbus Sans"/>
                <a:ea typeface="Nimbus Sans"/>
                <a:cs typeface="Nimbus Sans"/>
              </a:defRPr>
            </a:lvl8pPr>
            <a:lvl9pPr>
              <a:buNone/>
              <a:defRPr sz="1875" b="0">
                <a:solidFill>
                  <a:srgbClr val="182C40"/>
                </a:solidFill>
                <a:latin typeface="Nimbus Sans"/>
                <a:ea typeface="Nimbus Sans"/>
                <a:cs typeface="Nimbus Sans"/>
              </a:defRPr>
            </a:lvl9pPr>
          </a:lstStyle>
          <a:p xmlns:a="http://schemas.openxmlformats.org/drawingml/2006/main">
            <a:pPr>
              <a:buNone/>
              <a:defRPr sz="1875" b="0">
                <a:solidFill>
                  <a:srgbClr val="182C40"/>
                </a:solidFill>
                <a:latin typeface="Nimbus Sans"/>
                <a:ea typeface="Nimbus Sans"/>
                <a:cs typeface="Nimbus Sans"/>
              </a:defRPr>
            </a:pPr>
            <a:r>
              <a:rPr sz="1875" b="0">
                <a:solidFill>
                  <a:srgbClr val="182C40"/>
                </a:solidFill>
                <a:latin typeface="Nimbus Sans"/>
                <a:ea typeface="Nimbus Sans"/>
                <a:cs typeface="Nimbus Sans"/>
              </a:rPr>
              <a:t>Beachhead segment choice</a:t>
            </a:r>
          </a:p>
        </p:txBody>
      </p:sp>
      <p:sp>
        <p:nvSpPr>
          <p:cNvPr id="15" name="text-14">
            <a:extLst xmlns:a="http://schemas.openxmlformats.org/drawingml/2006/main">
              <a:ext uri="{FF2B5EF4-FFF2-40B4-BE49-F238E27FC236}">
                <a16:creationId xmlns:a16="http://schemas.microsoft.com/office/drawing/2014/main" id="{13FEBCD3-3DC3-4AD1-B6F2-5FFF52FA3FC2}"/>
              </a:ext>
            </a:extLst>
          </p:cNvPr>
          <p:cNvSpPr>
            <a:spLocks xmlns:a="http://schemas.openxmlformats.org/drawingml/2006/main" noGrp="1"/>
          </p:cNvSpPr>
          <p:nvPr/>
        </p:nvSpPr>
        <p:spPr>
          <a:xfrm xmlns:a="http://schemas.openxmlformats.org/drawingml/2006/main">
            <a:off x="3524250" y="4114800"/>
            <a:ext cx="2714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73B5E"/>
                </a:solidFill>
                <a:latin typeface="Nimbus Sans"/>
                <a:ea typeface="Nimbus Sans"/>
                <a:cs typeface="Nimbus Sans"/>
              </a:defRPr>
            </a:defPPr>
            <a:lvl1pPr>
              <a:buNone/>
              <a:defRPr sz="2025" b="1">
                <a:solidFill>
                  <a:srgbClr val="173B5E"/>
                </a:solidFill>
                <a:latin typeface="Nimbus Sans"/>
                <a:ea typeface="Nimbus Sans"/>
                <a:cs typeface="Nimbus Sans"/>
              </a:defRPr>
            </a:lvl1pPr>
            <a:lvl2pPr>
              <a:buNone/>
              <a:defRPr sz="2025" b="1">
                <a:solidFill>
                  <a:srgbClr val="173B5E"/>
                </a:solidFill>
                <a:latin typeface="Nimbus Sans"/>
                <a:ea typeface="Nimbus Sans"/>
                <a:cs typeface="Nimbus Sans"/>
              </a:defRPr>
            </a:lvl2pPr>
            <a:lvl3pPr>
              <a:buNone/>
              <a:defRPr sz="2025" b="1">
                <a:solidFill>
                  <a:srgbClr val="173B5E"/>
                </a:solidFill>
                <a:latin typeface="Nimbus Sans"/>
                <a:ea typeface="Nimbus Sans"/>
                <a:cs typeface="Nimbus Sans"/>
              </a:defRPr>
            </a:lvl3pPr>
            <a:lvl4pPr>
              <a:buNone/>
              <a:defRPr sz="2025" b="1">
                <a:solidFill>
                  <a:srgbClr val="173B5E"/>
                </a:solidFill>
                <a:latin typeface="Nimbus Sans"/>
                <a:ea typeface="Nimbus Sans"/>
                <a:cs typeface="Nimbus Sans"/>
              </a:defRPr>
            </a:lvl4pPr>
            <a:lvl5pPr>
              <a:buNone/>
              <a:defRPr sz="2025" b="1">
                <a:solidFill>
                  <a:srgbClr val="173B5E"/>
                </a:solidFill>
                <a:latin typeface="Nimbus Sans"/>
                <a:ea typeface="Nimbus Sans"/>
                <a:cs typeface="Nimbus Sans"/>
              </a:defRPr>
            </a:lvl5pPr>
            <a:lvl6pPr>
              <a:buNone/>
              <a:defRPr sz="2025" b="1">
                <a:solidFill>
                  <a:srgbClr val="173B5E"/>
                </a:solidFill>
                <a:latin typeface="Nimbus Sans"/>
                <a:ea typeface="Nimbus Sans"/>
                <a:cs typeface="Nimbus Sans"/>
              </a:defRPr>
            </a:lvl6pPr>
            <a:lvl7pPr>
              <a:buNone/>
              <a:defRPr sz="2025" b="1">
                <a:solidFill>
                  <a:srgbClr val="173B5E"/>
                </a:solidFill>
                <a:latin typeface="Nimbus Sans"/>
                <a:ea typeface="Nimbus Sans"/>
                <a:cs typeface="Nimbus Sans"/>
              </a:defRPr>
            </a:lvl7pPr>
            <a:lvl8pPr>
              <a:buNone/>
              <a:defRPr sz="2025" b="1">
                <a:solidFill>
                  <a:srgbClr val="173B5E"/>
                </a:solidFill>
                <a:latin typeface="Nimbus Sans"/>
                <a:ea typeface="Nimbus Sans"/>
                <a:cs typeface="Nimbus Sans"/>
              </a:defRPr>
            </a:lvl8pPr>
            <a:lvl9pPr>
              <a:buNone/>
              <a:defRPr sz="2025" b="1">
                <a:solidFill>
                  <a:srgbClr val="173B5E"/>
                </a:solidFill>
                <a:latin typeface="Nimbus Sans"/>
                <a:ea typeface="Nimbus Sans"/>
                <a:cs typeface="Nimbus Sans"/>
              </a:defRPr>
            </a:lvl9pPr>
          </a:lstStyle>
          <a:p xmlns:a="http://schemas.openxmlformats.org/drawingml/2006/main">
            <a:pPr>
              <a:buNone/>
              <a:defRPr sz="2025" b="1">
                <a:solidFill>
                  <a:srgbClr val="173B5E"/>
                </a:solidFill>
                <a:latin typeface="Nimbus Sans"/>
                <a:ea typeface="Nimbus Sans"/>
                <a:cs typeface="Nimbus Sans"/>
              </a:defRPr>
            </a:pPr>
            <a:r>
              <a:rPr sz="2025" b="1">
                <a:solidFill>
                  <a:srgbClr val="173B5E"/>
                </a:solidFill>
                <a:latin typeface="Nimbus Sans"/>
                <a:ea typeface="Nimbus Sans"/>
                <a:cs typeface="Nimbus Sans"/>
              </a:rPr>
              <a:t>Competition</a:t>
            </a:r>
          </a:p>
        </p:txBody>
      </p:sp>
      <p:sp>
        <p:nvSpPr>
          <p:cNvPr id="16" name="text-15">
            <a:extLst xmlns:a="http://schemas.openxmlformats.org/drawingml/2006/main">
              <a:ext uri="{FF2B5EF4-FFF2-40B4-BE49-F238E27FC236}">
                <a16:creationId xmlns:a16="http://schemas.microsoft.com/office/drawing/2014/main" id="{B312BB03-C521-47E9-8383-DE04E125E654}"/>
              </a:ext>
            </a:extLst>
          </p:cNvPr>
          <p:cNvSpPr>
            <a:spLocks xmlns:a="http://schemas.openxmlformats.org/drawingml/2006/main" noGrp="1"/>
          </p:cNvSpPr>
          <p:nvPr/>
        </p:nvSpPr>
        <p:spPr>
          <a:xfrm xmlns:a="http://schemas.openxmlformats.org/drawingml/2006/main">
            <a:off x="3524250" y="44862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52677A"/>
                </a:solidFill>
                <a:latin typeface="Nimbus Sans"/>
                <a:ea typeface="Nimbus Sans"/>
                <a:cs typeface="Nimbus Sans"/>
              </a:defRPr>
            </a:defPPr>
            <a:lvl1pPr>
              <a:buNone/>
              <a:defRPr sz="1350" b="0">
                <a:solidFill>
                  <a:srgbClr val="52677A"/>
                </a:solidFill>
                <a:latin typeface="Nimbus Sans"/>
                <a:ea typeface="Nimbus Sans"/>
                <a:cs typeface="Nimbus Sans"/>
              </a:defRPr>
            </a:lvl1pPr>
            <a:lvl2pPr>
              <a:buNone/>
              <a:defRPr sz="1350" b="0">
                <a:solidFill>
                  <a:srgbClr val="52677A"/>
                </a:solidFill>
                <a:latin typeface="Nimbus Sans"/>
                <a:ea typeface="Nimbus Sans"/>
                <a:cs typeface="Nimbus Sans"/>
              </a:defRPr>
            </a:lvl2pPr>
            <a:lvl3pPr>
              <a:buNone/>
              <a:defRPr sz="1350" b="0">
                <a:solidFill>
                  <a:srgbClr val="52677A"/>
                </a:solidFill>
                <a:latin typeface="Nimbus Sans"/>
                <a:ea typeface="Nimbus Sans"/>
                <a:cs typeface="Nimbus Sans"/>
              </a:defRPr>
            </a:lvl3pPr>
            <a:lvl4pPr>
              <a:buNone/>
              <a:defRPr sz="1350" b="0">
                <a:solidFill>
                  <a:srgbClr val="52677A"/>
                </a:solidFill>
                <a:latin typeface="Nimbus Sans"/>
                <a:ea typeface="Nimbus Sans"/>
                <a:cs typeface="Nimbus Sans"/>
              </a:defRPr>
            </a:lvl4pPr>
            <a:lvl5pPr>
              <a:buNone/>
              <a:defRPr sz="1350" b="0">
                <a:solidFill>
                  <a:srgbClr val="52677A"/>
                </a:solidFill>
                <a:latin typeface="Nimbus Sans"/>
                <a:ea typeface="Nimbus Sans"/>
                <a:cs typeface="Nimbus Sans"/>
              </a:defRPr>
            </a:lvl5pPr>
            <a:lvl6pPr>
              <a:buNone/>
              <a:defRPr sz="1350" b="0">
                <a:solidFill>
                  <a:srgbClr val="52677A"/>
                </a:solidFill>
                <a:latin typeface="Nimbus Sans"/>
                <a:ea typeface="Nimbus Sans"/>
                <a:cs typeface="Nimbus Sans"/>
              </a:defRPr>
            </a:lvl6pPr>
            <a:lvl7pPr>
              <a:buNone/>
              <a:defRPr sz="1350" b="0">
                <a:solidFill>
                  <a:srgbClr val="52677A"/>
                </a:solidFill>
                <a:latin typeface="Nimbus Sans"/>
                <a:ea typeface="Nimbus Sans"/>
                <a:cs typeface="Nimbus Sans"/>
              </a:defRPr>
            </a:lvl7pPr>
            <a:lvl8pPr>
              <a:buNone/>
              <a:defRPr sz="1350" b="0">
                <a:solidFill>
                  <a:srgbClr val="52677A"/>
                </a:solidFill>
                <a:latin typeface="Nimbus Sans"/>
                <a:ea typeface="Nimbus Sans"/>
                <a:cs typeface="Nimbus Sans"/>
              </a:defRPr>
            </a:lvl8pPr>
            <a:lvl9pPr>
              <a:buNone/>
              <a:defRPr sz="1350" b="0">
                <a:solidFill>
                  <a:srgbClr val="52677A"/>
                </a:solidFill>
                <a:latin typeface="Nimbus Sans"/>
                <a:ea typeface="Nimbus Sans"/>
                <a:cs typeface="Nimbus Sans"/>
              </a:defRPr>
            </a:lvl9pPr>
          </a:lstStyle>
          <a:p xmlns:a="http://schemas.openxmlformats.org/drawingml/2006/main">
            <a:pPr>
              <a:buNone/>
              <a:defRPr sz="1350" b="0">
                <a:solidFill>
                  <a:srgbClr val="52677A"/>
                </a:solidFill>
                <a:latin typeface="Nimbus Sans"/>
                <a:ea typeface="Nimbus Sans"/>
                <a:cs typeface="Nimbus Sans"/>
              </a:defRPr>
            </a:pPr>
            <a:r>
              <a:rPr sz="1350" b="0">
                <a:solidFill>
                  <a:srgbClr val="52677A"/>
                </a:solidFill>
                <a:latin typeface="Nimbus Sans"/>
                <a:ea typeface="Nimbus Sans"/>
                <a:cs typeface="Nimbus Sans"/>
              </a:rPr>
              <a:t>Relative offer and peer evidence</a:t>
            </a:r>
          </a:p>
        </p:txBody>
      </p:sp>
      <p:sp>
        <p:nvSpPr>
          <p:cNvPr id="18" name="text-17">
            <a:extLst xmlns:a="http://schemas.openxmlformats.org/drawingml/2006/main">
              <a:ext uri="{FF2B5EF4-FFF2-40B4-BE49-F238E27FC236}">
                <a16:creationId xmlns:a16="http://schemas.microsoft.com/office/drawing/2014/main" id="{329FCABC-21B4-40F9-A9C3-6E863C66B373}"/>
              </a:ext>
            </a:extLst>
          </p:cNvPr>
          <p:cNvSpPr>
            <a:spLocks xmlns:a="http://schemas.openxmlformats.org/drawingml/2006/main" noGrp="1"/>
          </p:cNvSpPr>
          <p:nvPr/>
        </p:nvSpPr>
        <p:spPr>
          <a:xfrm xmlns:a="http://schemas.openxmlformats.org/drawingml/2006/main">
            <a:off x="7143750" y="4010025"/>
            <a:ext cx="7524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82C40"/>
                </a:solidFill>
                <a:latin typeface="Nimbus Sans"/>
                <a:ea typeface="Nimbus Sans"/>
                <a:cs typeface="Nimbus Sans"/>
              </a:defRPr>
            </a:defPPr>
            <a:lvl1pPr>
              <a:buNone/>
              <a:defRPr sz="1875" b="0">
                <a:solidFill>
                  <a:srgbClr val="182C40"/>
                </a:solidFill>
                <a:latin typeface="Nimbus Sans"/>
                <a:ea typeface="Nimbus Sans"/>
                <a:cs typeface="Nimbus Sans"/>
              </a:defRPr>
            </a:lvl1pPr>
            <a:lvl2pPr>
              <a:buNone/>
              <a:defRPr sz="1875" b="0">
                <a:solidFill>
                  <a:srgbClr val="182C40"/>
                </a:solidFill>
                <a:latin typeface="Nimbus Sans"/>
                <a:ea typeface="Nimbus Sans"/>
                <a:cs typeface="Nimbus Sans"/>
              </a:defRPr>
            </a:lvl2pPr>
            <a:lvl3pPr>
              <a:buNone/>
              <a:defRPr sz="1875" b="0">
                <a:solidFill>
                  <a:srgbClr val="182C40"/>
                </a:solidFill>
                <a:latin typeface="Nimbus Sans"/>
                <a:ea typeface="Nimbus Sans"/>
                <a:cs typeface="Nimbus Sans"/>
              </a:defRPr>
            </a:lvl3pPr>
            <a:lvl4pPr>
              <a:buNone/>
              <a:defRPr sz="1875" b="0">
                <a:solidFill>
                  <a:srgbClr val="182C40"/>
                </a:solidFill>
                <a:latin typeface="Nimbus Sans"/>
                <a:ea typeface="Nimbus Sans"/>
                <a:cs typeface="Nimbus Sans"/>
              </a:defRPr>
            </a:lvl4pPr>
            <a:lvl5pPr>
              <a:buNone/>
              <a:defRPr sz="1875" b="0">
                <a:solidFill>
                  <a:srgbClr val="182C40"/>
                </a:solidFill>
                <a:latin typeface="Nimbus Sans"/>
                <a:ea typeface="Nimbus Sans"/>
                <a:cs typeface="Nimbus Sans"/>
              </a:defRPr>
            </a:lvl5pPr>
            <a:lvl6pPr>
              <a:buNone/>
              <a:defRPr sz="1875" b="0">
                <a:solidFill>
                  <a:srgbClr val="182C40"/>
                </a:solidFill>
                <a:latin typeface="Nimbus Sans"/>
                <a:ea typeface="Nimbus Sans"/>
                <a:cs typeface="Nimbus Sans"/>
              </a:defRPr>
            </a:lvl6pPr>
            <a:lvl7pPr>
              <a:buNone/>
              <a:defRPr sz="1875" b="0">
                <a:solidFill>
                  <a:srgbClr val="182C40"/>
                </a:solidFill>
                <a:latin typeface="Nimbus Sans"/>
                <a:ea typeface="Nimbus Sans"/>
                <a:cs typeface="Nimbus Sans"/>
              </a:defRPr>
            </a:lvl7pPr>
            <a:lvl8pPr>
              <a:buNone/>
              <a:defRPr sz="1875" b="0">
                <a:solidFill>
                  <a:srgbClr val="182C40"/>
                </a:solidFill>
                <a:latin typeface="Nimbus Sans"/>
                <a:ea typeface="Nimbus Sans"/>
                <a:cs typeface="Nimbus Sans"/>
              </a:defRPr>
            </a:lvl8pPr>
            <a:lvl9pPr>
              <a:buNone/>
              <a:defRPr sz="1875" b="0">
                <a:solidFill>
                  <a:srgbClr val="182C40"/>
                </a:solidFill>
                <a:latin typeface="Nimbus Sans"/>
                <a:ea typeface="Nimbus Sans"/>
                <a:cs typeface="Nimbus Sans"/>
              </a:defRPr>
            </a:lvl9pPr>
          </a:lstStyle>
          <a:p xmlns:a="http://schemas.openxmlformats.org/drawingml/2006/main">
            <a:pPr>
              <a:buNone/>
              <a:defRPr sz="1875" b="0">
                <a:solidFill>
                  <a:srgbClr val="182C40"/>
                </a:solidFill>
                <a:latin typeface="Nimbus Sans"/>
                <a:ea typeface="Nimbus Sans"/>
                <a:cs typeface="Nimbus Sans"/>
              </a:defRPr>
            </a:pPr>
            <a:r>
              <a:rPr sz="1875" b="0">
                <a:solidFill>
                  <a:srgbClr val="182C40"/>
                </a:solidFill>
                <a:latin typeface="Nimbus Sans"/>
                <a:ea typeface="Nimbus Sans"/>
                <a:cs typeface="Nimbus Sans"/>
              </a:rPr>
              <a:t>Alternatives and differentiation</a:t>
            </a:r>
          </a:p>
        </p:txBody>
      </p:sp>
      <p:sp>
        <p:nvSpPr>
          <p:cNvPr id="20" name="text-19">
            <a:extLst xmlns:a="http://schemas.openxmlformats.org/drawingml/2006/main">
              <a:ext uri="{FF2B5EF4-FFF2-40B4-BE49-F238E27FC236}">
                <a16:creationId xmlns:a16="http://schemas.microsoft.com/office/drawing/2014/main" id="{CAE64C29-523F-4E11-8E00-11F0D27C21EB}"/>
              </a:ext>
            </a:extLst>
          </p:cNvPr>
          <p:cNvSpPr>
            <a:spLocks xmlns:a="http://schemas.openxmlformats.org/drawingml/2006/main" noGrp="1"/>
          </p:cNvSpPr>
          <p:nvPr/>
        </p:nvSpPr>
        <p:spPr>
          <a:xfrm xmlns:a="http://schemas.openxmlformats.org/drawingml/2006/main">
            <a:off x="7143750" y="4476750"/>
            <a:ext cx="7524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82C40"/>
                </a:solidFill>
                <a:latin typeface="Nimbus Sans"/>
                <a:ea typeface="Nimbus Sans"/>
                <a:cs typeface="Nimbus Sans"/>
              </a:defRPr>
            </a:defPPr>
            <a:lvl1pPr>
              <a:buNone/>
              <a:defRPr sz="1875" b="0">
                <a:solidFill>
                  <a:srgbClr val="182C40"/>
                </a:solidFill>
                <a:latin typeface="Nimbus Sans"/>
                <a:ea typeface="Nimbus Sans"/>
                <a:cs typeface="Nimbus Sans"/>
              </a:defRPr>
            </a:lvl1pPr>
            <a:lvl2pPr>
              <a:buNone/>
              <a:defRPr sz="1875" b="0">
                <a:solidFill>
                  <a:srgbClr val="182C40"/>
                </a:solidFill>
                <a:latin typeface="Nimbus Sans"/>
                <a:ea typeface="Nimbus Sans"/>
                <a:cs typeface="Nimbus Sans"/>
              </a:defRPr>
            </a:lvl2pPr>
            <a:lvl3pPr>
              <a:buNone/>
              <a:defRPr sz="1875" b="0">
                <a:solidFill>
                  <a:srgbClr val="182C40"/>
                </a:solidFill>
                <a:latin typeface="Nimbus Sans"/>
                <a:ea typeface="Nimbus Sans"/>
                <a:cs typeface="Nimbus Sans"/>
              </a:defRPr>
            </a:lvl3pPr>
            <a:lvl4pPr>
              <a:buNone/>
              <a:defRPr sz="1875" b="0">
                <a:solidFill>
                  <a:srgbClr val="182C40"/>
                </a:solidFill>
                <a:latin typeface="Nimbus Sans"/>
                <a:ea typeface="Nimbus Sans"/>
                <a:cs typeface="Nimbus Sans"/>
              </a:defRPr>
            </a:lvl4pPr>
            <a:lvl5pPr>
              <a:buNone/>
              <a:defRPr sz="1875" b="0">
                <a:solidFill>
                  <a:srgbClr val="182C40"/>
                </a:solidFill>
                <a:latin typeface="Nimbus Sans"/>
                <a:ea typeface="Nimbus Sans"/>
                <a:cs typeface="Nimbus Sans"/>
              </a:defRPr>
            </a:lvl5pPr>
            <a:lvl6pPr>
              <a:buNone/>
              <a:defRPr sz="1875" b="0">
                <a:solidFill>
                  <a:srgbClr val="182C40"/>
                </a:solidFill>
                <a:latin typeface="Nimbus Sans"/>
                <a:ea typeface="Nimbus Sans"/>
                <a:cs typeface="Nimbus Sans"/>
              </a:defRPr>
            </a:lvl6pPr>
            <a:lvl7pPr>
              <a:buNone/>
              <a:defRPr sz="1875" b="0">
                <a:solidFill>
                  <a:srgbClr val="182C40"/>
                </a:solidFill>
                <a:latin typeface="Nimbus Sans"/>
                <a:ea typeface="Nimbus Sans"/>
                <a:cs typeface="Nimbus Sans"/>
              </a:defRPr>
            </a:lvl7pPr>
            <a:lvl8pPr>
              <a:buNone/>
              <a:defRPr sz="1875" b="0">
                <a:solidFill>
                  <a:srgbClr val="182C40"/>
                </a:solidFill>
                <a:latin typeface="Nimbus Sans"/>
                <a:ea typeface="Nimbus Sans"/>
                <a:cs typeface="Nimbus Sans"/>
              </a:defRPr>
            </a:lvl8pPr>
            <a:lvl9pPr>
              <a:buNone/>
              <a:defRPr sz="1875" b="0">
                <a:solidFill>
                  <a:srgbClr val="182C40"/>
                </a:solidFill>
                <a:latin typeface="Nimbus Sans"/>
                <a:ea typeface="Nimbus Sans"/>
                <a:cs typeface="Nimbus Sans"/>
              </a:defRPr>
            </a:lvl9pPr>
          </a:lstStyle>
          <a:p xmlns:a="http://schemas.openxmlformats.org/drawingml/2006/main">
            <a:pPr>
              <a:buNone/>
              <a:defRPr sz="1875" b="0">
                <a:solidFill>
                  <a:srgbClr val="182C40"/>
                </a:solidFill>
                <a:latin typeface="Nimbus Sans"/>
                <a:ea typeface="Nimbus Sans"/>
                <a:cs typeface="Nimbus Sans"/>
              </a:defRPr>
            </a:pPr>
            <a:r>
              <a:rPr sz="1875" b="0">
                <a:solidFill>
                  <a:srgbClr val="182C40"/>
                </a:solidFill>
                <a:latin typeface="Nimbus Sans"/>
                <a:ea typeface="Nimbus Sans"/>
                <a:cs typeface="Nimbus Sans"/>
              </a:rPr>
              <a:t>Peer financial benchmark</a:t>
            </a:r>
          </a:p>
        </p:txBody>
      </p:sp>
      <p:sp>
        <p:nvSpPr>
          <p:cNvPr id="22" name="text-21">
            <a:extLst xmlns:a="http://schemas.openxmlformats.org/drawingml/2006/main">
              <a:ext uri="{FF2B5EF4-FFF2-40B4-BE49-F238E27FC236}">
                <a16:creationId xmlns:a16="http://schemas.microsoft.com/office/drawing/2014/main" id="{B73424F6-55F9-4D83-88C8-9B6205436C1E}"/>
              </a:ext>
            </a:extLst>
          </p:cNvPr>
          <p:cNvSpPr>
            <a:spLocks xmlns:a="http://schemas.openxmlformats.org/drawingml/2006/main" noGrp="1"/>
          </p:cNvSpPr>
          <p:nvPr/>
        </p:nvSpPr>
        <p:spPr>
          <a:xfrm xmlns:a="http://schemas.openxmlformats.org/drawingml/2006/main">
            <a:off x="3524250" y="5162550"/>
            <a:ext cx="2714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73B5E"/>
                </a:solidFill>
                <a:latin typeface="Nimbus Sans"/>
                <a:ea typeface="Nimbus Sans"/>
                <a:cs typeface="Nimbus Sans"/>
              </a:defRPr>
            </a:defPPr>
            <a:lvl1pPr>
              <a:buNone/>
              <a:defRPr sz="2025" b="1">
                <a:solidFill>
                  <a:srgbClr val="173B5E"/>
                </a:solidFill>
                <a:latin typeface="Nimbus Sans"/>
                <a:ea typeface="Nimbus Sans"/>
                <a:cs typeface="Nimbus Sans"/>
              </a:defRPr>
            </a:lvl1pPr>
            <a:lvl2pPr>
              <a:buNone/>
              <a:defRPr sz="2025" b="1">
                <a:solidFill>
                  <a:srgbClr val="173B5E"/>
                </a:solidFill>
                <a:latin typeface="Nimbus Sans"/>
                <a:ea typeface="Nimbus Sans"/>
                <a:cs typeface="Nimbus Sans"/>
              </a:defRPr>
            </a:lvl2pPr>
            <a:lvl3pPr>
              <a:buNone/>
              <a:defRPr sz="2025" b="1">
                <a:solidFill>
                  <a:srgbClr val="173B5E"/>
                </a:solidFill>
                <a:latin typeface="Nimbus Sans"/>
                <a:ea typeface="Nimbus Sans"/>
                <a:cs typeface="Nimbus Sans"/>
              </a:defRPr>
            </a:lvl3pPr>
            <a:lvl4pPr>
              <a:buNone/>
              <a:defRPr sz="2025" b="1">
                <a:solidFill>
                  <a:srgbClr val="173B5E"/>
                </a:solidFill>
                <a:latin typeface="Nimbus Sans"/>
                <a:ea typeface="Nimbus Sans"/>
                <a:cs typeface="Nimbus Sans"/>
              </a:defRPr>
            </a:lvl4pPr>
            <a:lvl5pPr>
              <a:buNone/>
              <a:defRPr sz="2025" b="1">
                <a:solidFill>
                  <a:srgbClr val="173B5E"/>
                </a:solidFill>
                <a:latin typeface="Nimbus Sans"/>
                <a:ea typeface="Nimbus Sans"/>
                <a:cs typeface="Nimbus Sans"/>
              </a:defRPr>
            </a:lvl5pPr>
            <a:lvl6pPr>
              <a:buNone/>
              <a:defRPr sz="2025" b="1">
                <a:solidFill>
                  <a:srgbClr val="173B5E"/>
                </a:solidFill>
                <a:latin typeface="Nimbus Sans"/>
                <a:ea typeface="Nimbus Sans"/>
                <a:cs typeface="Nimbus Sans"/>
              </a:defRPr>
            </a:lvl6pPr>
            <a:lvl7pPr>
              <a:buNone/>
              <a:defRPr sz="2025" b="1">
                <a:solidFill>
                  <a:srgbClr val="173B5E"/>
                </a:solidFill>
                <a:latin typeface="Nimbus Sans"/>
                <a:ea typeface="Nimbus Sans"/>
                <a:cs typeface="Nimbus Sans"/>
              </a:defRPr>
            </a:lvl7pPr>
            <a:lvl8pPr>
              <a:buNone/>
              <a:defRPr sz="2025" b="1">
                <a:solidFill>
                  <a:srgbClr val="173B5E"/>
                </a:solidFill>
                <a:latin typeface="Nimbus Sans"/>
                <a:ea typeface="Nimbus Sans"/>
                <a:cs typeface="Nimbus Sans"/>
              </a:defRPr>
            </a:lvl8pPr>
            <a:lvl9pPr>
              <a:buNone/>
              <a:defRPr sz="2025" b="1">
                <a:solidFill>
                  <a:srgbClr val="173B5E"/>
                </a:solidFill>
                <a:latin typeface="Nimbus Sans"/>
                <a:ea typeface="Nimbus Sans"/>
                <a:cs typeface="Nimbus Sans"/>
              </a:defRPr>
            </a:lvl9pPr>
          </a:lstStyle>
          <a:p xmlns:a="http://schemas.openxmlformats.org/drawingml/2006/main">
            <a:pPr>
              <a:buNone/>
              <a:defRPr sz="2025" b="1">
                <a:solidFill>
                  <a:srgbClr val="173B5E"/>
                </a:solidFill>
                <a:latin typeface="Nimbus Sans"/>
                <a:ea typeface="Nimbus Sans"/>
                <a:cs typeface="Nimbus Sans"/>
              </a:defRPr>
            </a:pPr>
            <a:r>
              <a:rPr sz="2025" b="1">
                <a:solidFill>
                  <a:srgbClr val="173B5E"/>
                </a:solidFill>
                <a:latin typeface="Nimbus Sans"/>
                <a:ea typeface="Nimbus Sans"/>
                <a:cs typeface="Nimbus Sans"/>
              </a:rPr>
              <a:t>Customer economics</a:t>
            </a:r>
          </a:p>
        </p:txBody>
      </p:sp>
      <p:sp>
        <p:nvSpPr>
          <p:cNvPr id="23" name="text-22">
            <a:extLst xmlns:a="http://schemas.openxmlformats.org/drawingml/2006/main">
              <a:ext uri="{FF2B5EF4-FFF2-40B4-BE49-F238E27FC236}">
                <a16:creationId xmlns:a16="http://schemas.microsoft.com/office/drawing/2014/main" id="{4155170D-6D70-4674-8444-9C64CBEB64D9}"/>
              </a:ext>
            </a:extLst>
          </p:cNvPr>
          <p:cNvSpPr>
            <a:spLocks xmlns:a="http://schemas.openxmlformats.org/drawingml/2006/main" noGrp="1"/>
          </p:cNvSpPr>
          <p:nvPr/>
        </p:nvSpPr>
        <p:spPr>
          <a:xfrm xmlns:a="http://schemas.openxmlformats.org/drawingml/2006/main">
            <a:off x="3524250" y="553402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52677A"/>
                </a:solidFill>
                <a:latin typeface="Nimbus Sans"/>
                <a:ea typeface="Nimbus Sans"/>
                <a:cs typeface="Nimbus Sans"/>
              </a:defRPr>
            </a:defPPr>
            <a:lvl1pPr>
              <a:buNone/>
              <a:defRPr sz="1350" b="0">
                <a:solidFill>
                  <a:srgbClr val="52677A"/>
                </a:solidFill>
                <a:latin typeface="Nimbus Sans"/>
                <a:ea typeface="Nimbus Sans"/>
                <a:cs typeface="Nimbus Sans"/>
              </a:defRPr>
            </a:lvl1pPr>
            <a:lvl2pPr>
              <a:buNone/>
              <a:defRPr sz="1350" b="0">
                <a:solidFill>
                  <a:srgbClr val="52677A"/>
                </a:solidFill>
                <a:latin typeface="Nimbus Sans"/>
                <a:ea typeface="Nimbus Sans"/>
                <a:cs typeface="Nimbus Sans"/>
              </a:defRPr>
            </a:lvl2pPr>
            <a:lvl3pPr>
              <a:buNone/>
              <a:defRPr sz="1350" b="0">
                <a:solidFill>
                  <a:srgbClr val="52677A"/>
                </a:solidFill>
                <a:latin typeface="Nimbus Sans"/>
                <a:ea typeface="Nimbus Sans"/>
                <a:cs typeface="Nimbus Sans"/>
              </a:defRPr>
            </a:lvl3pPr>
            <a:lvl4pPr>
              <a:buNone/>
              <a:defRPr sz="1350" b="0">
                <a:solidFill>
                  <a:srgbClr val="52677A"/>
                </a:solidFill>
                <a:latin typeface="Nimbus Sans"/>
                <a:ea typeface="Nimbus Sans"/>
                <a:cs typeface="Nimbus Sans"/>
              </a:defRPr>
            </a:lvl4pPr>
            <a:lvl5pPr>
              <a:buNone/>
              <a:defRPr sz="1350" b="0">
                <a:solidFill>
                  <a:srgbClr val="52677A"/>
                </a:solidFill>
                <a:latin typeface="Nimbus Sans"/>
                <a:ea typeface="Nimbus Sans"/>
                <a:cs typeface="Nimbus Sans"/>
              </a:defRPr>
            </a:lvl5pPr>
            <a:lvl6pPr>
              <a:buNone/>
              <a:defRPr sz="1350" b="0">
                <a:solidFill>
                  <a:srgbClr val="52677A"/>
                </a:solidFill>
                <a:latin typeface="Nimbus Sans"/>
                <a:ea typeface="Nimbus Sans"/>
                <a:cs typeface="Nimbus Sans"/>
              </a:defRPr>
            </a:lvl6pPr>
            <a:lvl7pPr>
              <a:buNone/>
              <a:defRPr sz="1350" b="0">
                <a:solidFill>
                  <a:srgbClr val="52677A"/>
                </a:solidFill>
                <a:latin typeface="Nimbus Sans"/>
                <a:ea typeface="Nimbus Sans"/>
                <a:cs typeface="Nimbus Sans"/>
              </a:defRPr>
            </a:lvl7pPr>
            <a:lvl8pPr>
              <a:buNone/>
              <a:defRPr sz="1350" b="0">
                <a:solidFill>
                  <a:srgbClr val="52677A"/>
                </a:solidFill>
                <a:latin typeface="Nimbus Sans"/>
                <a:ea typeface="Nimbus Sans"/>
                <a:cs typeface="Nimbus Sans"/>
              </a:defRPr>
            </a:lvl8pPr>
            <a:lvl9pPr>
              <a:buNone/>
              <a:defRPr sz="1350" b="0">
                <a:solidFill>
                  <a:srgbClr val="52677A"/>
                </a:solidFill>
                <a:latin typeface="Nimbus Sans"/>
                <a:ea typeface="Nimbus Sans"/>
                <a:cs typeface="Nimbus Sans"/>
              </a:defRPr>
            </a:lvl9pPr>
          </a:lstStyle>
          <a:p xmlns:a="http://schemas.openxmlformats.org/drawingml/2006/main">
            <a:pPr>
              <a:buNone/>
              <a:defRPr sz="1350" b="0">
                <a:solidFill>
                  <a:srgbClr val="52677A"/>
                </a:solidFill>
                <a:latin typeface="Nimbus Sans"/>
                <a:ea typeface="Nimbus Sans"/>
                <a:cs typeface="Nimbus Sans"/>
              </a:defRPr>
            </a:pPr>
            <a:r>
              <a:rPr sz="1350" b="0">
                <a:solidFill>
                  <a:srgbClr val="52677A"/>
                </a:solidFill>
                <a:latin typeface="Nimbus Sans"/>
                <a:ea typeface="Nimbus Sans"/>
                <a:cs typeface="Nimbus Sans"/>
              </a:rPr>
              <a:t>Buyer value and viable offer</a:t>
            </a:r>
          </a:p>
        </p:txBody>
      </p:sp>
      <p:sp>
        <p:nvSpPr>
          <p:cNvPr id="25" name="text-24">
            <a:extLst xmlns:a="http://schemas.openxmlformats.org/drawingml/2006/main">
              <a:ext uri="{FF2B5EF4-FFF2-40B4-BE49-F238E27FC236}">
                <a16:creationId xmlns:a16="http://schemas.microsoft.com/office/drawing/2014/main" id="{4B8E09C4-D2EC-4F71-B94F-0ACC7B85397B}"/>
              </a:ext>
            </a:extLst>
          </p:cNvPr>
          <p:cNvSpPr>
            <a:spLocks xmlns:a="http://schemas.openxmlformats.org/drawingml/2006/main" noGrp="1"/>
          </p:cNvSpPr>
          <p:nvPr/>
        </p:nvSpPr>
        <p:spPr>
          <a:xfrm xmlns:a="http://schemas.openxmlformats.org/drawingml/2006/main">
            <a:off x="7143750" y="5057775"/>
            <a:ext cx="7524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82C40"/>
                </a:solidFill>
                <a:latin typeface="Nimbus Sans"/>
                <a:ea typeface="Nimbus Sans"/>
                <a:cs typeface="Nimbus Sans"/>
              </a:defRPr>
            </a:defPPr>
            <a:lvl1pPr>
              <a:buNone/>
              <a:defRPr sz="1875" b="0">
                <a:solidFill>
                  <a:srgbClr val="182C40"/>
                </a:solidFill>
                <a:latin typeface="Nimbus Sans"/>
                <a:ea typeface="Nimbus Sans"/>
                <a:cs typeface="Nimbus Sans"/>
              </a:defRPr>
            </a:lvl1pPr>
            <a:lvl2pPr>
              <a:buNone/>
              <a:defRPr sz="1875" b="0">
                <a:solidFill>
                  <a:srgbClr val="182C40"/>
                </a:solidFill>
                <a:latin typeface="Nimbus Sans"/>
                <a:ea typeface="Nimbus Sans"/>
                <a:cs typeface="Nimbus Sans"/>
              </a:defRPr>
            </a:lvl2pPr>
            <a:lvl3pPr>
              <a:buNone/>
              <a:defRPr sz="1875" b="0">
                <a:solidFill>
                  <a:srgbClr val="182C40"/>
                </a:solidFill>
                <a:latin typeface="Nimbus Sans"/>
                <a:ea typeface="Nimbus Sans"/>
                <a:cs typeface="Nimbus Sans"/>
              </a:defRPr>
            </a:lvl3pPr>
            <a:lvl4pPr>
              <a:buNone/>
              <a:defRPr sz="1875" b="0">
                <a:solidFill>
                  <a:srgbClr val="182C40"/>
                </a:solidFill>
                <a:latin typeface="Nimbus Sans"/>
                <a:ea typeface="Nimbus Sans"/>
                <a:cs typeface="Nimbus Sans"/>
              </a:defRPr>
            </a:lvl4pPr>
            <a:lvl5pPr>
              <a:buNone/>
              <a:defRPr sz="1875" b="0">
                <a:solidFill>
                  <a:srgbClr val="182C40"/>
                </a:solidFill>
                <a:latin typeface="Nimbus Sans"/>
                <a:ea typeface="Nimbus Sans"/>
                <a:cs typeface="Nimbus Sans"/>
              </a:defRPr>
            </a:lvl5pPr>
            <a:lvl6pPr>
              <a:buNone/>
              <a:defRPr sz="1875" b="0">
                <a:solidFill>
                  <a:srgbClr val="182C40"/>
                </a:solidFill>
                <a:latin typeface="Nimbus Sans"/>
                <a:ea typeface="Nimbus Sans"/>
                <a:cs typeface="Nimbus Sans"/>
              </a:defRPr>
            </a:lvl6pPr>
            <a:lvl7pPr>
              <a:buNone/>
              <a:defRPr sz="1875" b="0">
                <a:solidFill>
                  <a:srgbClr val="182C40"/>
                </a:solidFill>
                <a:latin typeface="Nimbus Sans"/>
                <a:ea typeface="Nimbus Sans"/>
                <a:cs typeface="Nimbus Sans"/>
              </a:defRPr>
            </a:lvl7pPr>
            <a:lvl8pPr>
              <a:buNone/>
              <a:defRPr sz="1875" b="0">
                <a:solidFill>
                  <a:srgbClr val="182C40"/>
                </a:solidFill>
                <a:latin typeface="Nimbus Sans"/>
                <a:ea typeface="Nimbus Sans"/>
                <a:cs typeface="Nimbus Sans"/>
              </a:defRPr>
            </a:lvl8pPr>
            <a:lvl9pPr>
              <a:buNone/>
              <a:defRPr sz="1875" b="0">
                <a:solidFill>
                  <a:srgbClr val="182C40"/>
                </a:solidFill>
                <a:latin typeface="Nimbus Sans"/>
                <a:ea typeface="Nimbus Sans"/>
                <a:cs typeface="Nimbus Sans"/>
              </a:defRPr>
            </a:lvl9pPr>
          </a:lstStyle>
          <a:p xmlns:a="http://schemas.openxmlformats.org/drawingml/2006/main">
            <a:pPr>
              <a:buNone/>
              <a:defRPr sz="1875" b="0">
                <a:solidFill>
                  <a:srgbClr val="182C40"/>
                </a:solidFill>
                <a:latin typeface="Nimbus Sans"/>
                <a:ea typeface="Nimbus Sans"/>
                <a:cs typeface="Nimbus Sans"/>
              </a:defRPr>
            </a:pPr>
            <a:r>
              <a:rPr sz="1875" b="0">
                <a:solidFill>
                  <a:srgbClr val="182C40"/>
                </a:solidFill>
                <a:latin typeface="Nimbus Sans"/>
                <a:ea typeface="Nimbus Sans"/>
                <a:cs typeface="Nimbus Sans"/>
              </a:rPr>
              <a:t>Customer ROI</a:t>
            </a:r>
          </a:p>
        </p:txBody>
      </p:sp>
      <p:sp>
        <p:nvSpPr>
          <p:cNvPr id="27" name="text-26">
            <a:extLst xmlns:a="http://schemas.openxmlformats.org/drawingml/2006/main">
              <a:ext uri="{FF2B5EF4-FFF2-40B4-BE49-F238E27FC236}">
                <a16:creationId xmlns:a16="http://schemas.microsoft.com/office/drawing/2014/main" id="{51215017-06A4-452E-9F77-13A985238B47}"/>
              </a:ext>
            </a:extLst>
          </p:cNvPr>
          <p:cNvSpPr>
            <a:spLocks xmlns:a="http://schemas.openxmlformats.org/drawingml/2006/main" noGrp="1"/>
          </p:cNvSpPr>
          <p:nvPr/>
        </p:nvSpPr>
        <p:spPr>
          <a:xfrm xmlns:a="http://schemas.openxmlformats.org/drawingml/2006/main">
            <a:off x="7143750" y="5524500"/>
            <a:ext cx="7524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82C40"/>
                </a:solidFill>
                <a:latin typeface="Nimbus Sans"/>
                <a:ea typeface="Nimbus Sans"/>
                <a:cs typeface="Nimbus Sans"/>
              </a:defRPr>
            </a:defPPr>
            <a:lvl1pPr>
              <a:buNone/>
              <a:defRPr sz="1875" b="0">
                <a:solidFill>
                  <a:srgbClr val="182C40"/>
                </a:solidFill>
                <a:latin typeface="Nimbus Sans"/>
                <a:ea typeface="Nimbus Sans"/>
                <a:cs typeface="Nimbus Sans"/>
              </a:defRPr>
            </a:lvl1pPr>
            <a:lvl2pPr>
              <a:buNone/>
              <a:defRPr sz="1875" b="0">
                <a:solidFill>
                  <a:srgbClr val="182C40"/>
                </a:solidFill>
                <a:latin typeface="Nimbus Sans"/>
                <a:ea typeface="Nimbus Sans"/>
                <a:cs typeface="Nimbus Sans"/>
              </a:defRPr>
            </a:lvl2pPr>
            <a:lvl3pPr>
              <a:buNone/>
              <a:defRPr sz="1875" b="0">
                <a:solidFill>
                  <a:srgbClr val="182C40"/>
                </a:solidFill>
                <a:latin typeface="Nimbus Sans"/>
                <a:ea typeface="Nimbus Sans"/>
                <a:cs typeface="Nimbus Sans"/>
              </a:defRPr>
            </a:lvl3pPr>
            <a:lvl4pPr>
              <a:buNone/>
              <a:defRPr sz="1875" b="0">
                <a:solidFill>
                  <a:srgbClr val="182C40"/>
                </a:solidFill>
                <a:latin typeface="Nimbus Sans"/>
                <a:ea typeface="Nimbus Sans"/>
                <a:cs typeface="Nimbus Sans"/>
              </a:defRPr>
            </a:lvl4pPr>
            <a:lvl5pPr>
              <a:buNone/>
              <a:defRPr sz="1875" b="0">
                <a:solidFill>
                  <a:srgbClr val="182C40"/>
                </a:solidFill>
                <a:latin typeface="Nimbus Sans"/>
                <a:ea typeface="Nimbus Sans"/>
                <a:cs typeface="Nimbus Sans"/>
              </a:defRPr>
            </a:lvl5pPr>
            <a:lvl6pPr>
              <a:buNone/>
              <a:defRPr sz="1875" b="0">
                <a:solidFill>
                  <a:srgbClr val="182C40"/>
                </a:solidFill>
                <a:latin typeface="Nimbus Sans"/>
                <a:ea typeface="Nimbus Sans"/>
                <a:cs typeface="Nimbus Sans"/>
              </a:defRPr>
            </a:lvl6pPr>
            <a:lvl7pPr>
              <a:buNone/>
              <a:defRPr sz="1875" b="0">
                <a:solidFill>
                  <a:srgbClr val="182C40"/>
                </a:solidFill>
                <a:latin typeface="Nimbus Sans"/>
                <a:ea typeface="Nimbus Sans"/>
                <a:cs typeface="Nimbus Sans"/>
              </a:defRPr>
            </a:lvl7pPr>
            <a:lvl8pPr>
              <a:buNone/>
              <a:defRPr sz="1875" b="0">
                <a:solidFill>
                  <a:srgbClr val="182C40"/>
                </a:solidFill>
                <a:latin typeface="Nimbus Sans"/>
                <a:ea typeface="Nimbus Sans"/>
                <a:cs typeface="Nimbus Sans"/>
              </a:defRPr>
            </a:lvl8pPr>
            <a:lvl9pPr>
              <a:buNone/>
              <a:defRPr sz="1875" b="0">
                <a:solidFill>
                  <a:srgbClr val="182C40"/>
                </a:solidFill>
                <a:latin typeface="Nimbus Sans"/>
                <a:ea typeface="Nimbus Sans"/>
                <a:cs typeface="Nimbus Sans"/>
              </a:defRPr>
            </a:lvl9pPr>
          </a:lstStyle>
          <a:p xmlns:a="http://schemas.openxmlformats.org/drawingml/2006/main">
            <a:pPr>
              <a:buNone/>
              <a:defRPr sz="1875" b="0">
                <a:solidFill>
                  <a:srgbClr val="182C40"/>
                </a:solidFill>
                <a:latin typeface="Nimbus Sans"/>
                <a:ea typeface="Nimbus Sans"/>
                <a:cs typeface="Nimbus Sans"/>
              </a:defRPr>
            </a:pPr>
            <a:r>
              <a:rPr sz="1875" b="0">
                <a:solidFill>
                  <a:srgbClr val="182C40"/>
                </a:solidFill>
                <a:latin typeface="Nimbus Sans"/>
                <a:ea typeface="Nimbus Sans"/>
                <a:cs typeface="Nimbus Sans"/>
              </a:rPr>
              <a:t>InGen unit economics</a:t>
            </a:r>
          </a:p>
        </p:txBody>
      </p:sp>
      <p:sp>
        <p:nvSpPr>
          <p:cNvPr id="29" name="text-28">
            <a:extLst xmlns:a="http://schemas.openxmlformats.org/drawingml/2006/main">
              <a:ext uri="{FF2B5EF4-FFF2-40B4-BE49-F238E27FC236}">
                <a16:creationId xmlns:a16="http://schemas.microsoft.com/office/drawing/2014/main" id="{5E086E48-CDBB-4CB3-ADC9-7836B19BB1B4}"/>
              </a:ext>
            </a:extLst>
          </p:cNvPr>
          <p:cNvSpPr>
            <a:spLocks xmlns:a="http://schemas.openxmlformats.org/drawingml/2006/main" noGrp="1"/>
          </p:cNvSpPr>
          <p:nvPr/>
        </p:nvSpPr>
        <p:spPr>
          <a:xfrm xmlns:a="http://schemas.openxmlformats.org/drawingml/2006/main">
            <a:off x="3524250" y="6210300"/>
            <a:ext cx="2714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73B5E"/>
                </a:solidFill>
                <a:latin typeface="Nimbus Sans"/>
                <a:ea typeface="Nimbus Sans"/>
                <a:cs typeface="Nimbus Sans"/>
              </a:defRPr>
            </a:defPPr>
            <a:lvl1pPr>
              <a:buNone/>
              <a:defRPr sz="2025" b="1">
                <a:solidFill>
                  <a:srgbClr val="173B5E"/>
                </a:solidFill>
                <a:latin typeface="Nimbus Sans"/>
                <a:ea typeface="Nimbus Sans"/>
                <a:cs typeface="Nimbus Sans"/>
              </a:defRPr>
            </a:lvl1pPr>
            <a:lvl2pPr>
              <a:buNone/>
              <a:defRPr sz="2025" b="1">
                <a:solidFill>
                  <a:srgbClr val="173B5E"/>
                </a:solidFill>
                <a:latin typeface="Nimbus Sans"/>
                <a:ea typeface="Nimbus Sans"/>
                <a:cs typeface="Nimbus Sans"/>
              </a:defRPr>
            </a:lvl2pPr>
            <a:lvl3pPr>
              <a:buNone/>
              <a:defRPr sz="2025" b="1">
                <a:solidFill>
                  <a:srgbClr val="173B5E"/>
                </a:solidFill>
                <a:latin typeface="Nimbus Sans"/>
                <a:ea typeface="Nimbus Sans"/>
                <a:cs typeface="Nimbus Sans"/>
              </a:defRPr>
            </a:lvl3pPr>
            <a:lvl4pPr>
              <a:buNone/>
              <a:defRPr sz="2025" b="1">
                <a:solidFill>
                  <a:srgbClr val="173B5E"/>
                </a:solidFill>
                <a:latin typeface="Nimbus Sans"/>
                <a:ea typeface="Nimbus Sans"/>
                <a:cs typeface="Nimbus Sans"/>
              </a:defRPr>
            </a:lvl4pPr>
            <a:lvl5pPr>
              <a:buNone/>
              <a:defRPr sz="2025" b="1">
                <a:solidFill>
                  <a:srgbClr val="173B5E"/>
                </a:solidFill>
                <a:latin typeface="Nimbus Sans"/>
                <a:ea typeface="Nimbus Sans"/>
                <a:cs typeface="Nimbus Sans"/>
              </a:defRPr>
            </a:lvl5pPr>
            <a:lvl6pPr>
              <a:buNone/>
              <a:defRPr sz="2025" b="1">
                <a:solidFill>
                  <a:srgbClr val="173B5E"/>
                </a:solidFill>
                <a:latin typeface="Nimbus Sans"/>
                <a:ea typeface="Nimbus Sans"/>
                <a:cs typeface="Nimbus Sans"/>
              </a:defRPr>
            </a:lvl6pPr>
            <a:lvl7pPr>
              <a:buNone/>
              <a:defRPr sz="2025" b="1">
                <a:solidFill>
                  <a:srgbClr val="173B5E"/>
                </a:solidFill>
                <a:latin typeface="Nimbus Sans"/>
                <a:ea typeface="Nimbus Sans"/>
                <a:cs typeface="Nimbus Sans"/>
              </a:defRPr>
            </a:lvl7pPr>
            <a:lvl8pPr>
              <a:buNone/>
              <a:defRPr sz="2025" b="1">
                <a:solidFill>
                  <a:srgbClr val="173B5E"/>
                </a:solidFill>
                <a:latin typeface="Nimbus Sans"/>
                <a:ea typeface="Nimbus Sans"/>
                <a:cs typeface="Nimbus Sans"/>
              </a:defRPr>
            </a:lvl8pPr>
            <a:lvl9pPr>
              <a:buNone/>
              <a:defRPr sz="2025" b="1">
                <a:solidFill>
                  <a:srgbClr val="173B5E"/>
                </a:solidFill>
                <a:latin typeface="Nimbus Sans"/>
                <a:ea typeface="Nimbus Sans"/>
                <a:cs typeface="Nimbus Sans"/>
              </a:defRPr>
            </a:lvl9pPr>
          </a:lstStyle>
          <a:p xmlns:a="http://schemas.openxmlformats.org/drawingml/2006/main">
            <a:pPr>
              <a:buNone/>
              <a:defRPr sz="2025" b="1">
                <a:solidFill>
                  <a:srgbClr val="173B5E"/>
                </a:solidFill>
                <a:latin typeface="Nimbus Sans"/>
                <a:ea typeface="Nimbus Sans"/>
                <a:cs typeface="Nimbus Sans"/>
              </a:defRPr>
            </a:pPr>
            <a:r>
              <a:rPr sz="2025" b="1">
                <a:solidFill>
                  <a:srgbClr val="173B5E"/>
                </a:solidFill>
                <a:latin typeface="Nimbus Sans"/>
                <a:ea typeface="Nimbus Sans"/>
                <a:cs typeface="Nimbus Sans"/>
              </a:rPr>
              <a:t>Go-to-market</a:t>
            </a:r>
          </a:p>
        </p:txBody>
      </p:sp>
      <p:sp>
        <p:nvSpPr>
          <p:cNvPr id="30" name="text-29">
            <a:extLst xmlns:a="http://schemas.openxmlformats.org/drawingml/2006/main">
              <a:ext uri="{FF2B5EF4-FFF2-40B4-BE49-F238E27FC236}">
                <a16:creationId xmlns:a16="http://schemas.microsoft.com/office/drawing/2014/main" id="{FA31F85C-590A-4B68-BFE0-526307E41DF0}"/>
              </a:ext>
            </a:extLst>
          </p:cNvPr>
          <p:cNvSpPr>
            <a:spLocks xmlns:a="http://schemas.openxmlformats.org/drawingml/2006/main" noGrp="1"/>
          </p:cNvSpPr>
          <p:nvPr/>
        </p:nvSpPr>
        <p:spPr>
          <a:xfrm xmlns:a="http://schemas.openxmlformats.org/drawingml/2006/main">
            <a:off x="3524250" y="65817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52677A"/>
                </a:solidFill>
                <a:latin typeface="Nimbus Sans"/>
                <a:ea typeface="Nimbus Sans"/>
                <a:cs typeface="Nimbus Sans"/>
              </a:defRPr>
            </a:defPPr>
            <a:lvl1pPr>
              <a:buNone/>
              <a:defRPr sz="1350" b="0">
                <a:solidFill>
                  <a:srgbClr val="52677A"/>
                </a:solidFill>
                <a:latin typeface="Nimbus Sans"/>
                <a:ea typeface="Nimbus Sans"/>
                <a:cs typeface="Nimbus Sans"/>
              </a:defRPr>
            </a:lvl1pPr>
            <a:lvl2pPr>
              <a:buNone/>
              <a:defRPr sz="1350" b="0">
                <a:solidFill>
                  <a:srgbClr val="52677A"/>
                </a:solidFill>
                <a:latin typeface="Nimbus Sans"/>
                <a:ea typeface="Nimbus Sans"/>
                <a:cs typeface="Nimbus Sans"/>
              </a:defRPr>
            </a:lvl2pPr>
            <a:lvl3pPr>
              <a:buNone/>
              <a:defRPr sz="1350" b="0">
                <a:solidFill>
                  <a:srgbClr val="52677A"/>
                </a:solidFill>
                <a:latin typeface="Nimbus Sans"/>
                <a:ea typeface="Nimbus Sans"/>
                <a:cs typeface="Nimbus Sans"/>
              </a:defRPr>
            </a:lvl3pPr>
            <a:lvl4pPr>
              <a:buNone/>
              <a:defRPr sz="1350" b="0">
                <a:solidFill>
                  <a:srgbClr val="52677A"/>
                </a:solidFill>
                <a:latin typeface="Nimbus Sans"/>
                <a:ea typeface="Nimbus Sans"/>
                <a:cs typeface="Nimbus Sans"/>
              </a:defRPr>
            </a:lvl4pPr>
            <a:lvl5pPr>
              <a:buNone/>
              <a:defRPr sz="1350" b="0">
                <a:solidFill>
                  <a:srgbClr val="52677A"/>
                </a:solidFill>
                <a:latin typeface="Nimbus Sans"/>
                <a:ea typeface="Nimbus Sans"/>
                <a:cs typeface="Nimbus Sans"/>
              </a:defRPr>
            </a:lvl5pPr>
            <a:lvl6pPr>
              <a:buNone/>
              <a:defRPr sz="1350" b="0">
                <a:solidFill>
                  <a:srgbClr val="52677A"/>
                </a:solidFill>
                <a:latin typeface="Nimbus Sans"/>
                <a:ea typeface="Nimbus Sans"/>
                <a:cs typeface="Nimbus Sans"/>
              </a:defRPr>
            </a:lvl6pPr>
            <a:lvl7pPr>
              <a:buNone/>
              <a:defRPr sz="1350" b="0">
                <a:solidFill>
                  <a:srgbClr val="52677A"/>
                </a:solidFill>
                <a:latin typeface="Nimbus Sans"/>
                <a:ea typeface="Nimbus Sans"/>
                <a:cs typeface="Nimbus Sans"/>
              </a:defRPr>
            </a:lvl7pPr>
            <a:lvl8pPr>
              <a:buNone/>
              <a:defRPr sz="1350" b="0">
                <a:solidFill>
                  <a:srgbClr val="52677A"/>
                </a:solidFill>
                <a:latin typeface="Nimbus Sans"/>
                <a:ea typeface="Nimbus Sans"/>
                <a:cs typeface="Nimbus Sans"/>
              </a:defRPr>
            </a:lvl8pPr>
            <a:lvl9pPr>
              <a:buNone/>
              <a:defRPr sz="1350" b="0">
                <a:solidFill>
                  <a:srgbClr val="52677A"/>
                </a:solidFill>
                <a:latin typeface="Nimbus Sans"/>
                <a:ea typeface="Nimbus Sans"/>
                <a:cs typeface="Nimbus Sans"/>
              </a:defRPr>
            </a:lvl9pPr>
          </a:lstStyle>
          <a:p xmlns:a="http://schemas.openxmlformats.org/drawingml/2006/main">
            <a:pPr>
              <a:buNone/>
              <a:defRPr sz="1350" b="0">
                <a:solidFill>
                  <a:srgbClr val="52677A"/>
                </a:solidFill>
                <a:latin typeface="Nimbus Sans"/>
                <a:ea typeface="Nimbus Sans"/>
                <a:cs typeface="Nimbus Sans"/>
              </a:defRPr>
            </a:pPr>
            <a:r>
              <a:rPr sz="1350" b="0">
                <a:solidFill>
                  <a:srgbClr val="52677A"/>
                </a:solidFill>
                <a:latin typeface="Nimbus Sans"/>
                <a:ea typeface="Nimbus Sans"/>
                <a:cs typeface="Nimbus Sans"/>
              </a:rPr>
              <a:t>Adoption and execution</a:t>
            </a:r>
          </a:p>
        </p:txBody>
      </p:sp>
      <p:sp>
        <p:nvSpPr>
          <p:cNvPr id="32" name="text-31">
            <a:extLst xmlns:a="http://schemas.openxmlformats.org/drawingml/2006/main">
              <a:ext uri="{FF2B5EF4-FFF2-40B4-BE49-F238E27FC236}">
                <a16:creationId xmlns:a16="http://schemas.microsoft.com/office/drawing/2014/main" id="{9613083C-152C-439F-8898-EFD4A75FB7EA}"/>
              </a:ext>
            </a:extLst>
          </p:cNvPr>
          <p:cNvSpPr>
            <a:spLocks xmlns:a="http://schemas.openxmlformats.org/drawingml/2006/main" noGrp="1"/>
          </p:cNvSpPr>
          <p:nvPr/>
        </p:nvSpPr>
        <p:spPr>
          <a:xfrm xmlns:a="http://schemas.openxmlformats.org/drawingml/2006/main">
            <a:off x="7143750" y="6105525"/>
            <a:ext cx="7524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82C40"/>
                </a:solidFill>
                <a:latin typeface="Nimbus Sans"/>
                <a:ea typeface="Nimbus Sans"/>
                <a:cs typeface="Nimbus Sans"/>
              </a:defRPr>
            </a:defPPr>
            <a:lvl1pPr>
              <a:buNone/>
              <a:defRPr sz="1875" b="0">
                <a:solidFill>
                  <a:srgbClr val="182C40"/>
                </a:solidFill>
                <a:latin typeface="Nimbus Sans"/>
                <a:ea typeface="Nimbus Sans"/>
                <a:cs typeface="Nimbus Sans"/>
              </a:defRPr>
            </a:lvl1pPr>
            <a:lvl2pPr>
              <a:buNone/>
              <a:defRPr sz="1875" b="0">
                <a:solidFill>
                  <a:srgbClr val="182C40"/>
                </a:solidFill>
                <a:latin typeface="Nimbus Sans"/>
                <a:ea typeface="Nimbus Sans"/>
                <a:cs typeface="Nimbus Sans"/>
              </a:defRPr>
            </a:lvl2pPr>
            <a:lvl3pPr>
              <a:buNone/>
              <a:defRPr sz="1875" b="0">
                <a:solidFill>
                  <a:srgbClr val="182C40"/>
                </a:solidFill>
                <a:latin typeface="Nimbus Sans"/>
                <a:ea typeface="Nimbus Sans"/>
                <a:cs typeface="Nimbus Sans"/>
              </a:defRPr>
            </a:lvl3pPr>
            <a:lvl4pPr>
              <a:buNone/>
              <a:defRPr sz="1875" b="0">
                <a:solidFill>
                  <a:srgbClr val="182C40"/>
                </a:solidFill>
                <a:latin typeface="Nimbus Sans"/>
                <a:ea typeface="Nimbus Sans"/>
                <a:cs typeface="Nimbus Sans"/>
              </a:defRPr>
            </a:lvl4pPr>
            <a:lvl5pPr>
              <a:buNone/>
              <a:defRPr sz="1875" b="0">
                <a:solidFill>
                  <a:srgbClr val="182C40"/>
                </a:solidFill>
                <a:latin typeface="Nimbus Sans"/>
                <a:ea typeface="Nimbus Sans"/>
                <a:cs typeface="Nimbus Sans"/>
              </a:defRPr>
            </a:lvl5pPr>
            <a:lvl6pPr>
              <a:buNone/>
              <a:defRPr sz="1875" b="0">
                <a:solidFill>
                  <a:srgbClr val="182C40"/>
                </a:solidFill>
                <a:latin typeface="Nimbus Sans"/>
                <a:ea typeface="Nimbus Sans"/>
                <a:cs typeface="Nimbus Sans"/>
              </a:defRPr>
            </a:lvl6pPr>
            <a:lvl7pPr>
              <a:buNone/>
              <a:defRPr sz="1875" b="0">
                <a:solidFill>
                  <a:srgbClr val="182C40"/>
                </a:solidFill>
                <a:latin typeface="Nimbus Sans"/>
                <a:ea typeface="Nimbus Sans"/>
                <a:cs typeface="Nimbus Sans"/>
              </a:defRPr>
            </a:lvl7pPr>
            <a:lvl8pPr>
              <a:buNone/>
              <a:defRPr sz="1875" b="0">
                <a:solidFill>
                  <a:srgbClr val="182C40"/>
                </a:solidFill>
                <a:latin typeface="Nimbus Sans"/>
                <a:ea typeface="Nimbus Sans"/>
                <a:cs typeface="Nimbus Sans"/>
              </a:defRPr>
            </a:lvl8pPr>
            <a:lvl9pPr>
              <a:buNone/>
              <a:defRPr sz="1875" b="0">
                <a:solidFill>
                  <a:srgbClr val="182C40"/>
                </a:solidFill>
                <a:latin typeface="Nimbus Sans"/>
                <a:ea typeface="Nimbus Sans"/>
                <a:cs typeface="Nimbus Sans"/>
              </a:defRPr>
            </a:lvl9pPr>
          </a:lstStyle>
          <a:p xmlns:a="http://schemas.openxmlformats.org/drawingml/2006/main">
            <a:pPr>
              <a:buNone/>
              <a:defRPr sz="1875" b="0">
                <a:solidFill>
                  <a:srgbClr val="182C40"/>
                </a:solidFill>
                <a:latin typeface="Nimbus Sans"/>
                <a:ea typeface="Nimbus Sans"/>
                <a:cs typeface="Nimbus Sans"/>
              </a:defRPr>
            </a:pPr>
            <a:r>
              <a:rPr sz="1875" b="0">
                <a:solidFill>
                  <a:srgbClr val="182C40"/>
                </a:solidFill>
                <a:latin typeface="Nimbus Sans"/>
                <a:ea typeface="Nimbus Sans"/>
                <a:cs typeface="Nimbus Sans"/>
              </a:rPr>
              <a:t>Adoption and readiness</a:t>
            </a:r>
          </a:p>
        </p:txBody>
      </p:sp>
      <p:sp>
        <p:nvSpPr>
          <p:cNvPr id="34" name="text-33">
            <a:extLst xmlns:a="http://schemas.openxmlformats.org/drawingml/2006/main">
              <a:ext uri="{FF2B5EF4-FFF2-40B4-BE49-F238E27FC236}">
                <a16:creationId xmlns:a16="http://schemas.microsoft.com/office/drawing/2014/main" id="{AC6E8158-DAAA-466B-8DD0-46A10AAC7239}"/>
              </a:ext>
            </a:extLst>
          </p:cNvPr>
          <p:cNvSpPr>
            <a:spLocks xmlns:a="http://schemas.openxmlformats.org/drawingml/2006/main" noGrp="1"/>
          </p:cNvSpPr>
          <p:nvPr/>
        </p:nvSpPr>
        <p:spPr>
          <a:xfrm xmlns:a="http://schemas.openxmlformats.org/drawingml/2006/main">
            <a:off x="7143750" y="6572250"/>
            <a:ext cx="7524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82C40"/>
                </a:solidFill>
                <a:latin typeface="Nimbus Sans"/>
                <a:ea typeface="Nimbus Sans"/>
                <a:cs typeface="Nimbus Sans"/>
              </a:defRPr>
            </a:defPPr>
            <a:lvl1pPr>
              <a:buNone/>
              <a:defRPr sz="1875" b="0">
                <a:solidFill>
                  <a:srgbClr val="182C40"/>
                </a:solidFill>
                <a:latin typeface="Nimbus Sans"/>
                <a:ea typeface="Nimbus Sans"/>
                <a:cs typeface="Nimbus Sans"/>
              </a:defRPr>
            </a:lvl1pPr>
            <a:lvl2pPr>
              <a:buNone/>
              <a:defRPr sz="1875" b="0">
                <a:solidFill>
                  <a:srgbClr val="182C40"/>
                </a:solidFill>
                <a:latin typeface="Nimbus Sans"/>
                <a:ea typeface="Nimbus Sans"/>
                <a:cs typeface="Nimbus Sans"/>
              </a:defRPr>
            </a:lvl2pPr>
            <a:lvl3pPr>
              <a:buNone/>
              <a:defRPr sz="1875" b="0">
                <a:solidFill>
                  <a:srgbClr val="182C40"/>
                </a:solidFill>
                <a:latin typeface="Nimbus Sans"/>
                <a:ea typeface="Nimbus Sans"/>
                <a:cs typeface="Nimbus Sans"/>
              </a:defRPr>
            </a:lvl3pPr>
            <a:lvl4pPr>
              <a:buNone/>
              <a:defRPr sz="1875" b="0">
                <a:solidFill>
                  <a:srgbClr val="182C40"/>
                </a:solidFill>
                <a:latin typeface="Nimbus Sans"/>
                <a:ea typeface="Nimbus Sans"/>
                <a:cs typeface="Nimbus Sans"/>
              </a:defRPr>
            </a:lvl4pPr>
            <a:lvl5pPr>
              <a:buNone/>
              <a:defRPr sz="1875" b="0">
                <a:solidFill>
                  <a:srgbClr val="182C40"/>
                </a:solidFill>
                <a:latin typeface="Nimbus Sans"/>
                <a:ea typeface="Nimbus Sans"/>
                <a:cs typeface="Nimbus Sans"/>
              </a:defRPr>
            </a:lvl5pPr>
            <a:lvl6pPr>
              <a:buNone/>
              <a:defRPr sz="1875" b="0">
                <a:solidFill>
                  <a:srgbClr val="182C40"/>
                </a:solidFill>
                <a:latin typeface="Nimbus Sans"/>
                <a:ea typeface="Nimbus Sans"/>
                <a:cs typeface="Nimbus Sans"/>
              </a:defRPr>
            </a:lvl6pPr>
            <a:lvl7pPr>
              <a:buNone/>
              <a:defRPr sz="1875" b="0">
                <a:solidFill>
                  <a:srgbClr val="182C40"/>
                </a:solidFill>
                <a:latin typeface="Nimbus Sans"/>
                <a:ea typeface="Nimbus Sans"/>
                <a:cs typeface="Nimbus Sans"/>
              </a:defRPr>
            </a:lvl7pPr>
            <a:lvl8pPr>
              <a:buNone/>
              <a:defRPr sz="1875" b="0">
                <a:solidFill>
                  <a:srgbClr val="182C40"/>
                </a:solidFill>
                <a:latin typeface="Nimbus Sans"/>
                <a:ea typeface="Nimbus Sans"/>
                <a:cs typeface="Nimbus Sans"/>
              </a:defRPr>
            </a:lvl8pPr>
            <a:lvl9pPr>
              <a:buNone/>
              <a:defRPr sz="1875" b="0">
                <a:solidFill>
                  <a:srgbClr val="182C40"/>
                </a:solidFill>
                <a:latin typeface="Nimbus Sans"/>
                <a:ea typeface="Nimbus Sans"/>
                <a:cs typeface="Nimbus Sans"/>
              </a:defRPr>
            </a:lvl9pPr>
          </a:lstStyle>
          <a:p xmlns:a="http://schemas.openxmlformats.org/drawingml/2006/main">
            <a:pPr>
              <a:buNone/>
              <a:defRPr sz="1875" b="0">
                <a:solidFill>
                  <a:srgbClr val="182C40"/>
                </a:solidFill>
                <a:latin typeface="Nimbus Sans"/>
                <a:ea typeface="Nimbus Sans"/>
                <a:cs typeface="Nimbus Sans"/>
              </a:defRPr>
            </a:pPr>
            <a:r>
              <a:rPr sz="1875" b="0">
                <a:solidFill>
                  <a:srgbClr val="182C40"/>
                </a:solidFill>
                <a:latin typeface="Nimbus Sans"/>
                <a:ea typeface="Nimbus Sans"/>
                <a:cs typeface="Nimbus Sans"/>
              </a:rPr>
              <a:t>Channel and pilot evidence</a:t>
            </a:r>
          </a:p>
        </p:txBody>
      </p:sp>
      <p:sp>
        <p:nvSpPr>
          <p:cNvPr id="36" name="text-35">
            <a:extLst xmlns:a="http://schemas.openxmlformats.org/drawingml/2006/main">
              <a:ext uri="{FF2B5EF4-FFF2-40B4-BE49-F238E27FC236}">
                <a16:creationId xmlns:a16="http://schemas.microsoft.com/office/drawing/2014/main" id="{64A4307B-7ADF-47C3-811F-08C9C0F79A52}"/>
              </a:ext>
            </a:extLst>
          </p:cNvPr>
          <p:cNvSpPr>
            <a:spLocks xmlns:a="http://schemas.openxmlformats.org/drawingml/2006/main" noGrp="1"/>
          </p:cNvSpPr>
          <p:nvPr/>
        </p:nvSpPr>
        <p:spPr>
          <a:xfrm xmlns:a="http://schemas.openxmlformats.org/drawingml/2006/main">
            <a:off x="571500" y="7400925"/>
            <a:ext cx="1409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52677A"/>
                </a:solidFill>
                <a:latin typeface="Nimbus Sans"/>
                <a:ea typeface="Nimbus Sans"/>
                <a:cs typeface="Nimbus Sans"/>
              </a:defRPr>
            </a:defPPr>
            <a:lvl1pPr>
              <a:buNone/>
              <a:defRPr sz="1500" b="0">
                <a:solidFill>
                  <a:srgbClr val="52677A"/>
                </a:solidFill>
                <a:latin typeface="Nimbus Sans"/>
                <a:ea typeface="Nimbus Sans"/>
                <a:cs typeface="Nimbus Sans"/>
              </a:defRPr>
            </a:lvl1pPr>
            <a:lvl2pPr>
              <a:buNone/>
              <a:defRPr sz="1500" b="0">
                <a:solidFill>
                  <a:srgbClr val="52677A"/>
                </a:solidFill>
                <a:latin typeface="Nimbus Sans"/>
                <a:ea typeface="Nimbus Sans"/>
                <a:cs typeface="Nimbus Sans"/>
              </a:defRPr>
            </a:lvl2pPr>
            <a:lvl3pPr>
              <a:buNone/>
              <a:defRPr sz="1500" b="0">
                <a:solidFill>
                  <a:srgbClr val="52677A"/>
                </a:solidFill>
                <a:latin typeface="Nimbus Sans"/>
                <a:ea typeface="Nimbus Sans"/>
                <a:cs typeface="Nimbus Sans"/>
              </a:defRPr>
            </a:lvl3pPr>
            <a:lvl4pPr>
              <a:buNone/>
              <a:defRPr sz="1500" b="0">
                <a:solidFill>
                  <a:srgbClr val="52677A"/>
                </a:solidFill>
                <a:latin typeface="Nimbus Sans"/>
                <a:ea typeface="Nimbus Sans"/>
                <a:cs typeface="Nimbus Sans"/>
              </a:defRPr>
            </a:lvl4pPr>
            <a:lvl5pPr>
              <a:buNone/>
              <a:defRPr sz="1500" b="0">
                <a:solidFill>
                  <a:srgbClr val="52677A"/>
                </a:solidFill>
                <a:latin typeface="Nimbus Sans"/>
                <a:ea typeface="Nimbus Sans"/>
                <a:cs typeface="Nimbus Sans"/>
              </a:defRPr>
            </a:lvl5pPr>
            <a:lvl6pPr>
              <a:buNone/>
              <a:defRPr sz="1500" b="0">
                <a:solidFill>
                  <a:srgbClr val="52677A"/>
                </a:solidFill>
                <a:latin typeface="Nimbus Sans"/>
                <a:ea typeface="Nimbus Sans"/>
                <a:cs typeface="Nimbus Sans"/>
              </a:defRPr>
            </a:lvl6pPr>
            <a:lvl7pPr>
              <a:buNone/>
              <a:defRPr sz="1500" b="0">
                <a:solidFill>
                  <a:srgbClr val="52677A"/>
                </a:solidFill>
                <a:latin typeface="Nimbus Sans"/>
                <a:ea typeface="Nimbus Sans"/>
                <a:cs typeface="Nimbus Sans"/>
              </a:defRPr>
            </a:lvl7pPr>
            <a:lvl8pPr>
              <a:buNone/>
              <a:defRPr sz="1500" b="0">
                <a:solidFill>
                  <a:srgbClr val="52677A"/>
                </a:solidFill>
                <a:latin typeface="Nimbus Sans"/>
                <a:ea typeface="Nimbus Sans"/>
                <a:cs typeface="Nimbus Sans"/>
              </a:defRPr>
            </a:lvl8pPr>
            <a:lvl9pPr>
              <a:buNone/>
              <a:defRPr sz="1500" b="0">
                <a:solidFill>
                  <a:srgbClr val="52677A"/>
                </a:solidFill>
                <a:latin typeface="Nimbus Sans"/>
                <a:ea typeface="Nimbus Sans"/>
                <a:cs typeface="Nimbus Sans"/>
              </a:defRPr>
            </a:lvl9pPr>
          </a:lstStyle>
          <a:p xmlns:a="http://schemas.openxmlformats.org/drawingml/2006/main">
            <a:pPr>
              <a:buNone/>
              <a:defRPr sz="1500" b="0">
                <a:solidFill>
                  <a:srgbClr val="52677A"/>
                </a:solidFill>
                <a:latin typeface="Nimbus Sans"/>
                <a:ea typeface="Nimbus Sans"/>
                <a:cs typeface="Nimbus Sans"/>
              </a:defRPr>
            </a:pPr>
            <a:r>
              <a:rPr sz="1500" b="0">
                <a:solidFill>
                  <a:srgbClr val="52677A"/>
                </a:solidFill>
                <a:latin typeface="Nimbus Sans"/>
                <a:ea typeface="Nimbus Sans"/>
                <a:cs typeface="Nimbus Sans"/>
              </a:rPr>
              <a:t>Boundary rule: Market owns demand estimates. Competition owns external comparisons. Economics owns value and price viability. GTM owns adoption and execution.</a:t>
            </a:r>
          </a:p>
        </p:txBody>
      </p:sp>
    </p:spTree>
    <p:extLst>
      <p:ext uri="{BB962C8B-B14F-4D97-AF65-F5344CB8AC3E}">
        <p14:creationId xmlns:p14="http://schemas.microsoft.com/office/powerpoint/2010/main" val="139344880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CD8CC942-9223-40AB-933A-15663838C179}"/>
              </a:ext>
            </a:extLst>
          </p:cNvPr>
          <p:cNvSpPr>
            <a:spLocks xmlns:a="http://schemas.openxmlformats.org/drawingml/2006/main" noGrp="1"/>
          </p:cNvSpPr>
          <p:nvPr/>
        </p:nvSpPr>
        <p:spPr>
          <a:xfrm xmlns:a="http://schemas.openxmlformats.org/drawingml/2006/main">
            <a:off x="571500" y="361950"/>
            <a:ext cx="1409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73B5E"/>
                </a:solidFill>
                <a:latin typeface="Nimbus Sans"/>
                <a:ea typeface="Nimbus Sans"/>
                <a:cs typeface="Nimbus Sans"/>
              </a:defRPr>
            </a:defPPr>
            <a:lvl1pPr>
              <a:buNone/>
              <a:defRPr sz="3225" b="1">
                <a:solidFill>
                  <a:srgbClr val="173B5E"/>
                </a:solidFill>
                <a:latin typeface="Nimbus Sans"/>
                <a:ea typeface="Nimbus Sans"/>
                <a:cs typeface="Nimbus Sans"/>
              </a:defRPr>
            </a:lvl1pPr>
            <a:lvl2pPr>
              <a:buNone/>
              <a:defRPr sz="3225" b="1">
                <a:solidFill>
                  <a:srgbClr val="173B5E"/>
                </a:solidFill>
                <a:latin typeface="Nimbus Sans"/>
                <a:ea typeface="Nimbus Sans"/>
                <a:cs typeface="Nimbus Sans"/>
              </a:defRPr>
            </a:lvl2pPr>
            <a:lvl3pPr>
              <a:buNone/>
              <a:defRPr sz="3225" b="1">
                <a:solidFill>
                  <a:srgbClr val="173B5E"/>
                </a:solidFill>
                <a:latin typeface="Nimbus Sans"/>
                <a:ea typeface="Nimbus Sans"/>
                <a:cs typeface="Nimbus Sans"/>
              </a:defRPr>
            </a:lvl3pPr>
            <a:lvl4pPr>
              <a:buNone/>
              <a:defRPr sz="3225" b="1">
                <a:solidFill>
                  <a:srgbClr val="173B5E"/>
                </a:solidFill>
                <a:latin typeface="Nimbus Sans"/>
                <a:ea typeface="Nimbus Sans"/>
                <a:cs typeface="Nimbus Sans"/>
              </a:defRPr>
            </a:lvl4pPr>
            <a:lvl5pPr>
              <a:buNone/>
              <a:defRPr sz="3225" b="1">
                <a:solidFill>
                  <a:srgbClr val="173B5E"/>
                </a:solidFill>
                <a:latin typeface="Nimbus Sans"/>
                <a:ea typeface="Nimbus Sans"/>
                <a:cs typeface="Nimbus Sans"/>
              </a:defRPr>
            </a:lvl5pPr>
            <a:lvl6pPr>
              <a:buNone/>
              <a:defRPr sz="3225" b="1">
                <a:solidFill>
                  <a:srgbClr val="173B5E"/>
                </a:solidFill>
                <a:latin typeface="Nimbus Sans"/>
                <a:ea typeface="Nimbus Sans"/>
                <a:cs typeface="Nimbus Sans"/>
              </a:defRPr>
            </a:lvl6pPr>
            <a:lvl7pPr>
              <a:buNone/>
              <a:defRPr sz="3225" b="1">
                <a:solidFill>
                  <a:srgbClr val="173B5E"/>
                </a:solidFill>
                <a:latin typeface="Nimbus Sans"/>
                <a:ea typeface="Nimbus Sans"/>
                <a:cs typeface="Nimbus Sans"/>
              </a:defRPr>
            </a:lvl7pPr>
            <a:lvl8pPr>
              <a:buNone/>
              <a:defRPr sz="3225" b="1">
                <a:solidFill>
                  <a:srgbClr val="173B5E"/>
                </a:solidFill>
                <a:latin typeface="Nimbus Sans"/>
                <a:ea typeface="Nimbus Sans"/>
                <a:cs typeface="Nimbus Sans"/>
              </a:defRPr>
            </a:lvl8pPr>
            <a:lvl9pPr>
              <a:buNone/>
              <a:defRPr sz="3225" b="1">
                <a:solidFill>
                  <a:srgbClr val="173B5E"/>
                </a:solidFill>
                <a:latin typeface="Nimbus Sans"/>
                <a:ea typeface="Nimbus Sans"/>
                <a:cs typeface="Nimbus Sans"/>
              </a:defRPr>
            </a:lvl9pPr>
          </a:lstStyle>
          <a:p xmlns:a="http://schemas.openxmlformats.org/drawingml/2006/main">
            <a:pPr>
              <a:buNone/>
              <a:defRPr sz="3225" b="1">
                <a:solidFill>
                  <a:srgbClr val="173B5E"/>
                </a:solidFill>
                <a:latin typeface="Nimbus Sans"/>
                <a:ea typeface="Nimbus Sans"/>
                <a:cs typeface="Nimbus Sans"/>
              </a:defRPr>
            </a:pPr>
            <a:r>
              <a:rPr sz="3225" b="1">
                <a:solidFill>
                  <a:srgbClr val="173B5E"/>
                </a:solidFill>
                <a:latin typeface="Nimbus Sans"/>
                <a:ea typeface="Nimbus Sans"/>
                <a:cs typeface="Nimbus Sans"/>
              </a:rPr>
              <a:t>Market and competition analysis plan</a:t>
            </a:r>
          </a:p>
        </p:txBody>
      </p:sp>
      <p:sp>
        <p:nvSpPr>
          <p:cNvPr id="2" name="text-1">
            <a:extLst xmlns:a="http://schemas.openxmlformats.org/drawingml/2006/main">
              <a:ext uri="{FF2B5EF4-FFF2-40B4-BE49-F238E27FC236}">
                <a16:creationId xmlns:a16="http://schemas.microsoft.com/office/drawing/2014/main" id="{6D41EA43-240E-4FE9-AC5A-143EEEC8DE29}"/>
              </a:ext>
            </a:extLst>
          </p:cNvPr>
          <p:cNvSpPr>
            <a:spLocks xmlns:a="http://schemas.openxmlformats.org/drawingml/2006/main" noGrp="1"/>
          </p:cNvSpPr>
          <p:nvPr/>
        </p:nvSpPr>
        <p:spPr>
          <a:xfrm xmlns:a="http://schemas.openxmlformats.org/drawingml/2006/main">
            <a:off x="571500" y="971550"/>
            <a:ext cx="1409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2677A"/>
                </a:solidFill>
                <a:latin typeface="Nimbus Sans"/>
                <a:ea typeface="Nimbus Sans"/>
                <a:cs typeface="Nimbus Sans"/>
              </a:defRPr>
            </a:defPPr>
            <a:lvl1pPr>
              <a:buNone/>
              <a:defRPr sz="1725" b="0">
                <a:solidFill>
                  <a:srgbClr val="52677A"/>
                </a:solidFill>
                <a:latin typeface="Nimbus Sans"/>
                <a:ea typeface="Nimbus Sans"/>
                <a:cs typeface="Nimbus Sans"/>
              </a:defRPr>
            </a:lvl1pPr>
            <a:lvl2pPr>
              <a:buNone/>
              <a:defRPr sz="1725" b="0">
                <a:solidFill>
                  <a:srgbClr val="52677A"/>
                </a:solidFill>
                <a:latin typeface="Nimbus Sans"/>
                <a:ea typeface="Nimbus Sans"/>
                <a:cs typeface="Nimbus Sans"/>
              </a:defRPr>
            </a:lvl2pPr>
            <a:lvl3pPr>
              <a:buNone/>
              <a:defRPr sz="1725" b="0">
                <a:solidFill>
                  <a:srgbClr val="52677A"/>
                </a:solidFill>
                <a:latin typeface="Nimbus Sans"/>
                <a:ea typeface="Nimbus Sans"/>
                <a:cs typeface="Nimbus Sans"/>
              </a:defRPr>
            </a:lvl3pPr>
            <a:lvl4pPr>
              <a:buNone/>
              <a:defRPr sz="1725" b="0">
                <a:solidFill>
                  <a:srgbClr val="52677A"/>
                </a:solidFill>
                <a:latin typeface="Nimbus Sans"/>
                <a:ea typeface="Nimbus Sans"/>
                <a:cs typeface="Nimbus Sans"/>
              </a:defRPr>
            </a:lvl4pPr>
            <a:lvl5pPr>
              <a:buNone/>
              <a:defRPr sz="1725" b="0">
                <a:solidFill>
                  <a:srgbClr val="52677A"/>
                </a:solidFill>
                <a:latin typeface="Nimbus Sans"/>
                <a:ea typeface="Nimbus Sans"/>
                <a:cs typeface="Nimbus Sans"/>
              </a:defRPr>
            </a:lvl5pPr>
            <a:lvl6pPr>
              <a:buNone/>
              <a:defRPr sz="1725" b="0">
                <a:solidFill>
                  <a:srgbClr val="52677A"/>
                </a:solidFill>
                <a:latin typeface="Nimbus Sans"/>
                <a:ea typeface="Nimbus Sans"/>
                <a:cs typeface="Nimbus Sans"/>
              </a:defRPr>
            </a:lvl6pPr>
            <a:lvl7pPr>
              <a:buNone/>
              <a:defRPr sz="1725" b="0">
                <a:solidFill>
                  <a:srgbClr val="52677A"/>
                </a:solidFill>
                <a:latin typeface="Nimbus Sans"/>
                <a:ea typeface="Nimbus Sans"/>
                <a:cs typeface="Nimbus Sans"/>
              </a:defRPr>
            </a:lvl7pPr>
            <a:lvl8pPr>
              <a:buNone/>
              <a:defRPr sz="1725" b="0">
                <a:solidFill>
                  <a:srgbClr val="52677A"/>
                </a:solidFill>
                <a:latin typeface="Nimbus Sans"/>
                <a:ea typeface="Nimbus Sans"/>
                <a:cs typeface="Nimbus Sans"/>
              </a:defRPr>
            </a:lvl8pPr>
            <a:lvl9pPr>
              <a:buNone/>
              <a:defRPr sz="1725" b="0">
                <a:solidFill>
                  <a:srgbClr val="52677A"/>
                </a:solidFill>
                <a:latin typeface="Nimbus Sans"/>
                <a:ea typeface="Nimbus Sans"/>
                <a:cs typeface="Nimbus Sans"/>
              </a:defRPr>
            </a:lvl9pPr>
          </a:lstStyle>
          <a:p xmlns:a="http://schemas.openxmlformats.org/drawingml/2006/main">
            <a:pPr>
              <a:buNone/>
              <a:defRPr sz="1725" b="0">
                <a:solidFill>
                  <a:srgbClr val="52677A"/>
                </a:solidFill>
                <a:latin typeface="Nimbus Sans"/>
                <a:ea typeface="Nimbus Sans"/>
                <a:cs typeface="Nimbus Sans"/>
              </a:defRPr>
            </a:pPr>
            <a:r>
              <a:rPr sz="1725" b="0">
                <a:solidFill>
                  <a:srgbClr val="52677A"/>
                </a:solidFill>
                <a:latin typeface="Nimbus Sans"/>
                <a:ea typeface="Nimbus Sans"/>
                <a:cs typeface="Nimbus Sans"/>
              </a:rPr>
              <a:t>Initial hypotheses guide the tests. The expected week marks the planned answer, subject to evidence availability.</a:t>
            </a:r>
          </a:p>
        </p:txBody>
      </p:sp>
      <p:cxnSp>
        <p:nvCxnSpPr>
          <p:cNvPr id="3" name="">
            <a:extLst xmlns:a="http://schemas.openxmlformats.org/drawingml/2006/main">
              <a:ext uri="{FF2B5EF4-FFF2-40B4-BE49-F238E27FC236}">
                <a16:creationId xmlns:a16="http://schemas.microsoft.com/office/drawing/2014/main" id="{BABE2A98-4510-49D7-98F1-8A76AB47CE8B}"/>
              </a:ext>
            </a:extLst>
          </p:cNvPr>
          <p:cNvCxnSpPr/>
          <p:nvPr/>
        </p:nvCxnSpPr>
        <p:spPr>
          <a:xfrm xmlns:a="http://schemas.openxmlformats.org/drawingml/2006/main">
            <a:off x="571500" y="8001000"/>
            <a:ext cx="14097000" cy="0"/>
          </a:xfrm>
          <a:prstGeom xmlns:a="http://schemas.openxmlformats.org/drawingml/2006/main" prst="bentConnector4">
            <a:avLst/>
          </a:prstGeom>
          <a:ln xmlns:a="http://schemas.openxmlformats.org/drawingml/2006/main" w="9525">
            <a:solidFill>
              <a:srgbClr val="C8D5DF"/>
            </a:solidFill>
            <a:prstDash val="solid"/>
          </a:ln>
        </p:spPr>
      </p:cxnSp>
      <p:sp>
        <p:nvSpPr>
          <p:cNvPr id="4" name="text-3">
            <a:extLst xmlns:a="http://schemas.openxmlformats.org/drawingml/2006/main">
              <a:ext uri="{FF2B5EF4-FFF2-40B4-BE49-F238E27FC236}">
                <a16:creationId xmlns:a16="http://schemas.microsoft.com/office/drawing/2014/main" id="{A65B9ECE-CB01-4B78-99B0-7A22A173751C}"/>
              </a:ext>
            </a:extLst>
          </p:cNvPr>
          <p:cNvSpPr>
            <a:spLocks xmlns:a="http://schemas.openxmlformats.org/drawingml/2006/main" noGrp="1"/>
          </p:cNvSpPr>
          <p:nvPr/>
        </p:nvSpPr>
        <p:spPr>
          <a:xfrm xmlns:a="http://schemas.openxmlformats.org/drawingml/2006/main">
            <a:off x="571500" y="8124825"/>
            <a:ext cx="1257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2677A"/>
                </a:solidFill>
                <a:latin typeface="Nimbus Sans"/>
                <a:ea typeface="Nimbus Sans"/>
                <a:cs typeface="Nimbus Sans"/>
              </a:defRPr>
            </a:defPPr>
            <a:lvl1pPr>
              <a:buNone/>
              <a:defRPr sz="1275" b="0">
                <a:solidFill>
                  <a:srgbClr val="52677A"/>
                </a:solidFill>
                <a:latin typeface="Nimbus Sans"/>
                <a:ea typeface="Nimbus Sans"/>
                <a:cs typeface="Nimbus Sans"/>
              </a:defRPr>
            </a:lvl1pPr>
            <a:lvl2pPr>
              <a:buNone/>
              <a:defRPr sz="1275" b="0">
                <a:solidFill>
                  <a:srgbClr val="52677A"/>
                </a:solidFill>
                <a:latin typeface="Nimbus Sans"/>
                <a:ea typeface="Nimbus Sans"/>
                <a:cs typeface="Nimbus Sans"/>
              </a:defRPr>
            </a:lvl2pPr>
            <a:lvl3pPr>
              <a:buNone/>
              <a:defRPr sz="1275" b="0">
                <a:solidFill>
                  <a:srgbClr val="52677A"/>
                </a:solidFill>
                <a:latin typeface="Nimbus Sans"/>
                <a:ea typeface="Nimbus Sans"/>
                <a:cs typeface="Nimbus Sans"/>
              </a:defRPr>
            </a:lvl3pPr>
            <a:lvl4pPr>
              <a:buNone/>
              <a:defRPr sz="1275" b="0">
                <a:solidFill>
                  <a:srgbClr val="52677A"/>
                </a:solidFill>
                <a:latin typeface="Nimbus Sans"/>
                <a:ea typeface="Nimbus Sans"/>
                <a:cs typeface="Nimbus Sans"/>
              </a:defRPr>
            </a:lvl4pPr>
            <a:lvl5pPr>
              <a:buNone/>
              <a:defRPr sz="1275" b="0">
                <a:solidFill>
                  <a:srgbClr val="52677A"/>
                </a:solidFill>
                <a:latin typeface="Nimbus Sans"/>
                <a:ea typeface="Nimbus Sans"/>
                <a:cs typeface="Nimbus Sans"/>
              </a:defRPr>
            </a:lvl5pPr>
            <a:lvl6pPr>
              <a:buNone/>
              <a:defRPr sz="1275" b="0">
                <a:solidFill>
                  <a:srgbClr val="52677A"/>
                </a:solidFill>
                <a:latin typeface="Nimbus Sans"/>
                <a:ea typeface="Nimbus Sans"/>
                <a:cs typeface="Nimbus Sans"/>
              </a:defRPr>
            </a:lvl6pPr>
            <a:lvl7pPr>
              <a:buNone/>
              <a:defRPr sz="1275" b="0">
                <a:solidFill>
                  <a:srgbClr val="52677A"/>
                </a:solidFill>
                <a:latin typeface="Nimbus Sans"/>
                <a:ea typeface="Nimbus Sans"/>
                <a:cs typeface="Nimbus Sans"/>
              </a:defRPr>
            </a:lvl7pPr>
            <a:lvl8pPr>
              <a:buNone/>
              <a:defRPr sz="1275" b="0">
                <a:solidFill>
                  <a:srgbClr val="52677A"/>
                </a:solidFill>
                <a:latin typeface="Nimbus Sans"/>
                <a:ea typeface="Nimbus Sans"/>
                <a:cs typeface="Nimbus Sans"/>
              </a:defRPr>
            </a:lvl8pPr>
            <a:lvl9pPr>
              <a:buNone/>
              <a:defRPr sz="1275" b="0">
                <a:solidFill>
                  <a:srgbClr val="52677A"/>
                </a:solidFill>
                <a:latin typeface="Nimbus Sans"/>
                <a:ea typeface="Nimbus Sans"/>
                <a:cs typeface="Nimbus Sans"/>
              </a:defRPr>
            </a:lvl9pPr>
          </a:lstStyle>
          <a:p xmlns:a="http://schemas.openxmlformats.org/drawingml/2006/main">
            <a:pPr>
              <a:buNone/>
              <a:defRPr sz="1275" b="0">
                <a:solidFill>
                  <a:srgbClr val="52677A"/>
                </a:solidFill>
                <a:latin typeface="Nimbus Sans"/>
                <a:ea typeface="Nimbus Sans"/>
                <a:cs typeface="Nimbus Sans"/>
              </a:defRPr>
            </a:pPr>
            <a:r>
              <a:rPr sz="1275" b="0">
                <a:solidFill>
                  <a:srgbClr val="52677A"/>
                </a:solidFill>
                <a:latin typeface="Nimbus Sans"/>
                <a:ea typeface="Nimbus Sans"/>
                <a:cs typeface="Nimbus Sans"/>
              </a:rPr>
              <a:t>InGen Dynamics   Week 1   Yufei Li   27 October 2026</a:t>
            </a:r>
          </a:p>
        </p:txBody>
      </p:sp>
      <p:sp>
        <p:nvSpPr>
          <p:cNvPr id="5" name="text-4">
            <a:extLst xmlns:a="http://schemas.openxmlformats.org/drawingml/2006/main">
              <a:ext uri="{FF2B5EF4-FFF2-40B4-BE49-F238E27FC236}">
                <a16:creationId xmlns:a16="http://schemas.microsoft.com/office/drawing/2014/main" id="{3FD1FE42-E290-422C-BAD2-7F7DD0E94F66}"/>
              </a:ext>
            </a:extLst>
          </p:cNvPr>
          <p:cNvSpPr>
            <a:spLocks xmlns:a="http://schemas.openxmlformats.org/drawingml/2006/main" noGrp="1"/>
          </p:cNvSpPr>
          <p:nvPr/>
        </p:nvSpPr>
        <p:spPr>
          <a:xfrm xmlns:a="http://schemas.openxmlformats.org/drawingml/2006/main">
            <a:off x="14097000" y="81057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1">
                <a:solidFill>
                  <a:srgbClr val="173B5E"/>
                </a:solidFill>
                <a:latin typeface="Nimbus Sans"/>
                <a:ea typeface="Nimbus Sans"/>
                <a:cs typeface="Nimbus Sans"/>
              </a:defRPr>
            </a:defPPr>
            <a:lvl1pPr algn="r">
              <a:buNone/>
              <a:defRPr sz="1500" b="1">
                <a:solidFill>
                  <a:srgbClr val="173B5E"/>
                </a:solidFill>
                <a:latin typeface="Nimbus Sans"/>
                <a:ea typeface="Nimbus Sans"/>
                <a:cs typeface="Nimbus Sans"/>
              </a:defRPr>
            </a:lvl1pPr>
            <a:lvl2pPr algn="r">
              <a:buNone/>
              <a:defRPr sz="1500" b="1">
                <a:solidFill>
                  <a:srgbClr val="173B5E"/>
                </a:solidFill>
                <a:latin typeface="Nimbus Sans"/>
                <a:ea typeface="Nimbus Sans"/>
                <a:cs typeface="Nimbus Sans"/>
              </a:defRPr>
            </a:lvl2pPr>
            <a:lvl3pPr algn="r">
              <a:buNone/>
              <a:defRPr sz="1500" b="1">
                <a:solidFill>
                  <a:srgbClr val="173B5E"/>
                </a:solidFill>
                <a:latin typeface="Nimbus Sans"/>
                <a:ea typeface="Nimbus Sans"/>
                <a:cs typeface="Nimbus Sans"/>
              </a:defRPr>
            </a:lvl3pPr>
            <a:lvl4pPr algn="r">
              <a:buNone/>
              <a:defRPr sz="1500" b="1">
                <a:solidFill>
                  <a:srgbClr val="173B5E"/>
                </a:solidFill>
                <a:latin typeface="Nimbus Sans"/>
                <a:ea typeface="Nimbus Sans"/>
                <a:cs typeface="Nimbus Sans"/>
              </a:defRPr>
            </a:lvl4pPr>
            <a:lvl5pPr algn="r">
              <a:buNone/>
              <a:defRPr sz="1500" b="1">
                <a:solidFill>
                  <a:srgbClr val="173B5E"/>
                </a:solidFill>
                <a:latin typeface="Nimbus Sans"/>
                <a:ea typeface="Nimbus Sans"/>
                <a:cs typeface="Nimbus Sans"/>
              </a:defRPr>
            </a:lvl5pPr>
            <a:lvl6pPr algn="r">
              <a:buNone/>
              <a:defRPr sz="1500" b="1">
                <a:solidFill>
                  <a:srgbClr val="173B5E"/>
                </a:solidFill>
                <a:latin typeface="Nimbus Sans"/>
                <a:ea typeface="Nimbus Sans"/>
                <a:cs typeface="Nimbus Sans"/>
              </a:defRPr>
            </a:lvl6pPr>
            <a:lvl7pPr algn="r">
              <a:buNone/>
              <a:defRPr sz="1500" b="1">
                <a:solidFill>
                  <a:srgbClr val="173B5E"/>
                </a:solidFill>
                <a:latin typeface="Nimbus Sans"/>
                <a:ea typeface="Nimbus Sans"/>
                <a:cs typeface="Nimbus Sans"/>
              </a:defRPr>
            </a:lvl7pPr>
            <a:lvl8pPr algn="r">
              <a:buNone/>
              <a:defRPr sz="1500" b="1">
                <a:solidFill>
                  <a:srgbClr val="173B5E"/>
                </a:solidFill>
                <a:latin typeface="Nimbus Sans"/>
                <a:ea typeface="Nimbus Sans"/>
                <a:cs typeface="Nimbus Sans"/>
              </a:defRPr>
            </a:lvl8pPr>
            <a:lvl9pPr algn="r">
              <a:buNone/>
              <a:defRPr sz="1500" b="1">
                <a:solidFill>
                  <a:srgbClr val="173B5E"/>
                </a:solidFill>
                <a:latin typeface="Nimbus Sans"/>
                <a:ea typeface="Nimbus Sans"/>
                <a:cs typeface="Nimbus Sans"/>
              </a:defRPr>
            </a:lvl9pPr>
          </a:lstStyle>
          <a:p xmlns:a="http://schemas.openxmlformats.org/drawingml/2006/main">
            <a:pPr algn="r">
              <a:buNone/>
              <a:defRPr sz="1500" b="1">
                <a:solidFill>
                  <a:srgbClr val="173B5E"/>
                </a:solidFill>
                <a:latin typeface="Nimbus Sans"/>
                <a:ea typeface="Nimbus Sans"/>
                <a:cs typeface="Nimbus Sans"/>
              </a:defRPr>
            </a:pPr>
            <a:r>
              <a:rPr sz="1500" b="1">
                <a:solidFill>
                  <a:srgbClr val="173B5E"/>
                </a:solidFill>
                <a:latin typeface="Nimbus Sans"/>
                <a:ea typeface="Nimbus Sans"/>
                <a:cs typeface="Nimbus Sans"/>
              </a:rPr>
              <a:t>02</a:t>
            </a:r>
          </a:p>
        </p:txBody>
      </p:sp>
      <p:graphicFrame>
        <p:nvGraphicFramePr>
          <p:cNvPr id="6" name="">
            <a:extLst xmlns:a="http://schemas.openxmlformats.org/drawingml/2006/main">
              <a:ext uri="{FF2B5EF4-FFF2-40B4-BE49-F238E27FC236}">
                <a16:creationId xmlns:a16="http://schemas.microsoft.com/office/drawing/2014/main" id="{64986654-F895-46C6-8327-E909C1A53232}"/>
              </a:ext>
            </a:extLst>
          </p:cNvPr>
          <p:cNvGraphicFramePr/>
          <p:nvPr/>
        </p:nvGraphicFramePr>
        <p:xfrm>
          <a:off xmlns:a="http://schemas.openxmlformats.org/drawingml/2006/main" x="571500" y="1371600"/>
          <a:ext xmlns:a="http://schemas.openxmlformats.org/drawingml/2006/main" cx="14097000" cy="6096000"/>
        </p:xfrm>
        <a:graphic xmlns:a="http://schemas.openxmlformats.org/drawingml/2006/main">
          <a:graphicData uri="http://schemas.openxmlformats.org/drawingml/2006/table">
            <a:tbl>
              <a:tblPr firstRow="0" bandRow="0"/>
              <a:tblGrid>
                <a:gridCol w="2286000"/>
                <a:gridCol w="2857500"/>
                <a:gridCol w="4762500"/>
                <a:gridCol w="3048000"/>
                <a:gridCol w="1143000"/>
              </a:tblGrid>
              <a:tr h="495300">
                <a:tc>
                  <a:txBody>
                    <a:bodyPr/>
                    <a:lstStyle/>
                    <a:p>
                      <a:pPr algn="l"/>
                      <a:r>
                        <a:rPr sz="1650" b="1">
                          <a:solidFill>
                            <a:srgbClr val="FFFFFF"/>
                          </a:solidFill>
                          <a:latin typeface="Nimbus Sans"/>
                          <a:ea typeface="Nimbus Sans"/>
                          <a:cs typeface="Nimbus Sans"/>
                        </a:rPr>
                        <a:t>Analysis question</a:t>
                      </a:r>
                    </a:p>
                  </a:txBody>
                  <a:tcPr marL="114300" marR="114300" marT="76200" marB="76200" anchor="t">
                    <a:lnL w="6191">
                      <a:solidFill>
                        <a:srgbClr val="C8D5DF"/>
                      </a:solidFill>
                      <a:prstDash val="solid"/>
                    </a:lnL>
                    <a:lnR w="6191">
                      <a:solidFill>
                        <a:srgbClr val="C8D5DF"/>
                      </a:solidFill>
                      <a:prstDash val="solid"/>
                    </a:lnR>
                    <a:lnT w="6191">
                      <a:solidFill>
                        <a:srgbClr val="C8D5DF"/>
                      </a:solidFill>
                      <a:prstDash val="solid"/>
                    </a:lnT>
                    <a:lnB w="6191">
                      <a:solidFill>
                        <a:srgbClr val="C8D5DF"/>
                      </a:solidFill>
                      <a:prstDash val="solid"/>
                    </a:lnB>
                    <a:solidFill>
                      <a:srgbClr val="173B5E"/>
                    </a:solidFill>
                  </a:tcPr>
                </a:tc>
                <a:tc>
                  <a:txBody>
                    <a:bodyPr/>
                    <a:lstStyle/>
                    <a:p>
                      <a:r>
                        <a:rPr sz="1650" b="1">
                          <a:solidFill>
                            <a:srgbClr val="FFFFFF"/>
                          </a:solidFill>
                          <a:latin typeface="Nimbus Sans"/>
                          <a:ea typeface="Nimbus Sans"/>
                          <a:cs typeface="Nimbus Sans"/>
                        </a:rPr>
                        <a:t>Initial hypothesis</a:t>
                      </a:r>
                    </a:p>
                  </a:txBody>
                  <a:tcPr marL="114300" marR="114300" marT="76200" marB="76200" anchor="t">
                    <a:lnR w="6191">
                      <a:solidFill>
                        <a:srgbClr val="C8D5DF"/>
                      </a:solidFill>
                      <a:prstDash val="solid"/>
                    </a:lnR>
                    <a:lnT w="6191">
                      <a:solidFill>
                        <a:srgbClr val="C8D5DF"/>
                      </a:solidFill>
                      <a:prstDash val="solid"/>
                    </a:lnT>
                    <a:lnB w="6191">
                      <a:solidFill>
                        <a:srgbClr val="C8D5DF"/>
                      </a:solidFill>
                      <a:prstDash val="solid"/>
                    </a:lnB>
                    <a:solidFill>
                      <a:srgbClr val="173B5E"/>
                    </a:solidFill>
                  </a:tcPr>
                </a:tc>
                <a:tc>
                  <a:txBody>
                    <a:bodyPr/>
                    <a:lstStyle/>
                    <a:p>
                      <a:r>
                        <a:rPr sz="1650" b="1">
                          <a:solidFill>
                            <a:srgbClr val="FFFFFF"/>
                          </a:solidFill>
                          <a:latin typeface="Nimbus Sans"/>
                          <a:ea typeface="Nimbus Sans"/>
                          <a:cs typeface="Nimbus Sans"/>
                        </a:rPr>
                        <a:t>Specific analysis</a:t>
                      </a:r>
                    </a:p>
                  </a:txBody>
                  <a:tcPr marL="114300" marR="114300" marT="76200" marB="76200" anchor="t">
                    <a:lnR w="6191">
                      <a:solidFill>
                        <a:srgbClr val="C8D5DF"/>
                      </a:solidFill>
                      <a:prstDash val="solid"/>
                    </a:lnR>
                    <a:lnT w="6191">
                      <a:solidFill>
                        <a:srgbClr val="C8D5DF"/>
                      </a:solidFill>
                      <a:prstDash val="solid"/>
                    </a:lnT>
                    <a:lnB w="6191">
                      <a:solidFill>
                        <a:srgbClr val="C8D5DF"/>
                      </a:solidFill>
                      <a:prstDash val="solid"/>
                    </a:lnB>
                    <a:solidFill>
                      <a:srgbClr val="173B5E"/>
                    </a:solidFill>
                  </a:tcPr>
                </a:tc>
                <a:tc>
                  <a:txBody>
                    <a:bodyPr/>
                    <a:lstStyle/>
                    <a:p>
                      <a:r>
                        <a:rPr sz="1650" b="1">
                          <a:solidFill>
                            <a:srgbClr val="FFFFFF"/>
                          </a:solidFill>
                          <a:latin typeface="Nimbus Sans"/>
                          <a:ea typeface="Nimbus Sans"/>
                          <a:cs typeface="Nimbus Sans"/>
                        </a:rPr>
                        <a:t>Data source / assumption</a:t>
                      </a:r>
                    </a:p>
                  </a:txBody>
                  <a:tcPr marL="114300" marR="114300" marT="76200" marB="76200" anchor="t">
                    <a:lnR w="6191">
                      <a:solidFill>
                        <a:srgbClr val="C8D5DF"/>
                      </a:solidFill>
                      <a:prstDash val="solid"/>
                    </a:lnR>
                    <a:lnT w="6191">
                      <a:solidFill>
                        <a:srgbClr val="C8D5DF"/>
                      </a:solidFill>
                      <a:prstDash val="solid"/>
                    </a:lnT>
                    <a:lnB w="6191">
                      <a:solidFill>
                        <a:srgbClr val="C8D5DF"/>
                      </a:solidFill>
                      <a:prstDash val="solid"/>
                    </a:lnB>
                    <a:solidFill>
                      <a:srgbClr val="173B5E"/>
                    </a:solidFill>
                  </a:tcPr>
                </a:tc>
                <a:tc>
                  <a:txBody>
                    <a:bodyPr/>
                    <a:lstStyle/>
                    <a:p>
                      <a:r>
                        <a:rPr sz="1650" b="1">
                          <a:solidFill>
                            <a:srgbClr val="FFFFFF"/>
                          </a:solidFill>
                          <a:latin typeface="Nimbus Sans"/>
                          <a:ea typeface="Nimbus Sans"/>
                          <a:cs typeface="Nimbus Sans"/>
                        </a:rPr>
                        <a:t>Answer</a:t>
                      </a:r>
                    </a:p>
                  </a:txBody>
                  <a:tcPr marL="114300" marR="114300" marT="76200" marB="76200" anchor="t">
                    <a:lnR w="6191">
                      <a:solidFill>
                        <a:srgbClr val="C8D5DF"/>
                      </a:solidFill>
                      <a:prstDash val="solid"/>
                    </a:lnR>
                    <a:lnT w="6191">
                      <a:solidFill>
                        <a:srgbClr val="C8D5DF"/>
                      </a:solidFill>
                      <a:prstDash val="solid"/>
                    </a:lnT>
                    <a:lnB w="6191">
                      <a:solidFill>
                        <a:srgbClr val="C8D5DF"/>
                      </a:solidFill>
                      <a:prstDash val="solid"/>
                    </a:lnB>
                    <a:solidFill>
                      <a:srgbClr val="173B5E"/>
                    </a:solidFill>
                  </a:tcPr>
                </a:tc>
              </a:tr>
              <a:tr h="1400175">
                <a:tc>
                  <a:txBody>
                    <a:bodyPr/>
                    <a:lstStyle/>
                    <a:p>
                      <a:pPr algn="l"/>
                      <a:r>
                        <a:rPr sz="1725" b="1">
                          <a:solidFill>
                            <a:srgbClr val="173B5E"/>
                          </a:solidFill>
                          <a:latin typeface="Nimbus Sans"/>
                          <a:ea typeface="Nimbus Sans"/>
                          <a:cs typeface="Nimbus Sans"/>
                        </a:rPr>
                        <a:t>US patrol market size</a:t>
                      </a:r>
                    </a:p>
                  </a:txBody>
                  <a:tcPr marL="114300" marR="114300" marT="76200" marB="76200" anchor="t">
                    <a:lnL w="6191">
                      <a:solidFill>
                        <a:srgbClr val="C8D5DF"/>
                      </a:solidFill>
                      <a:prstDash val="solid"/>
                    </a:lnL>
                    <a:lnR w="6191">
                      <a:solidFill>
                        <a:srgbClr val="C8D5DF"/>
                      </a:solidFill>
                      <a:prstDash val="solid"/>
                    </a:lnR>
                    <a:lnB w="6191">
                      <a:solidFill>
                        <a:srgbClr val="C8D5DF"/>
                      </a:solidFill>
                      <a:prstDash val="solid"/>
                    </a:lnB>
                    <a:solidFill>
                      <a:srgbClr val="FFFFFF"/>
                    </a:solidFill>
                  </a:tcPr>
                </a:tc>
                <a:tc>
                  <a:txBody>
                    <a:bodyPr/>
                    <a:lstStyle/>
                    <a:p>
                      <a:r>
                        <a:rPr sz="1575" b="0">
                          <a:solidFill>
                            <a:srgbClr val="182C40"/>
                          </a:solidFill>
                          <a:latin typeface="Nimbus Sans"/>
                          <a:ea typeface="Nimbus Sans"/>
                          <a:cs typeface="Nimbus Sans"/>
                        </a:rPr>
                        <a:t>Only a subset of guard spend covers tasks and sites suitable for autonomous patrol.</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r>
                        <a:rPr sz="1575" b="0">
                          <a:solidFill>
                            <a:srgbClr val="182C40"/>
                          </a:solidFill>
                          <a:latin typeface="Nimbus Sans"/>
                          <a:ea typeface="Nimbus Sans"/>
                          <a:cs typeface="Nimbus Sans"/>
                        </a:rPr>
                        <a:t>Reconcile BLS headcount × loaded cost × patrol share with sites × guard spend × suitable share. Build annual TAM/SAM and sales-capacity-based three-year SOM.</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pPr algn="l"/>
                      <a:r>
                        <a:rPr sz="1575" b="0">
                          <a:solidFill>
                            <a:srgbClr val="182C40"/>
                          </a:solidFill>
                          <a:latin typeface="Nimbus Sans"/>
                          <a:ea typeface="Nimbus Sans"/>
                          <a:cs typeface="Nimbus Sans"/>
                        </a:rPr>
                        <a:t>BLS OEWS; Census CBP</a:t>
                      </a:r>
                    </a:p>
                    <a:p>
                      <a:pPr algn="l"/>
                      <a:r>
                        <a:rPr sz="1575" b="0">
                          <a:solidFill>
                            <a:srgbClr val="182C40"/>
                          </a:solidFill>
                          <a:latin typeface="Nimbus Sans"/>
                          <a:ea typeface="Nimbus Sans"/>
                          <a:cs typeface="Nimbus Sans"/>
                        </a:rPr>
                        <a:t>Site, task and capacity assumptions</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r>
                        <a:rPr sz="1875" b="1">
                          <a:solidFill>
                            <a:srgbClr val="173B5E"/>
                          </a:solidFill>
                          <a:latin typeface="Nimbus Sans"/>
                          <a:ea typeface="Nimbus Sans"/>
                          <a:cs typeface="Nimbus Sans"/>
                        </a:rPr>
                        <a:t>W2</a:t>
                      </a:r>
                    </a:p>
                  </a:txBody>
                  <a:tcPr marL="114300" marR="114300" marT="76200" marB="76200" anchor="t">
                    <a:lnR w="6191">
                      <a:solidFill>
                        <a:srgbClr val="C8D5DF"/>
                      </a:solidFill>
                      <a:prstDash val="solid"/>
                    </a:lnR>
                    <a:lnB w="6191">
                      <a:solidFill>
                        <a:srgbClr val="C8D5DF"/>
                      </a:solidFill>
                      <a:prstDash val="solid"/>
                    </a:lnB>
                    <a:solidFill>
                      <a:srgbClr val="FFFFFF"/>
                    </a:solidFill>
                  </a:tcPr>
                </a:tc>
              </a:tr>
              <a:tr h="1400175">
                <a:tc>
                  <a:txBody>
                    <a:bodyPr/>
                    <a:lstStyle/>
                    <a:p>
                      <a:pPr algn="l"/>
                      <a:r>
                        <a:rPr sz="1725" b="1">
                          <a:solidFill>
                            <a:srgbClr val="173B5E"/>
                          </a:solidFill>
                          <a:latin typeface="Nimbus Sans"/>
                          <a:ea typeface="Nimbus Sans"/>
                          <a:cs typeface="Nimbus Sans"/>
                        </a:rPr>
                        <a:t>Beachhead segment choice</a:t>
                      </a:r>
                    </a:p>
                  </a:txBody>
                  <a:tcPr marL="114300" marR="114300" marT="76200" marB="76200" anchor="t">
                    <a:lnL w="6191">
                      <a:solidFill>
                        <a:srgbClr val="C8D5DF"/>
                      </a:solidFill>
                      <a:prstDash val="solid"/>
                    </a:lnL>
                    <a:lnR w="6191">
                      <a:solidFill>
                        <a:srgbClr val="C8D5DF"/>
                      </a:solidFill>
                      <a:prstDash val="solid"/>
                    </a:lnR>
                    <a:lnB w="6191">
                      <a:solidFill>
                        <a:srgbClr val="C8D5DF"/>
                      </a:solidFill>
                      <a:prstDash val="solid"/>
                    </a:lnB>
                    <a:solidFill>
                      <a:srgbClr val="FFFFFF"/>
                    </a:solidFill>
                  </a:tcPr>
                </a:tc>
                <a:tc>
                  <a:txBody>
                    <a:bodyPr/>
                    <a:lstStyle/>
                    <a:p>
                      <a:r>
                        <a:rPr sz="1575" b="0">
                          <a:solidFill>
                            <a:srgbClr val="182C40"/>
                          </a:solidFill>
                          <a:latin typeface="Nimbus Sans"/>
                          <a:ea typeface="Nimbus Sans"/>
                          <a:cs typeface="Nimbus Sans"/>
                        </a:rPr>
                        <a:t>Controlled logistics sites may lead on pain and deployment ease, subject to evidence.</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r>
                        <a:rPr sz="1575" b="0">
                          <a:solidFill>
                            <a:srgbClr val="182C40"/>
                          </a:solidFill>
                          <a:latin typeface="Nimbus Sans"/>
                          <a:ea typeface="Nimbus Sans"/>
                          <a:cs typeface="Nimbus Sans"/>
                        </a:rPr>
                        <a:t>Score six site segments on six weighted criteria. Move each weight ±10 percentage points and renormalise. Report winner, runner-up, rank reversals and strongest counterargument.</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pPr algn="l"/>
                      <a:r>
                        <a:rPr sz="1575" b="0">
                          <a:solidFill>
                            <a:srgbClr val="182C40"/>
                          </a:solidFill>
                          <a:latin typeface="Nimbus Sans"/>
                          <a:ea typeface="Nimbus Sans"/>
                          <a:cs typeface="Nimbus Sans"/>
                        </a:rPr>
                        <a:t>Market sizing; Census CBP</a:t>
                      </a:r>
                    </a:p>
                    <a:p>
                      <a:pPr algn="l"/>
                      <a:r>
                        <a:rPr sz="1575" b="0">
                          <a:solidFill>
                            <a:srgbClr val="182C40"/>
                          </a:solidFill>
                          <a:latin typeface="Nimbus Sans"/>
                          <a:ea typeface="Nimbus Sans"/>
                          <a:cs typeface="Nimbus Sans"/>
                        </a:rPr>
                        <a:t>Public tenders and site cases</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r>
                        <a:rPr sz="1875" b="1">
                          <a:solidFill>
                            <a:srgbClr val="173B5E"/>
                          </a:solidFill>
                          <a:latin typeface="Nimbus Sans"/>
                          <a:ea typeface="Nimbus Sans"/>
                          <a:cs typeface="Nimbus Sans"/>
                        </a:rPr>
                        <a:t>W2</a:t>
                      </a:r>
                    </a:p>
                  </a:txBody>
                  <a:tcPr marL="114300" marR="114300" marT="76200" marB="76200" anchor="t">
                    <a:lnR w="6191">
                      <a:solidFill>
                        <a:srgbClr val="C8D5DF"/>
                      </a:solidFill>
                      <a:prstDash val="solid"/>
                    </a:lnR>
                    <a:lnB w="6191">
                      <a:solidFill>
                        <a:srgbClr val="C8D5DF"/>
                      </a:solidFill>
                      <a:prstDash val="solid"/>
                    </a:lnB>
                    <a:solidFill>
                      <a:srgbClr val="FFFFFF"/>
                    </a:solidFill>
                  </a:tcPr>
                </a:tc>
              </a:tr>
              <a:tr h="1400175">
                <a:tc>
                  <a:txBody>
                    <a:bodyPr/>
                    <a:lstStyle/>
                    <a:p>
                      <a:pPr algn="l"/>
                      <a:r>
                        <a:rPr sz="1725" b="1">
                          <a:solidFill>
                            <a:srgbClr val="173B5E"/>
                          </a:solidFill>
                          <a:latin typeface="Nimbus Sans"/>
                          <a:ea typeface="Nimbus Sans"/>
                          <a:cs typeface="Nimbus Sans"/>
                        </a:rPr>
                        <a:t>Alternatives and differentiation</a:t>
                      </a:r>
                    </a:p>
                  </a:txBody>
                  <a:tcPr marL="114300" marR="114300" marT="76200" marB="76200" anchor="t">
                    <a:lnL w="6191">
                      <a:solidFill>
                        <a:srgbClr val="C8D5DF"/>
                      </a:solidFill>
                      <a:prstDash val="solid"/>
                    </a:lnL>
                    <a:lnR w="6191">
                      <a:solidFill>
                        <a:srgbClr val="C8D5DF"/>
                      </a:solidFill>
                      <a:prstDash val="solid"/>
                    </a:lnR>
                    <a:lnB w="6191">
                      <a:solidFill>
                        <a:srgbClr val="C8D5DF"/>
                      </a:solidFill>
                      <a:prstDash val="solid"/>
                    </a:lnB>
                    <a:solidFill>
                      <a:srgbClr val="FFFFFF"/>
                    </a:solidFill>
                  </a:tcPr>
                </a:tc>
                <a:tc>
                  <a:txBody>
                    <a:bodyPr/>
                    <a:lstStyle/>
                    <a:p>
                      <a:r>
                        <a:rPr sz="1575" b="0">
                          <a:solidFill>
                            <a:srgbClr val="182C40"/>
                          </a:solidFill>
                          <a:latin typeface="Nimbus Sans"/>
                          <a:ea typeface="Nimbus Sans"/>
                          <a:cs typeface="Nimbus Sans"/>
                        </a:rPr>
                        <a:t>Rover/Sentinel may win where fixed monitoring leaves coverage and escalation gaps.</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r>
                        <a:rPr sz="1575" b="0">
                          <a:solidFill>
                            <a:srgbClr val="182C40"/>
                          </a:solidFill>
                          <a:latin typeface="Nimbus Sans"/>
                          <a:ea typeface="Nimbus Sans"/>
                          <a:cs typeface="Nimbus Sans"/>
                        </a:rPr>
                        <a:t>Compare 8–12 robot vendors and substitutes on one site workflow. Benchmark capability, price basis, US support and evidence quality. Distinguish claims from demonstrated results.</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pPr algn="l"/>
                      <a:r>
                        <a:rPr sz="1575" b="0">
                          <a:solidFill>
                            <a:srgbClr val="182C40"/>
                          </a:solidFill>
                          <a:latin typeface="Nimbus Sans"/>
                          <a:ea typeface="Nimbus Sans"/>
                          <a:cs typeface="Nimbus Sans"/>
                        </a:rPr>
                        <a:t>Official vendor offers</a:t>
                      </a:r>
                    </a:p>
                    <a:p>
                      <a:pPr algn="l"/>
                      <a:r>
                        <a:rPr sz="1575" b="0">
                          <a:solidFill>
                            <a:srgbClr val="182C40"/>
                          </a:solidFill>
                          <a:latin typeface="Nimbus Sans"/>
                          <a:ea typeface="Nimbus Sans"/>
                          <a:cs typeface="Nimbus Sans"/>
                        </a:rPr>
                        <a:t>Public tenders and case studies</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r>
                        <a:rPr sz="1875" b="1">
                          <a:solidFill>
                            <a:srgbClr val="173B5E"/>
                          </a:solidFill>
                          <a:latin typeface="Nimbus Sans"/>
                          <a:ea typeface="Nimbus Sans"/>
                          <a:cs typeface="Nimbus Sans"/>
                        </a:rPr>
                        <a:t>W3</a:t>
                      </a:r>
                    </a:p>
                  </a:txBody>
                  <a:tcPr marL="114300" marR="114300" marT="76200" marB="76200" anchor="t">
                    <a:lnR w="6191">
                      <a:solidFill>
                        <a:srgbClr val="C8D5DF"/>
                      </a:solidFill>
                      <a:prstDash val="solid"/>
                    </a:lnR>
                    <a:lnB w="6191">
                      <a:solidFill>
                        <a:srgbClr val="C8D5DF"/>
                      </a:solidFill>
                      <a:prstDash val="solid"/>
                    </a:lnB>
                    <a:solidFill>
                      <a:srgbClr val="FFFFFF"/>
                    </a:solidFill>
                  </a:tcPr>
                </a:tc>
              </a:tr>
              <a:tr h="1400175">
                <a:tc>
                  <a:txBody>
                    <a:bodyPr/>
                    <a:lstStyle/>
                    <a:p>
                      <a:pPr algn="l"/>
                      <a:r>
                        <a:rPr sz="1725" b="1">
                          <a:solidFill>
                            <a:srgbClr val="173B5E"/>
                          </a:solidFill>
                          <a:latin typeface="Nimbus Sans"/>
                          <a:ea typeface="Nimbus Sans"/>
                          <a:cs typeface="Nimbus Sans"/>
                        </a:rPr>
                        <a:t>Peer financial benchmark</a:t>
                      </a:r>
                    </a:p>
                  </a:txBody>
                  <a:tcPr marL="114300" marR="114300" marT="76200" marB="76200" anchor="t">
                    <a:lnL w="6191">
                      <a:solidFill>
                        <a:srgbClr val="C8D5DF"/>
                      </a:solidFill>
                      <a:prstDash val="solid"/>
                    </a:lnL>
                    <a:lnR w="6191">
                      <a:solidFill>
                        <a:srgbClr val="C8D5DF"/>
                      </a:solidFill>
                      <a:prstDash val="solid"/>
                    </a:lnR>
                    <a:lnB w="6191">
                      <a:solidFill>
                        <a:srgbClr val="C8D5DF"/>
                      </a:solidFill>
                      <a:prstDash val="solid"/>
                    </a:lnB>
                    <a:solidFill>
                      <a:srgbClr val="FFFFFF"/>
                    </a:solidFill>
                  </a:tcPr>
                </a:tc>
                <a:tc>
                  <a:txBody>
                    <a:bodyPr/>
                    <a:lstStyle/>
                    <a:p>
                      <a:r>
                        <a:rPr sz="1575" b="0">
                          <a:solidFill>
                            <a:srgbClr val="182C40"/>
                          </a:solidFill>
                          <a:latin typeface="Nimbus Sans"/>
                          <a:ea typeface="Nimbus Sans"/>
                          <a:cs typeface="Nimbus Sans"/>
                        </a:rPr>
                        <a:t>Hardware funding and service costs may weaken recurring-revenue economics.</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r>
                        <a:rPr sz="1575" b="0">
                          <a:solidFill>
                            <a:srgbClr val="182C40"/>
                          </a:solidFill>
                          <a:latin typeface="Nimbus Sans"/>
                          <a:ea typeface="Nimbus Sans"/>
                          <a:cs typeface="Nimbus Sans"/>
                        </a:rPr>
                        <a:t>Analyse 2–3 years of peer filings for revenue mix, margin, cash burn, concentration and unit metrics. Set benchmark ranges for InGen cost and funding assumptions.</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pPr algn="l"/>
                      <a:r>
                        <a:rPr sz="1575" b="0">
                          <a:solidFill>
                            <a:srgbClr val="182C40"/>
                          </a:solidFill>
                          <a:latin typeface="Nimbus Sans"/>
                          <a:ea typeface="Nimbus Sans"/>
                          <a:cs typeface="Nimbus Sans"/>
                        </a:rPr>
                        <a:t>SEC / HKEX annual filings</a:t>
                      </a:r>
                    </a:p>
                    <a:p>
                      <a:pPr algn="l"/>
                      <a:r>
                        <a:rPr sz="1575" b="0">
                          <a:solidFill>
                            <a:srgbClr val="182C40"/>
                          </a:solidFill>
                          <a:latin typeface="Nimbus Sans"/>
                          <a:ea typeface="Nimbus Sans"/>
                          <a:cs typeface="Nimbus Sans"/>
                        </a:rPr>
                        <a:t>Original Chinese disclosures</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r>
                        <a:rPr sz="1875" b="1">
                          <a:solidFill>
                            <a:srgbClr val="173B5E"/>
                          </a:solidFill>
                          <a:latin typeface="Nimbus Sans"/>
                          <a:ea typeface="Nimbus Sans"/>
                          <a:cs typeface="Nimbus Sans"/>
                        </a:rPr>
                        <a:t>W3</a:t>
                      </a:r>
                    </a:p>
                  </a:txBody>
                  <a:tcPr marL="114300" marR="114300" marT="76200" marB="76200" anchor="t">
                    <a:lnR w="6191">
                      <a:solidFill>
                        <a:srgbClr val="C8D5DF"/>
                      </a:solidFill>
                      <a:prstDash val="solid"/>
                    </a:lnR>
                    <a:lnB w="6191">
                      <a:solidFill>
                        <a:srgbClr val="C8D5DF"/>
                      </a:solidFill>
                      <a:prstDash val="solid"/>
                    </a:lnB>
                    <a:solidFill>
                      <a:srgbClr val="FFFFFF"/>
                    </a:solidFill>
                  </a:tcPr>
                </a:tc>
              </a:tr>
            </a:tbl>
          </a:graphicData>
        </a:graphic>
      </p:graphicFrame>
      <p:sp>
        <p:nvSpPr>
          <p:cNvPr id="7" name="text-5">
            <a:extLst xmlns:a="http://schemas.openxmlformats.org/drawingml/2006/main">
              <a:ext uri="{FF2B5EF4-FFF2-40B4-BE49-F238E27FC236}">
                <a16:creationId xmlns:a16="http://schemas.microsoft.com/office/drawing/2014/main" id="{3A1E4661-8530-48AD-BF50-F63F57E06E18}"/>
              </a:ext>
            </a:extLst>
          </p:cNvPr>
          <p:cNvSpPr>
            <a:spLocks xmlns:a="http://schemas.openxmlformats.org/drawingml/2006/main" noGrp="1"/>
          </p:cNvSpPr>
          <p:nvPr/>
        </p:nvSpPr>
        <p:spPr>
          <a:xfrm xmlns:a="http://schemas.openxmlformats.org/drawingml/2006/main">
            <a:off x="571500" y="7715250"/>
            <a:ext cx="1409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52677A"/>
                </a:solidFill>
                <a:latin typeface="Nimbus Sans"/>
                <a:ea typeface="Nimbus Sans"/>
                <a:cs typeface="Nimbus Sans"/>
              </a:defRPr>
            </a:defPPr>
            <a:lvl1pPr>
              <a:buNone/>
              <a:defRPr sz="1425" b="0">
                <a:solidFill>
                  <a:srgbClr val="52677A"/>
                </a:solidFill>
                <a:latin typeface="Nimbus Sans"/>
                <a:ea typeface="Nimbus Sans"/>
                <a:cs typeface="Nimbus Sans"/>
              </a:defRPr>
            </a:lvl1pPr>
            <a:lvl2pPr>
              <a:buNone/>
              <a:defRPr sz="1425" b="0">
                <a:solidFill>
                  <a:srgbClr val="52677A"/>
                </a:solidFill>
                <a:latin typeface="Nimbus Sans"/>
                <a:ea typeface="Nimbus Sans"/>
                <a:cs typeface="Nimbus Sans"/>
              </a:defRPr>
            </a:lvl2pPr>
            <a:lvl3pPr>
              <a:buNone/>
              <a:defRPr sz="1425" b="0">
                <a:solidFill>
                  <a:srgbClr val="52677A"/>
                </a:solidFill>
                <a:latin typeface="Nimbus Sans"/>
                <a:ea typeface="Nimbus Sans"/>
                <a:cs typeface="Nimbus Sans"/>
              </a:defRPr>
            </a:lvl3pPr>
            <a:lvl4pPr>
              <a:buNone/>
              <a:defRPr sz="1425" b="0">
                <a:solidFill>
                  <a:srgbClr val="52677A"/>
                </a:solidFill>
                <a:latin typeface="Nimbus Sans"/>
                <a:ea typeface="Nimbus Sans"/>
                <a:cs typeface="Nimbus Sans"/>
              </a:defRPr>
            </a:lvl4pPr>
            <a:lvl5pPr>
              <a:buNone/>
              <a:defRPr sz="1425" b="0">
                <a:solidFill>
                  <a:srgbClr val="52677A"/>
                </a:solidFill>
                <a:latin typeface="Nimbus Sans"/>
                <a:ea typeface="Nimbus Sans"/>
                <a:cs typeface="Nimbus Sans"/>
              </a:defRPr>
            </a:lvl5pPr>
            <a:lvl6pPr>
              <a:buNone/>
              <a:defRPr sz="1425" b="0">
                <a:solidFill>
                  <a:srgbClr val="52677A"/>
                </a:solidFill>
                <a:latin typeface="Nimbus Sans"/>
                <a:ea typeface="Nimbus Sans"/>
                <a:cs typeface="Nimbus Sans"/>
              </a:defRPr>
            </a:lvl6pPr>
            <a:lvl7pPr>
              <a:buNone/>
              <a:defRPr sz="1425" b="0">
                <a:solidFill>
                  <a:srgbClr val="52677A"/>
                </a:solidFill>
                <a:latin typeface="Nimbus Sans"/>
                <a:ea typeface="Nimbus Sans"/>
                <a:cs typeface="Nimbus Sans"/>
              </a:defRPr>
            </a:lvl7pPr>
            <a:lvl8pPr>
              <a:buNone/>
              <a:defRPr sz="1425" b="0">
                <a:solidFill>
                  <a:srgbClr val="52677A"/>
                </a:solidFill>
                <a:latin typeface="Nimbus Sans"/>
                <a:ea typeface="Nimbus Sans"/>
                <a:cs typeface="Nimbus Sans"/>
              </a:defRPr>
            </a:lvl8pPr>
            <a:lvl9pPr>
              <a:buNone/>
              <a:defRPr sz="1425" b="0">
                <a:solidFill>
                  <a:srgbClr val="52677A"/>
                </a:solidFill>
                <a:latin typeface="Nimbus Sans"/>
                <a:ea typeface="Nimbus Sans"/>
                <a:cs typeface="Nimbus Sans"/>
              </a:defRPr>
            </a:lvl9pPr>
          </a:lstStyle>
          <a:p xmlns:a="http://schemas.openxmlformats.org/drawingml/2006/main">
            <a:pPr>
              <a:buNone/>
              <a:defRPr sz="1425" b="0">
                <a:solidFill>
                  <a:srgbClr val="52677A"/>
                </a:solidFill>
                <a:latin typeface="Nimbus Sans"/>
                <a:ea typeface="Nimbus Sans"/>
                <a:cs typeface="Nimbus Sans"/>
              </a:defRPr>
            </a:pPr>
            <a:r>
              <a:rPr sz="1425" b="0">
                <a:solidFill>
                  <a:srgbClr val="52677A"/>
                </a:solidFill>
                <a:latin typeface="Nimbus Sans"/>
                <a:ea typeface="Nimbus Sans"/>
                <a:cs typeface="Nimbus Sans"/>
              </a:rPr>
              <a:t>Sizing control: reconcile annual guard-spend estimates. Map establishments to sites. Bridge separately to InGen revenue and explain gaps above 2×.</a:t>
            </a:r>
          </a:p>
        </p:txBody>
      </p:sp>
    </p:spTree>
    <p:extLst>
      <p:ext uri="{BB962C8B-B14F-4D97-AF65-F5344CB8AC3E}">
        <p14:creationId xmlns:p14="http://schemas.microsoft.com/office/powerpoint/2010/main" val="182697598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BEAA35F6-2F04-4FE8-921A-18B95AB22725}"/>
              </a:ext>
            </a:extLst>
          </p:cNvPr>
          <p:cNvSpPr>
            <a:spLocks xmlns:a="http://schemas.openxmlformats.org/drawingml/2006/main" noGrp="1"/>
          </p:cNvSpPr>
          <p:nvPr/>
        </p:nvSpPr>
        <p:spPr>
          <a:xfrm xmlns:a="http://schemas.openxmlformats.org/drawingml/2006/main">
            <a:off x="571500" y="361950"/>
            <a:ext cx="1409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73B5E"/>
                </a:solidFill>
                <a:latin typeface="Nimbus Sans"/>
                <a:ea typeface="Nimbus Sans"/>
                <a:cs typeface="Nimbus Sans"/>
              </a:defRPr>
            </a:defPPr>
            <a:lvl1pPr>
              <a:buNone/>
              <a:defRPr sz="3225" b="1">
                <a:solidFill>
                  <a:srgbClr val="173B5E"/>
                </a:solidFill>
                <a:latin typeface="Nimbus Sans"/>
                <a:ea typeface="Nimbus Sans"/>
                <a:cs typeface="Nimbus Sans"/>
              </a:defRPr>
            </a:lvl1pPr>
            <a:lvl2pPr>
              <a:buNone/>
              <a:defRPr sz="3225" b="1">
                <a:solidFill>
                  <a:srgbClr val="173B5E"/>
                </a:solidFill>
                <a:latin typeface="Nimbus Sans"/>
                <a:ea typeface="Nimbus Sans"/>
                <a:cs typeface="Nimbus Sans"/>
              </a:defRPr>
            </a:lvl2pPr>
            <a:lvl3pPr>
              <a:buNone/>
              <a:defRPr sz="3225" b="1">
                <a:solidFill>
                  <a:srgbClr val="173B5E"/>
                </a:solidFill>
                <a:latin typeface="Nimbus Sans"/>
                <a:ea typeface="Nimbus Sans"/>
                <a:cs typeface="Nimbus Sans"/>
              </a:defRPr>
            </a:lvl3pPr>
            <a:lvl4pPr>
              <a:buNone/>
              <a:defRPr sz="3225" b="1">
                <a:solidFill>
                  <a:srgbClr val="173B5E"/>
                </a:solidFill>
                <a:latin typeface="Nimbus Sans"/>
                <a:ea typeface="Nimbus Sans"/>
                <a:cs typeface="Nimbus Sans"/>
              </a:defRPr>
            </a:lvl4pPr>
            <a:lvl5pPr>
              <a:buNone/>
              <a:defRPr sz="3225" b="1">
                <a:solidFill>
                  <a:srgbClr val="173B5E"/>
                </a:solidFill>
                <a:latin typeface="Nimbus Sans"/>
                <a:ea typeface="Nimbus Sans"/>
                <a:cs typeface="Nimbus Sans"/>
              </a:defRPr>
            </a:lvl5pPr>
            <a:lvl6pPr>
              <a:buNone/>
              <a:defRPr sz="3225" b="1">
                <a:solidFill>
                  <a:srgbClr val="173B5E"/>
                </a:solidFill>
                <a:latin typeface="Nimbus Sans"/>
                <a:ea typeface="Nimbus Sans"/>
                <a:cs typeface="Nimbus Sans"/>
              </a:defRPr>
            </a:lvl6pPr>
            <a:lvl7pPr>
              <a:buNone/>
              <a:defRPr sz="3225" b="1">
                <a:solidFill>
                  <a:srgbClr val="173B5E"/>
                </a:solidFill>
                <a:latin typeface="Nimbus Sans"/>
                <a:ea typeface="Nimbus Sans"/>
                <a:cs typeface="Nimbus Sans"/>
              </a:defRPr>
            </a:lvl7pPr>
            <a:lvl8pPr>
              <a:buNone/>
              <a:defRPr sz="3225" b="1">
                <a:solidFill>
                  <a:srgbClr val="173B5E"/>
                </a:solidFill>
                <a:latin typeface="Nimbus Sans"/>
                <a:ea typeface="Nimbus Sans"/>
                <a:cs typeface="Nimbus Sans"/>
              </a:defRPr>
            </a:lvl8pPr>
            <a:lvl9pPr>
              <a:buNone/>
              <a:defRPr sz="3225" b="1">
                <a:solidFill>
                  <a:srgbClr val="173B5E"/>
                </a:solidFill>
                <a:latin typeface="Nimbus Sans"/>
                <a:ea typeface="Nimbus Sans"/>
                <a:cs typeface="Nimbus Sans"/>
              </a:defRPr>
            </a:lvl9pPr>
          </a:lstStyle>
          <a:p xmlns:a="http://schemas.openxmlformats.org/drawingml/2006/main">
            <a:pPr>
              <a:buNone/>
              <a:defRPr sz="3225" b="1">
                <a:solidFill>
                  <a:srgbClr val="173B5E"/>
                </a:solidFill>
                <a:latin typeface="Nimbus Sans"/>
                <a:ea typeface="Nimbus Sans"/>
                <a:cs typeface="Nimbus Sans"/>
              </a:defRPr>
            </a:pPr>
            <a:r>
              <a:rPr sz="3225" b="1">
                <a:solidFill>
                  <a:srgbClr val="173B5E"/>
                </a:solidFill>
                <a:latin typeface="Nimbus Sans"/>
                <a:ea typeface="Nimbus Sans"/>
                <a:cs typeface="Nimbus Sans"/>
              </a:rPr>
              <a:t>Customer economics and go-to-market analysis plan</a:t>
            </a:r>
          </a:p>
        </p:txBody>
      </p:sp>
      <p:sp>
        <p:nvSpPr>
          <p:cNvPr id="2" name="text-1">
            <a:extLst xmlns:a="http://schemas.openxmlformats.org/drawingml/2006/main">
              <a:ext uri="{FF2B5EF4-FFF2-40B4-BE49-F238E27FC236}">
                <a16:creationId xmlns:a16="http://schemas.microsoft.com/office/drawing/2014/main" id="{F2DE71E8-4698-44CA-B488-833238227FB3}"/>
              </a:ext>
            </a:extLst>
          </p:cNvPr>
          <p:cNvSpPr>
            <a:spLocks xmlns:a="http://schemas.openxmlformats.org/drawingml/2006/main" noGrp="1"/>
          </p:cNvSpPr>
          <p:nvPr/>
        </p:nvSpPr>
        <p:spPr>
          <a:xfrm xmlns:a="http://schemas.openxmlformats.org/drawingml/2006/main">
            <a:off x="571500" y="971550"/>
            <a:ext cx="1409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2677A"/>
                </a:solidFill>
                <a:latin typeface="Nimbus Sans"/>
                <a:ea typeface="Nimbus Sans"/>
                <a:cs typeface="Nimbus Sans"/>
              </a:defRPr>
            </a:defPPr>
            <a:lvl1pPr>
              <a:buNone/>
              <a:defRPr sz="1725" b="0">
                <a:solidFill>
                  <a:srgbClr val="52677A"/>
                </a:solidFill>
                <a:latin typeface="Nimbus Sans"/>
                <a:ea typeface="Nimbus Sans"/>
                <a:cs typeface="Nimbus Sans"/>
              </a:defRPr>
            </a:lvl1pPr>
            <a:lvl2pPr>
              <a:buNone/>
              <a:defRPr sz="1725" b="0">
                <a:solidFill>
                  <a:srgbClr val="52677A"/>
                </a:solidFill>
                <a:latin typeface="Nimbus Sans"/>
                <a:ea typeface="Nimbus Sans"/>
                <a:cs typeface="Nimbus Sans"/>
              </a:defRPr>
            </a:lvl2pPr>
            <a:lvl3pPr>
              <a:buNone/>
              <a:defRPr sz="1725" b="0">
                <a:solidFill>
                  <a:srgbClr val="52677A"/>
                </a:solidFill>
                <a:latin typeface="Nimbus Sans"/>
                <a:ea typeface="Nimbus Sans"/>
                <a:cs typeface="Nimbus Sans"/>
              </a:defRPr>
            </a:lvl3pPr>
            <a:lvl4pPr>
              <a:buNone/>
              <a:defRPr sz="1725" b="0">
                <a:solidFill>
                  <a:srgbClr val="52677A"/>
                </a:solidFill>
                <a:latin typeface="Nimbus Sans"/>
                <a:ea typeface="Nimbus Sans"/>
                <a:cs typeface="Nimbus Sans"/>
              </a:defRPr>
            </a:lvl4pPr>
            <a:lvl5pPr>
              <a:buNone/>
              <a:defRPr sz="1725" b="0">
                <a:solidFill>
                  <a:srgbClr val="52677A"/>
                </a:solidFill>
                <a:latin typeface="Nimbus Sans"/>
                <a:ea typeface="Nimbus Sans"/>
                <a:cs typeface="Nimbus Sans"/>
              </a:defRPr>
            </a:lvl5pPr>
            <a:lvl6pPr>
              <a:buNone/>
              <a:defRPr sz="1725" b="0">
                <a:solidFill>
                  <a:srgbClr val="52677A"/>
                </a:solidFill>
                <a:latin typeface="Nimbus Sans"/>
                <a:ea typeface="Nimbus Sans"/>
                <a:cs typeface="Nimbus Sans"/>
              </a:defRPr>
            </a:lvl6pPr>
            <a:lvl7pPr>
              <a:buNone/>
              <a:defRPr sz="1725" b="0">
                <a:solidFill>
                  <a:srgbClr val="52677A"/>
                </a:solidFill>
                <a:latin typeface="Nimbus Sans"/>
                <a:ea typeface="Nimbus Sans"/>
                <a:cs typeface="Nimbus Sans"/>
              </a:defRPr>
            </a:lvl7pPr>
            <a:lvl8pPr>
              <a:buNone/>
              <a:defRPr sz="1725" b="0">
                <a:solidFill>
                  <a:srgbClr val="52677A"/>
                </a:solidFill>
                <a:latin typeface="Nimbus Sans"/>
                <a:ea typeface="Nimbus Sans"/>
                <a:cs typeface="Nimbus Sans"/>
              </a:defRPr>
            </a:lvl8pPr>
            <a:lvl9pPr>
              <a:buNone/>
              <a:defRPr sz="1725" b="0">
                <a:solidFill>
                  <a:srgbClr val="52677A"/>
                </a:solidFill>
                <a:latin typeface="Nimbus Sans"/>
                <a:ea typeface="Nimbus Sans"/>
                <a:cs typeface="Nimbus Sans"/>
              </a:defRPr>
            </a:lvl9pPr>
          </a:lstStyle>
          <a:p xmlns:a="http://schemas.openxmlformats.org/drawingml/2006/main">
            <a:pPr>
              <a:buNone/>
              <a:defRPr sz="1725" b="0">
                <a:solidFill>
                  <a:srgbClr val="52677A"/>
                </a:solidFill>
                <a:latin typeface="Nimbus Sans"/>
                <a:ea typeface="Nimbus Sans"/>
                <a:cs typeface="Nimbus Sans"/>
              </a:defRPr>
            </a:pPr>
            <a:r>
              <a:rPr sz="1725" b="0">
                <a:solidFill>
                  <a:srgbClr val="52677A"/>
                </a:solidFill>
                <a:latin typeface="Nimbus Sans"/>
                <a:ea typeface="Nimbus Sans"/>
                <a:cs typeface="Nimbus Sans"/>
              </a:rPr>
              <a:t>Readiness checks begin in W1. The adoption analysis is due in W4. Pilot requirements and economics feed the W6 channel decision.</a:t>
            </a:r>
          </a:p>
        </p:txBody>
      </p:sp>
      <p:cxnSp>
        <p:nvCxnSpPr>
          <p:cNvPr id="3" name="">
            <a:extLst xmlns:a="http://schemas.openxmlformats.org/drawingml/2006/main">
              <a:ext uri="{FF2B5EF4-FFF2-40B4-BE49-F238E27FC236}">
                <a16:creationId xmlns:a16="http://schemas.microsoft.com/office/drawing/2014/main" id="{65125F06-EB99-4204-83D0-CB61CDBE7D7C}"/>
              </a:ext>
            </a:extLst>
          </p:cNvPr>
          <p:cNvCxnSpPr/>
          <p:nvPr/>
        </p:nvCxnSpPr>
        <p:spPr>
          <a:xfrm xmlns:a="http://schemas.openxmlformats.org/drawingml/2006/main">
            <a:off x="571500" y="8001000"/>
            <a:ext cx="14097000" cy="0"/>
          </a:xfrm>
          <a:prstGeom xmlns:a="http://schemas.openxmlformats.org/drawingml/2006/main" prst="bentConnector4">
            <a:avLst/>
          </a:prstGeom>
          <a:ln xmlns:a="http://schemas.openxmlformats.org/drawingml/2006/main" w="9525">
            <a:solidFill>
              <a:srgbClr val="C8D5DF"/>
            </a:solidFill>
            <a:prstDash val="solid"/>
          </a:ln>
        </p:spPr>
      </p:cxnSp>
      <p:sp>
        <p:nvSpPr>
          <p:cNvPr id="4" name="text-3">
            <a:extLst xmlns:a="http://schemas.openxmlformats.org/drawingml/2006/main">
              <a:ext uri="{FF2B5EF4-FFF2-40B4-BE49-F238E27FC236}">
                <a16:creationId xmlns:a16="http://schemas.microsoft.com/office/drawing/2014/main" id="{9F40950B-B1E0-44D8-9B3E-F97D09ADA436}"/>
              </a:ext>
            </a:extLst>
          </p:cNvPr>
          <p:cNvSpPr>
            <a:spLocks xmlns:a="http://schemas.openxmlformats.org/drawingml/2006/main" noGrp="1"/>
          </p:cNvSpPr>
          <p:nvPr/>
        </p:nvSpPr>
        <p:spPr>
          <a:xfrm xmlns:a="http://schemas.openxmlformats.org/drawingml/2006/main">
            <a:off x="571500" y="8124825"/>
            <a:ext cx="1257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2677A"/>
                </a:solidFill>
                <a:latin typeface="Nimbus Sans"/>
                <a:ea typeface="Nimbus Sans"/>
                <a:cs typeface="Nimbus Sans"/>
              </a:defRPr>
            </a:defPPr>
            <a:lvl1pPr>
              <a:buNone/>
              <a:defRPr sz="1275" b="0">
                <a:solidFill>
                  <a:srgbClr val="52677A"/>
                </a:solidFill>
                <a:latin typeface="Nimbus Sans"/>
                <a:ea typeface="Nimbus Sans"/>
                <a:cs typeface="Nimbus Sans"/>
              </a:defRPr>
            </a:lvl1pPr>
            <a:lvl2pPr>
              <a:buNone/>
              <a:defRPr sz="1275" b="0">
                <a:solidFill>
                  <a:srgbClr val="52677A"/>
                </a:solidFill>
                <a:latin typeface="Nimbus Sans"/>
                <a:ea typeface="Nimbus Sans"/>
                <a:cs typeface="Nimbus Sans"/>
              </a:defRPr>
            </a:lvl2pPr>
            <a:lvl3pPr>
              <a:buNone/>
              <a:defRPr sz="1275" b="0">
                <a:solidFill>
                  <a:srgbClr val="52677A"/>
                </a:solidFill>
                <a:latin typeface="Nimbus Sans"/>
                <a:ea typeface="Nimbus Sans"/>
                <a:cs typeface="Nimbus Sans"/>
              </a:defRPr>
            </a:lvl3pPr>
            <a:lvl4pPr>
              <a:buNone/>
              <a:defRPr sz="1275" b="0">
                <a:solidFill>
                  <a:srgbClr val="52677A"/>
                </a:solidFill>
                <a:latin typeface="Nimbus Sans"/>
                <a:ea typeface="Nimbus Sans"/>
                <a:cs typeface="Nimbus Sans"/>
              </a:defRPr>
            </a:lvl4pPr>
            <a:lvl5pPr>
              <a:buNone/>
              <a:defRPr sz="1275" b="0">
                <a:solidFill>
                  <a:srgbClr val="52677A"/>
                </a:solidFill>
                <a:latin typeface="Nimbus Sans"/>
                <a:ea typeface="Nimbus Sans"/>
                <a:cs typeface="Nimbus Sans"/>
              </a:defRPr>
            </a:lvl5pPr>
            <a:lvl6pPr>
              <a:buNone/>
              <a:defRPr sz="1275" b="0">
                <a:solidFill>
                  <a:srgbClr val="52677A"/>
                </a:solidFill>
                <a:latin typeface="Nimbus Sans"/>
                <a:ea typeface="Nimbus Sans"/>
                <a:cs typeface="Nimbus Sans"/>
              </a:defRPr>
            </a:lvl6pPr>
            <a:lvl7pPr>
              <a:buNone/>
              <a:defRPr sz="1275" b="0">
                <a:solidFill>
                  <a:srgbClr val="52677A"/>
                </a:solidFill>
                <a:latin typeface="Nimbus Sans"/>
                <a:ea typeface="Nimbus Sans"/>
                <a:cs typeface="Nimbus Sans"/>
              </a:defRPr>
            </a:lvl7pPr>
            <a:lvl8pPr>
              <a:buNone/>
              <a:defRPr sz="1275" b="0">
                <a:solidFill>
                  <a:srgbClr val="52677A"/>
                </a:solidFill>
                <a:latin typeface="Nimbus Sans"/>
                <a:ea typeface="Nimbus Sans"/>
                <a:cs typeface="Nimbus Sans"/>
              </a:defRPr>
            </a:lvl8pPr>
            <a:lvl9pPr>
              <a:buNone/>
              <a:defRPr sz="1275" b="0">
                <a:solidFill>
                  <a:srgbClr val="52677A"/>
                </a:solidFill>
                <a:latin typeface="Nimbus Sans"/>
                <a:ea typeface="Nimbus Sans"/>
                <a:cs typeface="Nimbus Sans"/>
              </a:defRPr>
            </a:lvl9pPr>
          </a:lstStyle>
          <a:p xmlns:a="http://schemas.openxmlformats.org/drawingml/2006/main">
            <a:pPr>
              <a:buNone/>
              <a:defRPr sz="1275" b="0">
                <a:solidFill>
                  <a:srgbClr val="52677A"/>
                </a:solidFill>
                <a:latin typeface="Nimbus Sans"/>
                <a:ea typeface="Nimbus Sans"/>
                <a:cs typeface="Nimbus Sans"/>
              </a:defRPr>
            </a:pPr>
            <a:r>
              <a:rPr sz="1275" b="0">
                <a:solidFill>
                  <a:srgbClr val="52677A"/>
                </a:solidFill>
                <a:latin typeface="Nimbus Sans"/>
                <a:ea typeface="Nimbus Sans"/>
                <a:cs typeface="Nimbus Sans"/>
              </a:rPr>
              <a:t>InGen Dynamics   Week 1   Yufei Li   27 October 2026</a:t>
            </a:r>
          </a:p>
        </p:txBody>
      </p:sp>
      <p:sp>
        <p:nvSpPr>
          <p:cNvPr id="5" name="text-4">
            <a:extLst xmlns:a="http://schemas.openxmlformats.org/drawingml/2006/main">
              <a:ext uri="{FF2B5EF4-FFF2-40B4-BE49-F238E27FC236}">
                <a16:creationId xmlns:a16="http://schemas.microsoft.com/office/drawing/2014/main" id="{A5315D8C-5E0D-467F-8DF1-F6494A16A393}"/>
              </a:ext>
            </a:extLst>
          </p:cNvPr>
          <p:cNvSpPr>
            <a:spLocks xmlns:a="http://schemas.openxmlformats.org/drawingml/2006/main" noGrp="1"/>
          </p:cNvSpPr>
          <p:nvPr/>
        </p:nvSpPr>
        <p:spPr>
          <a:xfrm xmlns:a="http://schemas.openxmlformats.org/drawingml/2006/main">
            <a:off x="14097000" y="81057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1">
                <a:solidFill>
                  <a:srgbClr val="173B5E"/>
                </a:solidFill>
                <a:latin typeface="Nimbus Sans"/>
                <a:ea typeface="Nimbus Sans"/>
                <a:cs typeface="Nimbus Sans"/>
              </a:defRPr>
            </a:defPPr>
            <a:lvl1pPr algn="r">
              <a:buNone/>
              <a:defRPr sz="1500" b="1">
                <a:solidFill>
                  <a:srgbClr val="173B5E"/>
                </a:solidFill>
                <a:latin typeface="Nimbus Sans"/>
                <a:ea typeface="Nimbus Sans"/>
                <a:cs typeface="Nimbus Sans"/>
              </a:defRPr>
            </a:lvl1pPr>
            <a:lvl2pPr algn="r">
              <a:buNone/>
              <a:defRPr sz="1500" b="1">
                <a:solidFill>
                  <a:srgbClr val="173B5E"/>
                </a:solidFill>
                <a:latin typeface="Nimbus Sans"/>
                <a:ea typeface="Nimbus Sans"/>
                <a:cs typeface="Nimbus Sans"/>
              </a:defRPr>
            </a:lvl2pPr>
            <a:lvl3pPr algn="r">
              <a:buNone/>
              <a:defRPr sz="1500" b="1">
                <a:solidFill>
                  <a:srgbClr val="173B5E"/>
                </a:solidFill>
                <a:latin typeface="Nimbus Sans"/>
                <a:ea typeface="Nimbus Sans"/>
                <a:cs typeface="Nimbus Sans"/>
              </a:defRPr>
            </a:lvl3pPr>
            <a:lvl4pPr algn="r">
              <a:buNone/>
              <a:defRPr sz="1500" b="1">
                <a:solidFill>
                  <a:srgbClr val="173B5E"/>
                </a:solidFill>
                <a:latin typeface="Nimbus Sans"/>
                <a:ea typeface="Nimbus Sans"/>
                <a:cs typeface="Nimbus Sans"/>
              </a:defRPr>
            </a:lvl4pPr>
            <a:lvl5pPr algn="r">
              <a:buNone/>
              <a:defRPr sz="1500" b="1">
                <a:solidFill>
                  <a:srgbClr val="173B5E"/>
                </a:solidFill>
                <a:latin typeface="Nimbus Sans"/>
                <a:ea typeface="Nimbus Sans"/>
                <a:cs typeface="Nimbus Sans"/>
              </a:defRPr>
            </a:lvl5pPr>
            <a:lvl6pPr algn="r">
              <a:buNone/>
              <a:defRPr sz="1500" b="1">
                <a:solidFill>
                  <a:srgbClr val="173B5E"/>
                </a:solidFill>
                <a:latin typeface="Nimbus Sans"/>
                <a:ea typeface="Nimbus Sans"/>
                <a:cs typeface="Nimbus Sans"/>
              </a:defRPr>
            </a:lvl6pPr>
            <a:lvl7pPr algn="r">
              <a:buNone/>
              <a:defRPr sz="1500" b="1">
                <a:solidFill>
                  <a:srgbClr val="173B5E"/>
                </a:solidFill>
                <a:latin typeface="Nimbus Sans"/>
                <a:ea typeface="Nimbus Sans"/>
                <a:cs typeface="Nimbus Sans"/>
              </a:defRPr>
            </a:lvl7pPr>
            <a:lvl8pPr algn="r">
              <a:buNone/>
              <a:defRPr sz="1500" b="1">
                <a:solidFill>
                  <a:srgbClr val="173B5E"/>
                </a:solidFill>
                <a:latin typeface="Nimbus Sans"/>
                <a:ea typeface="Nimbus Sans"/>
                <a:cs typeface="Nimbus Sans"/>
              </a:defRPr>
            </a:lvl8pPr>
            <a:lvl9pPr algn="r">
              <a:buNone/>
              <a:defRPr sz="1500" b="1">
                <a:solidFill>
                  <a:srgbClr val="173B5E"/>
                </a:solidFill>
                <a:latin typeface="Nimbus Sans"/>
                <a:ea typeface="Nimbus Sans"/>
                <a:cs typeface="Nimbus Sans"/>
              </a:defRPr>
            </a:lvl9pPr>
          </a:lstStyle>
          <a:p xmlns:a="http://schemas.openxmlformats.org/drawingml/2006/main">
            <a:pPr algn="r">
              <a:buNone/>
              <a:defRPr sz="1500" b="1">
                <a:solidFill>
                  <a:srgbClr val="173B5E"/>
                </a:solidFill>
                <a:latin typeface="Nimbus Sans"/>
                <a:ea typeface="Nimbus Sans"/>
                <a:cs typeface="Nimbus Sans"/>
              </a:defRPr>
            </a:pPr>
            <a:r>
              <a:rPr sz="1500" b="1">
                <a:solidFill>
                  <a:srgbClr val="173B5E"/>
                </a:solidFill>
                <a:latin typeface="Nimbus Sans"/>
                <a:ea typeface="Nimbus Sans"/>
                <a:cs typeface="Nimbus Sans"/>
              </a:rPr>
              <a:t>03</a:t>
            </a:r>
          </a:p>
        </p:txBody>
      </p:sp>
      <p:graphicFrame>
        <p:nvGraphicFramePr>
          <p:cNvPr id="6" name="">
            <a:extLst xmlns:a="http://schemas.openxmlformats.org/drawingml/2006/main">
              <a:ext uri="{FF2B5EF4-FFF2-40B4-BE49-F238E27FC236}">
                <a16:creationId xmlns:a16="http://schemas.microsoft.com/office/drawing/2014/main" id="{CF5AEB6B-0A0F-4BE9-A8E9-3E42E3A7027C}"/>
              </a:ext>
            </a:extLst>
          </p:cNvPr>
          <p:cNvGraphicFramePr/>
          <p:nvPr/>
        </p:nvGraphicFramePr>
        <p:xfrm>
          <a:off xmlns:a="http://schemas.openxmlformats.org/drawingml/2006/main" x="571500" y="1371600"/>
          <a:ext xmlns:a="http://schemas.openxmlformats.org/drawingml/2006/main" cx="14097000" cy="6096000"/>
        </p:xfrm>
        <a:graphic xmlns:a="http://schemas.openxmlformats.org/drawingml/2006/main">
          <a:graphicData uri="http://schemas.openxmlformats.org/drawingml/2006/table">
            <a:tbl>
              <a:tblPr firstRow="0" bandRow="0"/>
              <a:tblGrid>
                <a:gridCol w="2286000"/>
                <a:gridCol w="2857500"/>
                <a:gridCol w="4762500"/>
                <a:gridCol w="3048000"/>
                <a:gridCol w="1143000"/>
              </a:tblGrid>
              <a:tr h="495300">
                <a:tc>
                  <a:txBody>
                    <a:bodyPr/>
                    <a:lstStyle/>
                    <a:p>
                      <a:pPr algn="l"/>
                      <a:r>
                        <a:rPr sz="1650" b="1">
                          <a:solidFill>
                            <a:srgbClr val="FFFFFF"/>
                          </a:solidFill>
                          <a:latin typeface="Nimbus Sans"/>
                          <a:ea typeface="Nimbus Sans"/>
                          <a:cs typeface="Nimbus Sans"/>
                        </a:rPr>
                        <a:t>Analysis question</a:t>
                      </a:r>
                    </a:p>
                  </a:txBody>
                  <a:tcPr marL="114300" marR="114300" marT="76200" marB="76200" anchor="t">
                    <a:lnL w="6191">
                      <a:solidFill>
                        <a:srgbClr val="C8D5DF"/>
                      </a:solidFill>
                      <a:prstDash val="solid"/>
                    </a:lnL>
                    <a:lnR w="6191">
                      <a:solidFill>
                        <a:srgbClr val="C8D5DF"/>
                      </a:solidFill>
                      <a:prstDash val="solid"/>
                    </a:lnR>
                    <a:lnT w="6191">
                      <a:solidFill>
                        <a:srgbClr val="C8D5DF"/>
                      </a:solidFill>
                      <a:prstDash val="solid"/>
                    </a:lnT>
                    <a:lnB w="6191">
                      <a:solidFill>
                        <a:srgbClr val="C8D5DF"/>
                      </a:solidFill>
                      <a:prstDash val="solid"/>
                    </a:lnB>
                    <a:solidFill>
                      <a:srgbClr val="173B5E"/>
                    </a:solidFill>
                  </a:tcPr>
                </a:tc>
                <a:tc>
                  <a:txBody>
                    <a:bodyPr/>
                    <a:lstStyle/>
                    <a:p>
                      <a:r>
                        <a:rPr sz="1650" b="1">
                          <a:solidFill>
                            <a:srgbClr val="FFFFFF"/>
                          </a:solidFill>
                          <a:latin typeface="Nimbus Sans"/>
                          <a:ea typeface="Nimbus Sans"/>
                          <a:cs typeface="Nimbus Sans"/>
                        </a:rPr>
                        <a:t>Working hypothesis</a:t>
                      </a:r>
                    </a:p>
                  </a:txBody>
                  <a:tcPr marL="114300" marR="114300" marT="76200" marB="76200" anchor="t">
                    <a:lnR w="6191">
                      <a:solidFill>
                        <a:srgbClr val="C8D5DF"/>
                      </a:solidFill>
                      <a:prstDash val="solid"/>
                    </a:lnR>
                    <a:lnT w="6191">
                      <a:solidFill>
                        <a:srgbClr val="C8D5DF"/>
                      </a:solidFill>
                      <a:prstDash val="solid"/>
                    </a:lnT>
                    <a:lnB w="6191">
                      <a:solidFill>
                        <a:srgbClr val="C8D5DF"/>
                      </a:solidFill>
                      <a:prstDash val="solid"/>
                    </a:lnB>
                    <a:solidFill>
                      <a:srgbClr val="173B5E"/>
                    </a:solidFill>
                  </a:tcPr>
                </a:tc>
                <a:tc>
                  <a:txBody>
                    <a:bodyPr/>
                    <a:lstStyle/>
                    <a:p>
                      <a:r>
                        <a:rPr sz="1650" b="1">
                          <a:solidFill>
                            <a:srgbClr val="FFFFFF"/>
                          </a:solidFill>
                          <a:latin typeface="Nimbus Sans"/>
                          <a:ea typeface="Nimbus Sans"/>
                          <a:cs typeface="Nimbus Sans"/>
                        </a:rPr>
                        <a:t>Test analysis</a:t>
                      </a:r>
                    </a:p>
                  </a:txBody>
                  <a:tcPr marL="114300" marR="114300" marT="76200" marB="76200" anchor="t">
                    <a:lnR w="6191">
                      <a:solidFill>
                        <a:srgbClr val="C8D5DF"/>
                      </a:solidFill>
                      <a:prstDash val="solid"/>
                    </a:lnR>
                    <a:lnT w="6191">
                      <a:solidFill>
                        <a:srgbClr val="C8D5DF"/>
                      </a:solidFill>
                      <a:prstDash val="solid"/>
                    </a:lnT>
                    <a:lnB w="6191">
                      <a:solidFill>
                        <a:srgbClr val="C8D5DF"/>
                      </a:solidFill>
                      <a:prstDash val="solid"/>
                    </a:lnB>
                    <a:solidFill>
                      <a:srgbClr val="173B5E"/>
                    </a:solidFill>
                  </a:tcPr>
                </a:tc>
                <a:tc>
                  <a:txBody>
                    <a:bodyPr/>
                    <a:lstStyle/>
                    <a:p>
                      <a:r>
                        <a:rPr sz="1650" b="1">
                          <a:solidFill>
                            <a:srgbClr val="FFFFFF"/>
                          </a:solidFill>
                          <a:latin typeface="Nimbus Sans"/>
                          <a:ea typeface="Nimbus Sans"/>
                          <a:cs typeface="Nimbus Sans"/>
                        </a:rPr>
                        <a:t>Evidence / assumption</a:t>
                      </a:r>
                    </a:p>
                  </a:txBody>
                  <a:tcPr marL="114300" marR="114300" marT="76200" marB="76200" anchor="t">
                    <a:lnR w="6191">
                      <a:solidFill>
                        <a:srgbClr val="C8D5DF"/>
                      </a:solidFill>
                      <a:prstDash val="solid"/>
                    </a:lnR>
                    <a:lnT w="6191">
                      <a:solidFill>
                        <a:srgbClr val="C8D5DF"/>
                      </a:solidFill>
                      <a:prstDash val="solid"/>
                    </a:lnT>
                    <a:lnB w="6191">
                      <a:solidFill>
                        <a:srgbClr val="C8D5DF"/>
                      </a:solidFill>
                      <a:prstDash val="solid"/>
                    </a:lnB>
                    <a:solidFill>
                      <a:srgbClr val="173B5E"/>
                    </a:solidFill>
                  </a:tcPr>
                </a:tc>
                <a:tc>
                  <a:txBody>
                    <a:bodyPr/>
                    <a:lstStyle/>
                    <a:p>
                      <a:r>
                        <a:rPr sz="1650" b="1">
                          <a:solidFill>
                            <a:srgbClr val="FFFFFF"/>
                          </a:solidFill>
                          <a:latin typeface="Nimbus Sans"/>
                          <a:ea typeface="Nimbus Sans"/>
                          <a:cs typeface="Nimbus Sans"/>
                        </a:rPr>
                        <a:t>Week</a:t>
                      </a:r>
                    </a:p>
                  </a:txBody>
                  <a:tcPr marL="114300" marR="114300" marT="76200" marB="76200" anchor="t">
                    <a:lnR w="6191">
                      <a:solidFill>
                        <a:srgbClr val="C8D5DF"/>
                      </a:solidFill>
                      <a:prstDash val="solid"/>
                    </a:lnR>
                    <a:lnT w="6191">
                      <a:solidFill>
                        <a:srgbClr val="C8D5DF"/>
                      </a:solidFill>
                      <a:prstDash val="solid"/>
                    </a:lnT>
                    <a:lnB w="6191">
                      <a:solidFill>
                        <a:srgbClr val="C8D5DF"/>
                      </a:solidFill>
                      <a:prstDash val="solid"/>
                    </a:lnB>
                    <a:solidFill>
                      <a:srgbClr val="173B5E"/>
                    </a:solidFill>
                  </a:tcPr>
                </a:tc>
              </a:tr>
              <a:tr h="1400175">
                <a:tc>
                  <a:txBody>
                    <a:bodyPr/>
                    <a:lstStyle/>
                    <a:p>
                      <a:pPr algn="l"/>
                      <a:r>
                        <a:rPr sz="1725" b="1">
                          <a:solidFill>
                            <a:srgbClr val="173B5E"/>
                          </a:solidFill>
                          <a:latin typeface="Nimbus Sans"/>
                          <a:ea typeface="Nimbus Sans"/>
                          <a:cs typeface="Nimbus Sans"/>
                        </a:rPr>
                        <a:t>Customer ROI</a:t>
                      </a:r>
                    </a:p>
                  </a:txBody>
                  <a:tcPr marL="114300" marR="114300" marT="76200" marB="76200" anchor="t">
                    <a:lnL w="6191">
                      <a:solidFill>
                        <a:srgbClr val="C8D5DF"/>
                      </a:solidFill>
                      <a:prstDash val="solid"/>
                    </a:lnL>
                    <a:lnR w="6191">
                      <a:solidFill>
                        <a:srgbClr val="C8D5DF"/>
                      </a:solidFill>
                      <a:prstDash val="solid"/>
                    </a:lnR>
                    <a:lnB w="6191">
                      <a:solidFill>
                        <a:srgbClr val="C8D5DF"/>
                      </a:solidFill>
                      <a:prstDash val="solid"/>
                    </a:lnB>
                    <a:solidFill>
                      <a:srgbClr val="FFFFFF"/>
                    </a:solidFill>
                  </a:tcPr>
                </a:tc>
                <a:tc>
                  <a:txBody>
                    <a:bodyPr/>
                    <a:lstStyle/>
                    <a:p>
                      <a:r>
                        <a:rPr sz="1575" b="0">
                          <a:solidFill>
                            <a:srgbClr val="182C40"/>
                          </a:solidFill>
                          <a:latin typeface="Nimbus Sans"/>
                          <a:ea typeface="Nimbus Sans"/>
                          <a:cs typeface="Nimbus Sans"/>
                        </a:rPr>
                        <a:t>Savings depend on removable tasks after accounting for retained human coverage.</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r>
                        <a:rPr sz="1575" b="0">
                          <a:solidFill>
                            <a:srgbClr val="182C40"/>
                          </a:solidFill>
                          <a:latin typeface="Nimbus Sans"/>
                          <a:ea typeface="Nimbus Sans"/>
                          <a:cs typeface="Nimbus Sans"/>
                        </a:rPr>
                        <a:t>Compare three-year TCO, including installation, monitoring and residual guards. Calculate annual saving, payback and break-even removable hours. Stress uptime and supervision.</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pPr algn="l"/>
                      <a:r>
                        <a:rPr sz="1575" b="0">
                          <a:solidFill>
                            <a:srgbClr val="182C40"/>
                          </a:solidFill>
                          <a:latin typeface="Nimbus Sans"/>
                          <a:ea typeface="Nimbus Sans"/>
                          <a:cs typeface="Nimbus Sans"/>
                        </a:rPr>
                        <a:t>BLS; workflow evidence</a:t>
                      </a:r>
                    </a:p>
                    <a:p>
                      <a:pPr algn="l"/>
                      <a:r>
                        <a:rPr sz="1575" b="0">
                          <a:solidFill>
                            <a:srgbClr val="182C40"/>
                          </a:solidFill>
                          <a:latin typeface="Nimbus Sans"/>
                          <a:ea typeface="Nimbus Sans"/>
                          <a:cs typeface="Nimbus Sans"/>
                        </a:rPr>
                        <a:t>W4 process maps</a:t>
                      </a:r>
                    </a:p>
                    <a:p>
                      <a:pPr algn="l"/>
                      <a:r>
                        <a:rPr sz="1575" b="0">
                          <a:solidFill>
                            <a:srgbClr val="182C40"/>
                          </a:solidFill>
                          <a:latin typeface="Nimbus Sans"/>
                          <a:ea typeface="Nimbus Sans"/>
                          <a:cs typeface="Nimbus Sans"/>
                        </a:rPr>
                        <a:t>Staffing assumptions</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r>
                        <a:rPr sz="1875" b="1">
                          <a:solidFill>
                            <a:srgbClr val="173B5E"/>
                          </a:solidFill>
                          <a:latin typeface="Nimbus Sans"/>
                          <a:ea typeface="Nimbus Sans"/>
                          <a:cs typeface="Nimbus Sans"/>
                        </a:rPr>
                        <a:t>W5</a:t>
                      </a:r>
                    </a:p>
                  </a:txBody>
                  <a:tcPr marL="114300" marR="114300" marT="76200" marB="76200" anchor="t">
                    <a:lnR w="6191">
                      <a:solidFill>
                        <a:srgbClr val="C8D5DF"/>
                      </a:solidFill>
                      <a:prstDash val="solid"/>
                    </a:lnR>
                    <a:lnB w="6191">
                      <a:solidFill>
                        <a:srgbClr val="C8D5DF"/>
                      </a:solidFill>
                      <a:prstDash val="solid"/>
                    </a:lnB>
                    <a:solidFill>
                      <a:srgbClr val="FFFFFF"/>
                    </a:solidFill>
                  </a:tcPr>
                </a:tc>
              </a:tr>
              <a:tr h="1400175">
                <a:tc>
                  <a:txBody>
                    <a:bodyPr/>
                    <a:lstStyle/>
                    <a:p>
                      <a:pPr algn="l"/>
                      <a:r>
                        <a:rPr sz="1725" b="1">
                          <a:solidFill>
                            <a:srgbClr val="173B5E"/>
                          </a:solidFill>
                          <a:latin typeface="Nimbus Sans"/>
                          <a:ea typeface="Nimbus Sans"/>
                          <a:cs typeface="Nimbus Sans"/>
                        </a:rPr>
                        <a:t>InGen unit economics</a:t>
                      </a:r>
                    </a:p>
                  </a:txBody>
                  <a:tcPr marL="114300" marR="114300" marT="76200" marB="76200" anchor="t">
                    <a:lnL w="6191">
                      <a:solidFill>
                        <a:srgbClr val="C8D5DF"/>
                      </a:solidFill>
                      <a:prstDash val="solid"/>
                    </a:lnL>
                    <a:lnR w="6191">
                      <a:solidFill>
                        <a:srgbClr val="C8D5DF"/>
                      </a:solidFill>
                      <a:prstDash val="solid"/>
                    </a:lnR>
                    <a:lnB w="6191">
                      <a:solidFill>
                        <a:srgbClr val="C8D5DF"/>
                      </a:solidFill>
                      <a:prstDash val="solid"/>
                    </a:lnB>
                    <a:solidFill>
                      <a:srgbClr val="FFFFFF"/>
                    </a:solidFill>
                  </a:tcPr>
                </a:tc>
                <a:tc>
                  <a:txBody>
                    <a:bodyPr/>
                    <a:lstStyle/>
                    <a:p>
                      <a:r>
                        <a:rPr sz="1575" b="0">
                          <a:solidFill>
                            <a:srgbClr val="182C40"/>
                          </a:solidFill>
                          <a:latin typeface="Nimbus Sans"/>
                          <a:ea typeface="Nimbus Sans"/>
                          <a:cs typeface="Nimbus Sans"/>
                        </a:rPr>
                        <a:t>RaaS may improve budget fit while increasing InGen’s working-capital needs.</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pPr algn="l"/>
                      <a:r>
                        <a:rPr sz="1575" b="0">
                          <a:solidFill>
                            <a:srgbClr val="182C40"/>
                          </a:solidFill>
                          <a:latin typeface="Nimbus Sans"/>
                          <a:ea typeface="Nimbus Sans"/>
                          <a:cs typeface="Nimbus Sans"/>
                        </a:rPr>
                        <a:t>Compare sale, lease and RaaS cash flow, contribution and CAC payback. Test standalone Sentinel only if readiness permits. Run three scenarios and rank price/cost sensitivities.</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pPr algn="l"/>
                      <a:r>
                        <a:rPr sz="1575" b="0">
                          <a:solidFill>
                            <a:srgbClr val="182C40"/>
                          </a:solidFill>
                          <a:latin typeface="Nimbus Sans"/>
                          <a:ea typeface="Nimbus Sans"/>
                          <a:cs typeface="Nimbus Sans"/>
                        </a:rPr>
                        <a:t>Peer filings; InGen report</a:t>
                      </a:r>
                    </a:p>
                    <a:p>
                      <a:pPr algn="l"/>
                      <a:r>
                        <a:rPr sz="1575" b="0">
                          <a:solidFill>
                            <a:srgbClr val="182C40"/>
                          </a:solidFill>
                          <a:latin typeface="Nimbus Sans"/>
                          <a:ea typeface="Nimbus Sans"/>
                          <a:cs typeface="Nimbus Sans"/>
                        </a:rPr>
                        <a:t>Price, cost and contract assumptions</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r>
                        <a:rPr sz="1875" b="1">
                          <a:solidFill>
                            <a:srgbClr val="173B5E"/>
                          </a:solidFill>
                          <a:latin typeface="Nimbus Sans"/>
                          <a:ea typeface="Nimbus Sans"/>
                          <a:cs typeface="Nimbus Sans"/>
                        </a:rPr>
                        <a:t>W5</a:t>
                      </a:r>
                    </a:p>
                  </a:txBody>
                  <a:tcPr marL="114300" marR="114300" marT="76200" marB="76200" anchor="t">
                    <a:lnR w="6191">
                      <a:solidFill>
                        <a:srgbClr val="C8D5DF"/>
                      </a:solidFill>
                      <a:prstDash val="solid"/>
                    </a:lnR>
                    <a:lnB w="6191">
                      <a:solidFill>
                        <a:srgbClr val="C8D5DF"/>
                      </a:solidFill>
                      <a:prstDash val="solid"/>
                    </a:lnB>
                    <a:solidFill>
                      <a:srgbClr val="FFFFFF"/>
                    </a:solidFill>
                  </a:tcPr>
                </a:tc>
              </a:tr>
              <a:tr h="1400175">
                <a:tc>
                  <a:txBody>
                    <a:bodyPr/>
                    <a:lstStyle/>
                    <a:p>
                      <a:pPr algn="l"/>
                      <a:r>
                        <a:rPr sz="1725" b="1">
                          <a:solidFill>
                            <a:srgbClr val="173B5E"/>
                          </a:solidFill>
                          <a:latin typeface="Nimbus Sans"/>
                          <a:ea typeface="Nimbus Sans"/>
                          <a:cs typeface="Nimbus Sans"/>
                        </a:rPr>
                        <a:t>Adoption and readiness</a:t>
                      </a:r>
                    </a:p>
                  </a:txBody>
                  <a:tcPr marL="114300" marR="114300" marT="76200" marB="76200" anchor="t">
                    <a:lnL w="6191">
                      <a:solidFill>
                        <a:srgbClr val="C8D5DF"/>
                      </a:solidFill>
                      <a:prstDash val="solid"/>
                    </a:lnL>
                    <a:lnR w="6191">
                      <a:solidFill>
                        <a:srgbClr val="C8D5DF"/>
                      </a:solidFill>
                      <a:prstDash val="solid"/>
                    </a:lnR>
                    <a:lnB w="6191">
                      <a:solidFill>
                        <a:srgbClr val="C8D5DF"/>
                      </a:solidFill>
                      <a:prstDash val="solid"/>
                    </a:lnB>
                    <a:solidFill>
                      <a:srgbClr val="FFFFFF"/>
                    </a:solidFill>
                  </a:tcPr>
                </a:tc>
                <a:tc>
                  <a:txBody>
                    <a:bodyPr/>
                    <a:lstStyle/>
                    <a:p>
                      <a:r>
                        <a:rPr sz="1575" b="0">
                          <a:solidFill>
                            <a:srgbClr val="182C40"/>
                          </a:solidFill>
                          <a:latin typeface="Nimbus Sans"/>
                          <a:ea typeface="Nimbus Sans"/>
                          <a:cs typeface="Nimbus Sans"/>
                        </a:rPr>
                        <a:t>Readiness, integration and operating ownership may delay purchase more than awareness.</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pPr algn="l"/>
                      <a:r>
                        <a:rPr sz="1575" b="0">
                          <a:solidFill>
                            <a:srgbClr val="182C40"/>
                          </a:solidFill>
                          <a:latin typeface="Nimbus Sans"/>
                          <a:ea typeface="Nimbus Sans"/>
                          <a:cs typeface="Nimbus Sans"/>
                        </a:rPr>
                        <a:t>Map buyer, SOC user and approver across the buying journey. Define readiness, safety, privacy, VMS integration and human escalation gates in the BRD. Test Rover and Sentinel feasibility.</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pPr algn="l"/>
                      <a:r>
                        <a:rPr sz="1575" b="0">
                          <a:solidFill>
                            <a:srgbClr val="182C40"/>
                          </a:solidFill>
                          <a:latin typeface="Nimbus Sans"/>
                          <a:ea typeface="Nimbus Sans"/>
                          <a:cs typeface="Nimbus Sans"/>
                        </a:rPr>
                        <a:t>InGen portfolio</a:t>
                      </a:r>
                    </a:p>
                    <a:p>
                      <a:pPr algn="l"/>
                      <a:r>
                        <a:rPr sz="1575" b="0">
                          <a:solidFill>
                            <a:srgbClr val="182C40"/>
                          </a:solidFill>
                          <a:latin typeface="Nimbus Sans"/>
                          <a:ea typeface="Nimbus Sans"/>
                          <a:cs typeface="Nimbus Sans"/>
                        </a:rPr>
                        <a:t>Jobs and tender records</a:t>
                      </a:r>
                    </a:p>
                    <a:p>
                      <a:pPr algn="l"/>
                      <a:r>
                        <a:rPr sz="1575" b="0">
                          <a:solidFill>
                            <a:srgbClr val="182C40"/>
                          </a:solidFill>
                          <a:latin typeface="Nimbus Sans"/>
                          <a:ea typeface="Nimbus Sans"/>
                          <a:cs typeface="Nimbus Sans"/>
                        </a:rPr>
                        <a:t>NIST; readiness evidence</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r>
                        <a:rPr sz="1875" b="1">
                          <a:solidFill>
                            <a:srgbClr val="173B5E"/>
                          </a:solidFill>
                          <a:latin typeface="Nimbus Sans"/>
                          <a:ea typeface="Nimbus Sans"/>
                          <a:cs typeface="Nimbus Sans"/>
                        </a:rPr>
                        <a:t>W4</a:t>
                      </a:r>
                    </a:p>
                  </a:txBody>
                  <a:tcPr marL="114300" marR="114300" marT="76200" marB="76200" anchor="t">
                    <a:lnR w="6191">
                      <a:solidFill>
                        <a:srgbClr val="C8D5DF"/>
                      </a:solidFill>
                      <a:prstDash val="solid"/>
                    </a:lnR>
                    <a:lnB w="6191">
                      <a:solidFill>
                        <a:srgbClr val="C8D5DF"/>
                      </a:solidFill>
                      <a:prstDash val="solid"/>
                    </a:lnB>
                    <a:solidFill>
                      <a:srgbClr val="FFFFFF"/>
                    </a:solidFill>
                  </a:tcPr>
                </a:tc>
              </a:tr>
              <a:tr h="1400175">
                <a:tc>
                  <a:txBody>
                    <a:bodyPr/>
                    <a:lstStyle/>
                    <a:p>
                      <a:pPr algn="l"/>
                      <a:r>
                        <a:rPr sz="1725" b="1">
                          <a:solidFill>
                            <a:srgbClr val="173B5E"/>
                          </a:solidFill>
                          <a:latin typeface="Nimbus Sans"/>
                          <a:ea typeface="Nimbus Sans"/>
                          <a:cs typeface="Nimbus Sans"/>
                        </a:rPr>
                        <a:t>Channel and pilot evidence</a:t>
                      </a:r>
                    </a:p>
                  </a:txBody>
                  <a:tcPr marL="114300" marR="114300" marT="76200" marB="76200" anchor="t">
                    <a:lnL w="6191">
                      <a:solidFill>
                        <a:srgbClr val="C8D5DF"/>
                      </a:solidFill>
                      <a:prstDash val="solid"/>
                    </a:lnL>
                    <a:lnR w="6191">
                      <a:solidFill>
                        <a:srgbClr val="C8D5DF"/>
                      </a:solidFill>
                      <a:prstDash val="solid"/>
                    </a:lnR>
                    <a:lnB w="6191">
                      <a:solidFill>
                        <a:srgbClr val="C8D5DF"/>
                      </a:solidFill>
                      <a:prstDash val="solid"/>
                    </a:lnB>
                    <a:solidFill>
                      <a:srgbClr val="FFFFFF"/>
                    </a:solidFill>
                  </a:tcPr>
                </a:tc>
                <a:tc>
                  <a:txBody>
                    <a:bodyPr/>
                    <a:lstStyle/>
                    <a:p>
                      <a:r>
                        <a:rPr sz="1575" b="0">
                          <a:solidFill>
                            <a:srgbClr val="182C40"/>
                          </a:solidFill>
                          <a:latin typeface="Nimbus Sans"/>
                          <a:ea typeface="Nimbus Sans"/>
                          <a:cs typeface="Nimbus Sans"/>
                        </a:rPr>
                        <a:t>An integrator-assisted pilot may ease access if partner costs and delivery permit.</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pPr algn="l"/>
                      <a:r>
                        <a:rPr sz="1575" b="0">
                          <a:solidFill>
                            <a:srgbClr val="182C40"/>
                          </a:solidFill>
                          <a:latin typeface="Nimbus Sans"/>
                          <a:ea typeface="Nimbus Sans"/>
                          <a:cs typeface="Nimbus Sans"/>
                        </a:rPr>
                        <a:t>Compare direct, integrator and guard-service routes on CAC, margin and ownership. Tie 12-week pilot KPIs to customer and InGen economics. Set pass/fail gates and 90-day milestones.</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pPr algn="l"/>
                      <a:r>
                        <a:rPr sz="1575" b="0">
                          <a:solidFill>
                            <a:srgbClr val="182C40"/>
                          </a:solidFill>
                          <a:latin typeface="Nimbus Sans"/>
                          <a:ea typeface="Nimbus Sans"/>
                          <a:cs typeface="Nimbus Sans"/>
                        </a:rPr>
                        <a:t>Earlier analysis results</a:t>
                      </a:r>
                    </a:p>
                    <a:p>
                      <a:pPr algn="l"/>
                      <a:r>
                        <a:rPr sz="1575" b="0">
                          <a:solidFill>
                            <a:srgbClr val="182C40"/>
                          </a:solidFill>
                          <a:latin typeface="Nimbus Sans"/>
                          <a:ea typeface="Nimbus Sans"/>
                          <a:cs typeface="Nimbus Sans"/>
                        </a:rPr>
                        <a:t>Channel evidence</a:t>
                      </a:r>
                    </a:p>
                    <a:p>
                      <a:pPr algn="l"/>
                      <a:r>
                        <a:rPr sz="1575" b="0">
                          <a:solidFill>
                            <a:srgbClr val="182C40"/>
                          </a:solidFill>
                          <a:latin typeface="Nimbus Sans"/>
                          <a:ea typeface="Nimbus Sans"/>
                          <a:cs typeface="Nimbus Sans"/>
                        </a:rPr>
                        <a:t>Sales-capacity assumptions</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r>
                        <a:rPr sz="1875" b="1">
                          <a:solidFill>
                            <a:srgbClr val="173B5E"/>
                          </a:solidFill>
                          <a:latin typeface="Nimbus Sans"/>
                          <a:ea typeface="Nimbus Sans"/>
                          <a:cs typeface="Nimbus Sans"/>
                        </a:rPr>
                        <a:t>W6</a:t>
                      </a:r>
                    </a:p>
                  </a:txBody>
                  <a:tcPr marL="114300" marR="114300" marT="76200" marB="76200" anchor="t">
                    <a:lnR w="6191">
                      <a:solidFill>
                        <a:srgbClr val="C8D5DF"/>
                      </a:solidFill>
                      <a:prstDash val="solid"/>
                    </a:lnR>
                    <a:lnB w="6191">
                      <a:solidFill>
                        <a:srgbClr val="C8D5DF"/>
                      </a:solidFill>
                      <a:prstDash val="solid"/>
                    </a:lnB>
                    <a:solidFill>
                      <a:srgbClr val="FFFFFF"/>
                    </a:solidFill>
                  </a:tcPr>
                </a:tc>
              </a:tr>
            </a:tbl>
          </a:graphicData>
        </a:graphic>
      </p:graphicFrame>
      <p:sp>
        <p:nvSpPr>
          <p:cNvPr id="7" name="text-5">
            <a:extLst xmlns:a="http://schemas.openxmlformats.org/drawingml/2006/main">
              <a:ext uri="{FF2B5EF4-FFF2-40B4-BE49-F238E27FC236}">
                <a16:creationId xmlns:a16="http://schemas.microsoft.com/office/drawing/2014/main" id="{847F7ED2-F9CA-46FA-913D-B9759E513793}"/>
              </a:ext>
            </a:extLst>
          </p:cNvPr>
          <p:cNvSpPr>
            <a:spLocks xmlns:a="http://schemas.openxmlformats.org/drawingml/2006/main" noGrp="1"/>
          </p:cNvSpPr>
          <p:nvPr/>
        </p:nvSpPr>
        <p:spPr>
          <a:xfrm xmlns:a="http://schemas.openxmlformats.org/drawingml/2006/main">
            <a:off x="571500" y="7715250"/>
            <a:ext cx="1409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52677A"/>
                </a:solidFill>
                <a:latin typeface="Nimbus Sans"/>
                <a:ea typeface="Nimbus Sans"/>
                <a:cs typeface="Nimbus Sans"/>
              </a:defRPr>
            </a:defPPr>
            <a:lvl1pPr>
              <a:buNone/>
              <a:defRPr sz="1425" b="0">
                <a:solidFill>
                  <a:srgbClr val="52677A"/>
                </a:solidFill>
                <a:latin typeface="Nimbus Sans"/>
                <a:ea typeface="Nimbus Sans"/>
                <a:cs typeface="Nimbus Sans"/>
              </a:defRPr>
            </a:lvl1pPr>
            <a:lvl2pPr>
              <a:buNone/>
              <a:defRPr sz="1425" b="0">
                <a:solidFill>
                  <a:srgbClr val="52677A"/>
                </a:solidFill>
                <a:latin typeface="Nimbus Sans"/>
                <a:ea typeface="Nimbus Sans"/>
                <a:cs typeface="Nimbus Sans"/>
              </a:defRPr>
            </a:lvl2pPr>
            <a:lvl3pPr>
              <a:buNone/>
              <a:defRPr sz="1425" b="0">
                <a:solidFill>
                  <a:srgbClr val="52677A"/>
                </a:solidFill>
                <a:latin typeface="Nimbus Sans"/>
                <a:ea typeface="Nimbus Sans"/>
                <a:cs typeface="Nimbus Sans"/>
              </a:defRPr>
            </a:lvl3pPr>
            <a:lvl4pPr>
              <a:buNone/>
              <a:defRPr sz="1425" b="0">
                <a:solidFill>
                  <a:srgbClr val="52677A"/>
                </a:solidFill>
                <a:latin typeface="Nimbus Sans"/>
                <a:ea typeface="Nimbus Sans"/>
                <a:cs typeface="Nimbus Sans"/>
              </a:defRPr>
            </a:lvl4pPr>
            <a:lvl5pPr>
              <a:buNone/>
              <a:defRPr sz="1425" b="0">
                <a:solidFill>
                  <a:srgbClr val="52677A"/>
                </a:solidFill>
                <a:latin typeface="Nimbus Sans"/>
                <a:ea typeface="Nimbus Sans"/>
                <a:cs typeface="Nimbus Sans"/>
              </a:defRPr>
            </a:lvl5pPr>
            <a:lvl6pPr>
              <a:buNone/>
              <a:defRPr sz="1425" b="0">
                <a:solidFill>
                  <a:srgbClr val="52677A"/>
                </a:solidFill>
                <a:latin typeface="Nimbus Sans"/>
                <a:ea typeface="Nimbus Sans"/>
                <a:cs typeface="Nimbus Sans"/>
              </a:defRPr>
            </a:lvl6pPr>
            <a:lvl7pPr>
              <a:buNone/>
              <a:defRPr sz="1425" b="0">
                <a:solidFill>
                  <a:srgbClr val="52677A"/>
                </a:solidFill>
                <a:latin typeface="Nimbus Sans"/>
                <a:ea typeface="Nimbus Sans"/>
                <a:cs typeface="Nimbus Sans"/>
              </a:defRPr>
            </a:lvl7pPr>
            <a:lvl8pPr>
              <a:buNone/>
              <a:defRPr sz="1425" b="0">
                <a:solidFill>
                  <a:srgbClr val="52677A"/>
                </a:solidFill>
                <a:latin typeface="Nimbus Sans"/>
                <a:ea typeface="Nimbus Sans"/>
                <a:cs typeface="Nimbus Sans"/>
              </a:defRPr>
            </a:lvl8pPr>
            <a:lvl9pPr>
              <a:buNone/>
              <a:defRPr sz="1425" b="0">
                <a:solidFill>
                  <a:srgbClr val="52677A"/>
                </a:solidFill>
                <a:latin typeface="Nimbus Sans"/>
                <a:ea typeface="Nimbus Sans"/>
                <a:cs typeface="Nimbus Sans"/>
              </a:defRPr>
            </a:lvl9pPr>
          </a:lstStyle>
          <a:p xmlns:a="http://schemas.openxmlformats.org/drawingml/2006/main">
            <a:pPr>
              <a:buNone/>
              <a:defRPr sz="1425" b="0">
                <a:solidFill>
                  <a:srgbClr val="52677A"/>
                </a:solidFill>
                <a:latin typeface="Nimbus Sans"/>
                <a:ea typeface="Nimbus Sans"/>
                <a:cs typeface="Nimbus Sans"/>
              </a:defRPr>
            </a:pPr>
            <a:r>
              <a:rPr sz="1425" b="0">
                <a:solidFill>
                  <a:srgbClr val="52677A"/>
                </a:solidFill>
                <a:latin typeface="Nimbus Sans"/>
                <a:ea typeface="Nimbus Sans"/>
                <a:cs typeface="Nimbus Sans"/>
              </a:rPr>
              <a:t>Pilot evidence sequence: W4 BRD and acceptance criteria, W5 economic sensitivities and KPI targets, W6 proposed pilot terms and rollout decision.</a:t>
            </a:r>
          </a:p>
        </p:txBody>
      </p:sp>
    </p:spTree>
    <p:extLst>
      <p:ext uri="{BB962C8B-B14F-4D97-AF65-F5344CB8AC3E}">
        <p14:creationId xmlns:p14="http://schemas.microsoft.com/office/powerpoint/2010/main" val="15733457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A3312AA4-AAA9-4828-A3AA-2F38FC8792D5}"/>
              </a:ext>
            </a:extLst>
          </p:cNvPr>
          <p:cNvSpPr>
            <a:spLocks xmlns:a="http://schemas.openxmlformats.org/drawingml/2006/main" noGrp="1"/>
          </p:cNvSpPr>
          <p:nvPr/>
        </p:nvSpPr>
        <p:spPr>
          <a:xfrm xmlns:a="http://schemas.openxmlformats.org/drawingml/2006/main">
            <a:off x="571500" y="361950"/>
            <a:ext cx="1409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73B5E"/>
                </a:solidFill>
                <a:latin typeface="Nimbus Sans"/>
                <a:ea typeface="Nimbus Sans"/>
                <a:cs typeface="Nimbus Sans"/>
              </a:defRPr>
            </a:defPPr>
            <a:lvl1pPr>
              <a:buNone/>
              <a:defRPr sz="3225" b="1">
                <a:solidFill>
                  <a:srgbClr val="173B5E"/>
                </a:solidFill>
                <a:latin typeface="Nimbus Sans"/>
                <a:ea typeface="Nimbus Sans"/>
                <a:cs typeface="Nimbus Sans"/>
              </a:defRPr>
            </a:lvl1pPr>
            <a:lvl2pPr>
              <a:buNone/>
              <a:defRPr sz="3225" b="1">
                <a:solidFill>
                  <a:srgbClr val="173B5E"/>
                </a:solidFill>
                <a:latin typeface="Nimbus Sans"/>
                <a:ea typeface="Nimbus Sans"/>
                <a:cs typeface="Nimbus Sans"/>
              </a:defRPr>
            </a:lvl2pPr>
            <a:lvl3pPr>
              <a:buNone/>
              <a:defRPr sz="3225" b="1">
                <a:solidFill>
                  <a:srgbClr val="173B5E"/>
                </a:solidFill>
                <a:latin typeface="Nimbus Sans"/>
                <a:ea typeface="Nimbus Sans"/>
                <a:cs typeface="Nimbus Sans"/>
              </a:defRPr>
            </a:lvl3pPr>
            <a:lvl4pPr>
              <a:buNone/>
              <a:defRPr sz="3225" b="1">
                <a:solidFill>
                  <a:srgbClr val="173B5E"/>
                </a:solidFill>
                <a:latin typeface="Nimbus Sans"/>
                <a:ea typeface="Nimbus Sans"/>
                <a:cs typeface="Nimbus Sans"/>
              </a:defRPr>
            </a:lvl4pPr>
            <a:lvl5pPr>
              <a:buNone/>
              <a:defRPr sz="3225" b="1">
                <a:solidFill>
                  <a:srgbClr val="173B5E"/>
                </a:solidFill>
                <a:latin typeface="Nimbus Sans"/>
                <a:ea typeface="Nimbus Sans"/>
                <a:cs typeface="Nimbus Sans"/>
              </a:defRPr>
            </a:lvl5pPr>
            <a:lvl6pPr>
              <a:buNone/>
              <a:defRPr sz="3225" b="1">
                <a:solidFill>
                  <a:srgbClr val="173B5E"/>
                </a:solidFill>
                <a:latin typeface="Nimbus Sans"/>
                <a:ea typeface="Nimbus Sans"/>
                <a:cs typeface="Nimbus Sans"/>
              </a:defRPr>
            </a:lvl6pPr>
            <a:lvl7pPr>
              <a:buNone/>
              <a:defRPr sz="3225" b="1">
                <a:solidFill>
                  <a:srgbClr val="173B5E"/>
                </a:solidFill>
                <a:latin typeface="Nimbus Sans"/>
                <a:ea typeface="Nimbus Sans"/>
                <a:cs typeface="Nimbus Sans"/>
              </a:defRPr>
            </a:lvl7pPr>
            <a:lvl8pPr>
              <a:buNone/>
              <a:defRPr sz="3225" b="1">
                <a:solidFill>
                  <a:srgbClr val="173B5E"/>
                </a:solidFill>
                <a:latin typeface="Nimbus Sans"/>
                <a:ea typeface="Nimbus Sans"/>
                <a:cs typeface="Nimbus Sans"/>
              </a:defRPr>
            </a:lvl8pPr>
            <a:lvl9pPr>
              <a:buNone/>
              <a:defRPr sz="3225" b="1">
                <a:solidFill>
                  <a:srgbClr val="173B5E"/>
                </a:solidFill>
                <a:latin typeface="Nimbus Sans"/>
                <a:ea typeface="Nimbus Sans"/>
                <a:cs typeface="Nimbus Sans"/>
              </a:defRPr>
            </a:lvl9pPr>
          </a:lstStyle>
          <a:p xmlns:a="http://schemas.openxmlformats.org/drawingml/2006/main">
            <a:pPr>
              <a:buNone/>
              <a:defRPr sz="3225" b="1">
                <a:solidFill>
                  <a:srgbClr val="173B5E"/>
                </a:solidFill>
                <a:latin typeface="Nimbus Sans"/>
                <a:ea typeface="Nimbus Sans"/>
                <a:cs typeface="Nimbus Sans"/>
              </a:defRPr>
            </a:pPr>
            <a:r>
              <a:rPr sz="3225" b="1">
                <a:solidFill>
                  <a:srgbClr val="173B5E"/>
                </a:solidFill>
                <a:latin typeface="Nimbus Sans"/>
                <a:ea typeface="Nimbus Sans"/>
                <a:cs typeface="Nimbus Sans"/>
              </a:rPr>
              <a:t>Six-week workplan and decision gates</a:t>
            </a:r>
          </a:p>
        </p:txBody>
      </p:sp>
      <p:sp>
        <p:nvSpPr>
          <p:cNvPr id="2" name="text-1">
            <a:extLst xmlns:a="http://schemas.openxmlformats.org/drawingml/2006/main">
              <a:ext uri="{FF2B5EF4-FFF2-40B4-BE49-F238E27FC236}">
                <a16:creationId xmlns:a16="http://schemas.microsoft.com/office/drawing/2014/main" id="{7E8FD284-A1E6-4F8C-A1C5-BD58AED170E0}"/>
              </a:ext>
            </a:extLst>
          </p:cNvPr>
          <p:cNvSpPr>
            <a:spLocks xmlns:a="http://schemas.openxmlformats.org/drawingml/2006/main" noGrp="1"/>
          </p:cNvSpPr>
          <p:nvPr/>
        </p:nvSpPr>
        <p:spPr>
          <a:xfrm xmlns:a="http://schemas.openxmlformats.org/drawingml/2006/main">
            <a:off x="571500" y="971550"/>
            <a:ext cx="1409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2677A"/>
                </a:solidFill>
                <a:latin typeface="Nimbus Sans"/>
                <a:ea typeface="Nimbus Sans"/>
                <a:cs typeface="Nimbus Sans"/>
              </a:defRPr>
            </a:defPPr>
            <a:lvl1pPr>
              <a:buNone/>
              <a:defRPr sz="1725" b="0">
                <a:solidFill>
                  <a:srgbClr val="52677A"/>
                </a:solidFill>
                <a:latin typeface="Nimbus Sans"/>
                <a:ea typeface="Nimbus Sans"/>
                <a:cs typeface="Nimbus Sans"/>
              </a:defRPr>
            </a:lvl1pPr>
            <a:lvl2pPr>
              <a:buNone/>
              <a:defRPr sz="1725" b="0">
                <a:solidFill>
                  <a:srgbClr val="52677A"/>
                </a:solidFill>
                <a:latin typeface="Nimbus Sans"/>
                <a:ea typeface="Nimbus Sans"/>
                <a:cs typeface="Nimbus Sans"/>
              </a:defRPr>
            </a:lvl2pPr>
            <a:lvl3pPr>
              <a:buNone/>
              <a:defRPr sz="1725" b="0">
                <a:solidFill>
                  <a:srgbClr val="52677A"/>
                </a:solidFill>
                <a:latin typeface="Nimbus Sans"/>
                <a:ea typeface="Nimbus Sans"/>
                <a:cs typeface="Nimbus Sans"/>
              </a:defRPr>
            </a:lvl3pPr>
            <a:lvl4pPr>
              <a:buNone/>
              <a:defRPr sz="1725" b="0">
                <a:solidFill>
                  <a:srgbClr val="52677A"/>
                </a:solidFill>
                <a:latin typeface="Nimbus Sans"/>
                <a:ea typeface="Nimbus Sans"/>
                <a:cs typeface="Nimbus Sans"/>
              </a:defRPr>
            </a:lvl4pPr>
            <a:lvl5pPr>
              <a:buNone/>
              <a:defRPr sz="1725" b="0">
                <a:solidFill>
                  <a:srgbClr val="52677A"/>
                </a:solidFill>
                <a:latin typeface="Nimbus Sans"/>
                <a:ea typeface="Nimbus Sans"/>
                <a:cs typeface="Nimbus Sans"/>
              </a:defRPr>
            </a:lvl5pPr>
            <a:lvl6pPr>
              <a:buNone/>
              <a:defRPr sz="1725" b="0">
                <a:solidFill>
                  <a:srgbClr val="52677A"/>
                </a:solidFill>
                <a:latin typeface="Nimbus Sans"/>
                <a:ea typeface="Nimbus Sans"/>
                <a:cs typeface="Nimbus Sans"/>
              </a:defRPr>
            </a:lvl6pPr>
            <a:lvl7pPr>
              <a:buNone/>
              <a:defRPr sz="1725" b="0">
                <a:solidFill>
                  <a:srgbClr val="52677A"/>
                </a:solidFill>
                <a:latin typeface="Nimbus Sans"/>
                <a:ea typeface="Nimbus Sans"/>
                <a:cs typeface="Nimbus Sans"/>
              </a:defRPr>
            </a:lvl7pPr>
            <a:lvl8pPr>
              <a:buNone/>
              <a:defRPr sz="1725" b="0">
                <a:solidFill>
                  <a:srgbClr val="52677A"/>
                </a:solidFill>
                <a:latin typeface="Nimbus Sans"/>
                <a:ea typeface="Nimbus Sans"/>
                <a:cs typeface="Nimbus Sans"/>
              </a:defRPr>
            </a:lvl8pPr>
            <a:lvl9pPr>
              <a:buNone/>
              <a:defRPr sz="1725" b="0">
                <a:solidFill>
                  <a:srgbClr val="52677A"/>
                </a:solidFill>
                <a:latin typeface="Nimbus Sans"/>
                <a:ea typeface="Nimbus Sans"/>
                <a:cs typeface="Nimbus Sans"/>
              </a:defRPr>
            </a:lvl9pPr>
          </a:lstStyle>
          <a:p xmlns:a="http://schemas.openxmlformats.org/drawingml/2006/main">
            <a:pPr>
              <a:buNone/>
              <a:defRPr sz="1725" b="0">
                <a:solidFill>
                  <a:srgbClr val="52677A"/>
                </a:solidFill>
                <a:latin typeface="Nimbus Sans"/>
                <a:ea typeface="Nimbus Sans"/>
                <a:cs typeface="Nimbus Sans"/>
              </a:defRPr>
            </a:pPr>
            <a:r>
              <a:rPr sz="1725" b="0">
                <a:solidFill>
                  <a:srgbClr val="52677A"/>
                </a:solidFill>
                <a:latin typeface="Nimbus Sans"/>
                <a:ea typeface="Nimbus Sans"/>
                <a:cs typeface="Nimbus Sans"/>
              </a:rPr>
              <a:t>The same eight questions guide later models and recommendations. Yufei Li maintains the analysis and evidence trail.</a:t>
            </a:r>
          </a:p>
        </p:txBody>
      </p:sp>
      <p:cxnSp>
        <p:nvCxnSpPr>
          <p:cNvPr id="3" name="">
            <a:extLst xmlns:a="http://schemas.openxmlformats.org/drawingml/2006/main">
              <a:ext uri="{FF2B5EF4-FFF2-40B4-BE49-F238E27FC236}">
                <a16:creationId xmlns:a16="http://schemas.microsoft.com/office/drawing/2014/main" id="{265E4559-FECD-44B3-BDD9-E4DE8523E79B}"/>
              </a:ext>
            </a:extLst>
          </p:cNvPr>
          <p:cNvCxnSpPr/>
          <p:nvPr/>
        </p:nvCxnSpPr>
        <p:spPr>
          <a:xfrm xmlns:a="http://schemas.openxmlformats.org/drawingml/2006/main">
            <a:off x="571500" y="8001000"/>
            <a:ext cx="14097000" cy="0"/>
          </a:xfrm>
          <a:prstGeom xmlns:a="http://schemas.openxmlformats.org/drawingml/2006/main" prst="bentConnector4">
            <a:avLst/>
          </a:prstGeom>
          <a:ln xmlns:a="http://schemas.openxmlformats.org/drawingml/2006/main" w="9525">
            <a:solidFill>
              <a:srgbClr val="C8D5DF"/>
            </a:solidFill>
            <a:prstDash val="solid"/>
          </a:ln>
        </p:spPr>
      </p:cxnSp>
      <p:sp>
        <p:nvSpPr>
          <p:cNvPr id="4" name="text-3">
            <a:extLst xmlns:a="http://schemas.openxmlformats.org/drawingml/2006/main">
              <a:ext uri="{FF2B5EF4-FFF2-40B4-BE49-F238E27FC236}">
                <a16:creationId xmlns:a16="http://schemas.microsoft.com/office/drawing/2014/main" id="{14786757-EC7E-41D7-B6F4-9F7B10DBCA10}"/>
              </a:ext>
            </a:extLst>
          </p:cNvPr>
          <p:cNvSpPr>
            <a:spLocks xmlns:a="http://schemas.openxmlformats.org/drawingml/2006/main" noGrp="1"/>
          </p:cNvSpPr>
          <p:nvPr/>
        </p:nvSpPr>
        <p:spPr>
          <a:xfrm xmlns:a="http://schemas.openxmlformats.org/drawingml/2006/main">
            <a:off x="571500" y="8124825"/>
            <a:ext cx="1257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2677A"/>
                </a:solidFill>
                <a:latin typeface="Nimbus Sans"/>
                <a:ea typeface="Nimbus Sans"/>
                <a:cs typeface="Nimbus Sans"/>
              </a:defRPr>
            </a:defPPr>
            <a:lvl1pPr>
              <a:buNone/>
              <a:defRPr sz="1275" b="0">
                <a:solidFill>
                  <a:srgbClr val="52677A"/>
                </a:solidFill>
                <a:latin typeface="Nimbus Sans"/>
                <a:ea typeface="Nimbus Sans"/>
                <a:cs typeface="Nimbus Sans"/>
              </a:defRPr>
            </a:lvl1pPr>
            <a:lvl2pPr>
              <a:buNone/>
              <a:defRPr sz="1275" b="0">
                <a:solidFill>
                  <a:srgbClr val="52677A"/>
                </a:solidFill>
                <a:latin typeface="Nimbus Sans"/>
                <a:ea typeface="Nimbus Sans"/>
                <a:cs typeface="Nimbus Sans"/>
              </a:defRPr>
            </a:lvl2pPr>
            <a:lvl3pPr>
              <a:buNone/>
              <a:defRPr sz="1275" b="0">
                <a:solidFill>
                  <a:srgbClr val="52677A"/>
                </a:solidFill>
                <a:latin typeface="Nimbus Sans"/>
                <a:ea typeface="Nimbus Sans"/>
                <a:cs typeface="Nimbus Sans"/>
              </a:defRPr>
            </a:lvl3pPr>
            <a:lvl4pPr>
              <a:buNone/>
              <a:defRPr sz="1275" b="0">
                <a:solidFill>
                  <a:srgbClr val="52677A"/>
                </a:solidFill>
                <a:latin typeface="Nimbus Sans"/>
                <a:ea typeface="Nimbus Sans"/>
                <a:cs typeface="Nimbus Sans"/>
              </a:defRPr>
            </a:lvl4pPr>
            <a:lvl5pPr>
              <a:buNone/>
              <a:defRPr sz="1275" b="0">
                <a:solidFill>
                  <a:srgbClr val="52677A"/>
                </a:solidFill>
                <a:latin typeface="Nimbus Sans"/>
                <a:ea typeface="Nimbus Sans"/>
                <a:cs typeface="Nimbus Sans"/>
              </a:defRPr>
            </a:lvl5pPr>
            <a:lvl6pPr>
              <a:buNone/>
              <a:defRPr sz="1275" b="0">
                <a:solidFill>
                  <a:srgbClr val="52677A"/>
                </a:solidFill>
                <a:latin typeface="Nimbus Sans"/>
                <a:ea typeface="Nimbus Sans"/>
                <a:cs typeface="Nimbus Sans"/>
              </a:defRPr>
            </a:lvl6pPr>
            <a:lvl7pPr>
              <a:buNone/>
              <a:defRPr sz="1275" b="0">
                <a:solidFill>
                  <a:srgbClr val="52677A"/>
                </a:solidFill>
                <a:latin typeface="Nimbus Sans"/>
                <a:ea typeface="Nimbus Sans"/>
                <a:cs typeface="Nimbus Sans"/>
              </a:defRPr>
            </a:lvl7pPr>
            <a:lvl8pPr>
              <a:buNone/>
              <a:defRPr sz="1275" b="0">
                <a:solidFill>
                  <a:srgbClr val="52677A"/>
                </a:solidFill>
                <a:latin typeface="Nimbus Sans"/>
                <a:ea typeface="Nimbus Sans"/>
                <a:cs typeface="Nimbus Sans"/>
              </a:defRPr>
            </a:lvl8pPr>
            <a:lvl9pPr>
              <a:buNone/>
              <a:defRPr sz="1275" b="0">
                <a:solidFill>
                  <a:srgbClr val="52677A"/>
                </a:solidFill>
                <a:latin typeface="Nimbus Sans"/>
                <a:ea typeface="Nimbus Sans"/>
                <a:cs typeface="Nimbus Sans"/>
              </a:defRPr>
            </a:lvl9pPr>
          </a:lstStyle>
          <a:p xmlns:a="http://schemas.openxmlformats.org/drawingml/2006/main">
            <a:pPr>
              <a:buNone/>
              <a:defRPr sz="1275" b="0">
                <a:solidFill>
                  <a:srgbClr val="52677A"/>
                </a:solidFill>
                <a:latin typeface="Nimbus Sans"/>
                <a:ea typeface="Nimbus Sans"/>
                <a:cs typeface="Nimbus Sans"/>
              </a:defRPr>
            </a:pPr>
            <a:r>
              <a:rPr sz="1275" b="0">
                <a:solidFill>
                  <a:srgbClr val="52677A"/>
                </a:solidFill>
                <a:latin typeface="Nimbus Sans"/>
                <a:ea typeface="Nimbus Sans"/>
                <a:cs typeface="Nimbus Sans"/>
              </a:rPr>
              <a:t>InGen Dynamics   Week 1   Yufei Li   27 October 2026</a:t>
            </a:r>
          </a:p>
        </p:txBody>
      </p:sp>
      <p:sp>
        <p:nvSpPr>
          <p:cNvPr id="5" name="text-4">
            <a:extLst xmlns:a="http://schemas.openxmlformats.org/drawingml/2006/main">
              <a:ext uri="{FF2B5EF4-FFF2-40B4-BE49-F238E27FC236}">
                <a16:creationId xmlns:a16="http://schemas.microsoft.com/office/drawing/2014/main" id="{1C5AC04C-D3B5-4D3B-B936-4C7BEDE7DB3C}"/>
              </a:ext>
            </a:extLst>
          </p:cNvPr>
          <p:cNvSpPr>
            <a:spLocks xmlns:a="http://schemas.openxmlformats.org/drawingml/2006/main" noGrp="1"/>
          </p:cNvSpPr>
          <p:nvPr/>
        </p:nvSpPr>
        <p:spPr>
          <a:xfrm xmlns:a="http://schemas.openxmlformats.org/drawingml/2006/main">
            <a:off x="14097000" y="81057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1">
                <a:solidFill>
                  <a:srgbClr val="173B5E"/>
                </a:solidFill>
                <a:latin typeface="Nimbus Sans"/>
                <a:ea typeface="Nimbus Sans"/>
                <a:cs typeface="Nimbus Sans"/>
              </a:defRPr>
            </a:defPPr>
            <a:lvl1pPr algn="r">
              <a:buNone/>
              <a:defRPr sz="1500" b="1">
                <a:solidFill>
                  <a:srgbClr val="173B5E"/>
                </a:solidFill>
                <a:latin typeface="Nimbus Sans"/>
                <a:ea typeface="Nimbus Sans"/>
                <a:cs typeface="Nimbus Sans"/>
              </a:defRPr>
            </a:lvl1pPr>
            <a:lvl2pPr algn="r">
              <a:buNone/>
              <a:defRPr sz="1500" b="1">
                <a:solidFill>
                  <a:srgbClr val="173B5E"/>
                </a:solidFill>
                <a:latin typeface="Nimbus Sans"/>
                <a:ea typeface="Nimbus Sans"/>
                <a:cs typeface="Nimbus Sans"/>
              </a:defRPr>
            </a:lvl2pPr>
            <a:lvl3pPr algn="r">
              <a:buNone/>
              <a:defRPr sz="1500" b="1">
                <a:solidFill>
                  <a:srgbClr val="173B5E"/>
                </a:solidFill>
                <a:latin typeface="Nimbus Sans"/>
                <a:ea typeface="Nimbus Sans"/>
                <a:cs typeface="Nimbus Sans"/>
              </a:defRPr>
            </a:lvl3pPr>
            <a:lvl4pPr algn="r">
              <a:buNone/>
              <a:defRPr sz="1500" b="1">
                <a:solidFill>
                  <a:srgbClr val="173B5E"/>
                </a:solidFill>
                <a:latin typeface="Nimbus Sans"/>
                <a:ea typeface="Nimbus Sans"/>
                <a:cs typeface="Nimbus Sans"/>
              </a:defRPr>
            </a:lvl4pPr>
            <a:lvl5pPr algn="r">
              <a:buNone/>
              <a:defRPr sz="1500" b="1">
                <a:solidFill>
                  <a:srgbClr val="173B5E"/>
                </a:solidFill>
                <a:latin typeface="Nimbus Sans"/>
                <a:ea typeface="Nimbus Sans"/>
                <a:cs typeface="Nimbus Sans"/>
              </a:defRPr>
            </a:lvl5pPr>
            <a:lvl6pPr algn="r">
              <a:buNone/>
              <a:defRPr sz="1500" b="1">
                <a:solidFill>
                  <a:srgbClr val="173B5E"/>
                </a:solidFill>
                <a:latin typeface="Nimbus Sans"/>
                <a:ea typeface="Nimbus Sans"/>
                <a:cs typeface="Nimbus Sans"/>
              </a:defRPr>
            </a:lvl6pPr>
            <a:lvl7pPr algn="r">
              <a:buNone/>
              <a:defRPr sz="1500" b="1">
                <a:solidFill>
                  <a:srgbClr val="173B5E"/>
                </a:solidFill>
                <a:latin typeface="Nimbus Sans"/>
                <a:ea typeface="Nimbus Sans"/>
                <a:cs typeface="Nimbus Sans"/>
              </a:defRPr>
            </a:lvl7pPr>
            <a:lvl8pPr algn="r">
              <a:buNone/>
              <a:defRPr sz="1500" b="1">
                <a:solidFill>
                  <a:srgbClr val="173B5E"/>
                </a:solidFill>
                <a:latin typeface="Nimbus Sans"/>
                <a:ea typeface="Nimbus Sans"/>
                <a:cs typeface="Nimbus Sans"/>
              </a:defRPr>
            </a:lvl8pPr>
            <a:lvl9pPr algn="r">
              <a:buNone/>
              <a:defRPr sz="1500" b="1">
                <a:solidFill>
                  <a:srgbClr val="173B5E"/>
                </a:solidFill>
                <a:latin typeface="Nimbus Sans"/>
                <a:ea typeface="Nimbus Sans"/>
                <a:cs typeface="Nimbus Sans"/>
              </a:defRPr>
            </a:lvl9pPr>
          </a:lstStyle>
          <a:p xmlns:a="http://schemas.openxmlformats.org/drawingml/2006/main">
            <a:pPr algn="r">
              <a:buNone/>
              <a:defRPr sz="1500" b="1">
                <a:solidFill>
                  <a:srgbClr val="173B5E"/>
                </a:solidFill>
                <a:latin typeface="Nimbus Sans"/>
                <a:ea typeface="Nimbus Sans"/>
                <a:cs typeface="Nimbus Sans"/>
              </a:defRPr>
            </a:pPr>
            <a:r>
              <a:rPr sz="1500" b="1">
                <a:solidFill>
                  <a:srgbClr val="173B5E"/>
                </a:solidFill>
                <a:latin typeface="Nimbus Sans"/>
                <a:ea typeface="Nimbus Sans"/>
                <a:cs typeface="Nimbus Sans"/>
              </a:rPr>
              <a:t>04</a:t>
            </a:r>
          </a:p>
        </p:txBody>
      </p:sp>
      <p:graphicFrame>
        <p:nvGraphicFramePr>
          <p:cNvPr id="6" name="">
            <a:extLst xmlns:a="http://schemas.openxmlformats.org/drawingml/2006/main">
              <a:ext uri="{FF2B5EF4-FFF2-40B4-BE49-F238E27FC236}">
                <a16:creationId xmlns:a16="http://schemas.microsoft.com/office/drawing/2014/main" id="{59507CFC-DB58-4D56-A300-97BE6A92543E}"/>
              </a:ext>
            </a:extLst>
          </p:cNvPr>
          <p:cNvGraphicFramePr/>
          <p:nvPr/>
        </p:nvGraphicFramePr>
        <p:xfrm>
          <a:off xmlns:a="http://schemas.openxmlformats.org/drawingml/2006/main" x="571500" y="1514475"/>
          <a:ext xmlns:a="http://schemas.openxmlformats.org/drawingml/2006/main" cx="9906000" cy="4867275"/>
        </p:xfrm>
        <a:graphic xmlns:a="http://schemas.openxmlformats.org/drawingml/2006/main">
          <a:graphicData uri="http://schemas.openxmlformats.org/drawingml/2006/table">
            <a:tbl>
              <a:tblPr firstRow="0" bandRow="0"/>
              <a:tblGrid>
                <a:gridCol w="857250"/>
                <a:gridCol w="3238500"/>
                <a:gridCol w="3905250"/>
                <a:gridCol w="1905000"/>
              </a:tblGrid>
              <a:tr h="466725">
                <a:tc>
                  <a:txBody>
                    <a:bodyPr/>
                    <a:lstStyle/>
                    <a:p>
                      <a:r>
                        <a:rPr sz="1650" b="1">
                          <a:solidFill>
                            <a:srgbClr val="FFFFFF"/>
                          </a:solidFill>
                          <a:latin typeface="Nimbus Sans"/>
                          <a:ea typeface="Nimbus Sans"/>
                          <a:cs typeface="Nimbus Sans"/>
                        </a:rPr>
                        <a:t>Week</a:t>
                      </a:r>
                    </a:p>
                  </a:txBody>
                  <a:tcPr marL="114300" marR="114300" marT="76200" marB="76200" anchor="t">
                    <a:lnL w="6191">
                      <a:solidFill>
                        <a:srgbClr val="C8D5DF"/>
                      </a:solidFill>
                      <a:prstDash val="solid"/>
                    </a:lnL>
                    <a:lnR w="6191">
                      <a:solidFill>
                        <a:srgbClr val="C8D5DF"/>
                      </a:solidFill>
                      <a:prstDash val="solid"/>
                    </a:lnR>
                    <a:lnT w="6191">
                      <a:solidFill>
                        <a:srgbClr val="C8D5DF"/>
                      </a:solidFill>
                      <a:prstDash val="solid"/>
                    </a:lnT>
                    <a:lnB w="6191">
                      <a:solidFill>
                        <a:srgbClr val="C8D5DF"/>
                      </a:solidFill>
                      <a:prstDash val="solid"/>
                    </a:lnB>
                    <a:solidFill>
                      <a:srgbClr val="173B5E"/>
                    </a:solidFill>
                  </a:tcPr>
                </a:tc>
                <a:tc>
                  <a:txBody>
                    <a:bodyPr/>
                    <a:lstStyle/>
                    <a:p>
                      <a:r>
                        <a:rPr sz="1650" b="1">
                          <a:solidFill>
                            <a:srgbClr val="FFFFFF"/>
                          </a:solidFill>
                          <a:latin typeface="Nimbus Sans"/>
                          <a:ea typeface="Nimbus Sans"/>
                          <a:cs typeface="Nimbus Sans"/>
                        </a:rPr>
                        <a:t>Question / workstream</a:t>
                      </a:r>
                    </a:p>
                  </a:txBody>
                  <a:tcPr marL="114300" marR="114300" marT="76200" marB="76200" anchor="t">
                    <a:lnR w="6191">
                      <a:solidFill>
                        <a:srgbClr val="C8D5DF"/>
                      </a:solidFill>
                      <a:prstDash val="solid"/>
                    </a:lnR>
                    <a:lnT w="6191">
                      <a:solidFill>
                        <a:srgbClr val="C8D5DF"/>
                      </a:solidFill>
                      <a:prstDash val="solid"/>
                    </a:lnT>
                    <a:lnB w="6191">
                      <a:solidFill>
                        <a:srgbClr val="C8D5DF"/>
                      </a:solidFill>
                      <a:prstDash val="solid"/>
                    </a:lnB>
                    <a:solidFill>
                      <a:srgbClr val="173B5E"/>
                    </a:solidFill>
                  </a:tcPr>
                </a:tc>
                <a:tc>
                  <a:txBody>
                    <a:bodyPr/>
                    <a:lstStyle/>
                    <a:p>
                      <a:r>
                        <a:rPr sz="1650" b="1">
                          <a:solidFill>
                            <a:srgbClr val="FFFFFF"/>
                          </a:solidFill>
                          <a:latin typeface="Nimbus Sans"/>
                          <a:ea typeface="Nimbus Sans"/>
                          <a:cs typeface="Nimbus Sans"/>
                        </a:rPr>
                        <a:t>Expected output</a:t>
                      </a:r>
                    </a:p>
                  </a:txBody>
                  <a:tcPr marL="114300" marR="114300" marT="76200" marB="76200" anchor="t">
                    <a:lnR w="6191">
                      <a:solidFill>
                        <a:srgbClr val="C8D5DF"/>
                      </a:solidFill>
                      <a:prstDash val="solid"/>
                    </a:lnR>
                    <a:lnT w="6191">
                      <a:solidFill>
                        <a:srgbClr val="C8D5DF"/>
                      </a:solidFill>
                      <a:prstDash val="solid"/>
                    </a:lnT>
                    <a:lnB w="6191">
                      <a:solidFill>
                        <a:srgbClr val="C8D5DF"/>
                      </a:solidFill>
                      <a:prstDash val="solid"/>
                    </a:lnB>
                    <a:solidFill>
                      <a:srgbClr val="173B5E"/>
                    </a:solidFill>
                  </a:tcPr>
                </a:tc>
                <a:tc>
                  <a:txBody>
                    <a:bodyPr/>
                    <a:lstStyle/>
                    <a:p>
                      <a:r>
                        <a:rPr sz="1650" b="1">
                          <a:solidFill>
                            <a:srgbClr val="FFFFFF"/>
                          </a:solidFill>
                          <a:latin typeface="Nimbus Sans"/>
                          <a:ea typeface="Nimbus Sans"/>
                          <a:cs typeface="Nimbus Sans"/>
                        </a:rPr>
                        <a:t>Decision gate</a:t>
                      </a:r>
                    </a:p>
                  </a:txBody>
                  <a:tcPr marL="114300" marR="114300" marT="76200" marB="76200" anchor="t">
                    <a:lnR w="6191">
                      <a:solidFill>
                        <a:srgbClr val="C8D5DF"/>
                      </a:solidFill>
                      <a:prstDash val="solid"/>
                    </a:lnR>
                    <a:lnT w="6191">
                      <a:solidFill>
                        <a:srgbClr val="C8D5DF"/>
                      </a:solidFill>
                      <a:prstDash val="solid"/>
                    </a:lnT>
                    <a:lnB w="6191">
                      <a:solidFill>
                        <a:srgbClr val="C8D5DF"/>
                      </a:solidFill>
                      <a:prstDash val="solid"/>
                    </a:lnB>
                    <a:solidFill>
                      <a:srgbClr val="173B5E"/>
                    </a:solidFill>
                  </a:tcPr>
                </a:tc>
              </a:tr>
              <a:tr h="733425">
                <a:tc>
                  <a:txBody>
                    <a:bodyPr/>
                    <a:lstStyle/>
                    <a:p>
                      <a:r>
                        <a:rPr sz="1800" b="1">
                          <a:solidFill>
                            <a:srgbClr val="173B5E"/>
                          </a:solidFill>
                          <a:latin typeface="Nimbus Sans"/>
                          <a:ea typeface="Nimbus Sans"/>
                          <a:cs typeface="Nimbus Sans"/>
                        </a:rPr>
                        <a:t>W1</a:t>
                      </a:r>
                    </a:p>
                  </a:txBody>
                  <a:tcPr marL="114300" marR="114300" marT="76200" marB="76200" anchor="t">
                    <a:lnL w="6191">
                      <a:solidFill>
                        <a:srgbClr val="C8D5DF"/>
                      </a:solidFill>
                      <a:prstDash val="solid"/>
                    </a:lnL>
                    <a:lnR w="6191">
                      <a:solidFill>
                        <a:srgbClr val="C8D5DF"/>
                      </a:solidFill>
                      <a:prstDash val="solid"/>
                    </a:lnR>
                    <a:lnB w="6191">
                      <a:solidFill>
                        <a:srgbClr val="C8D5DF"/>
                      </a:solidFill>
                      <a:prstDash val="solid"/>
                    </a:lnB>
                    <a:solidFill>
                      <a:srgbClr val="FFFFFF"/>
                    </a:solidFill>
                  </a:tcPr>
                </a:tc>
                <a:tc>
                  <a:txBody>
                    <a:bodyPr/>
                    <a:lstStyle/>
                    <a:p>
                      <a:r>
                        <a:rPr sz="1575" b="0">
                          <a:solidFill>
                            <a:srgbClr val="182C40"/>
                          </a:solidFill>
                          <a:latin typeface="Nimbus Sans"/>
                          <a:ea typeface="Nimbus Sans"/>
                          <a:cs typeface="Nimbus Sans"/>
                        </a:rPr>
                        <a:t>Five platform profiles, eight-leaf tree and readiness flags</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pPr algn="l"/>
                      <a:r>
                        <a:rPr sz="1575" b="0">
                          <a:solidFill>
                            <a:srgbClr val="182C40"/>
                          </a:solidFill>
                          <a:latin typeface="Nimbus Sans"/>
                          <a:ea typeface="Nimbus Sans"/>
                          <a:cs typeface="Nimbus Sans"/>
                        </a:rPr>
                        <a:t>Brief, issue tree, stakeholder map, evidence registers and weekly log</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r>
                        <a:rPr sz="1575" b="0">
                          <a:solidFill>
                            <a:srgbClr val="182C40"/>
                          </a:solidFill>
                          <a:latin typeface="Nimbus Sans"/>
                          <a:ea typeface="Nimbus Sans"/>
                          <a:cs typeface="Nimbus Sans"/>
                        </a:rPr>
                        <a:t>Scope and evidence gaps</a:t>
                      </a:r>
                    </a:p>
                  </a:txBody>
                  <a:tcPr marL="114300" marR="114300" marT="76200" marB="76200" anchor="t">
                    <a:lnR w="6191">
                      <a:solidFill>
                        <a:srgbClr val="C8D5DF"/>
                      </a:solidFill>
                      <a:prstDash val="solid"/>
                    </a:lnR>
                    <a:lnB w="6191">
                      <a:solidFill>
                        <a:srgbClr val="C8D5DF"/>
                      </a:solidFill>
                      <a:prstDash val="solid"/>
                    </a:lnB>
                    <a:solidFill>
                      <a:srgbClr val="FFFFFF"/>
                    </a:solidFill>
                  </a:tcPr>
                </a:tc>
              </a:tr>
              <a:tr h="733425">
                <a:tc>
                  <a:txBody>
                    <a:bodyPr/>
                    <a:lstStyle/>
                    <a:p>
                      <a:r>
                        <a:rPr sz="1800" b="1">
                          <a:solidFill>
                            <a:srgbClr val="173B5E"/>
                          </a:solidFill>
                          <a:latin typeface="Nimbus Sans"/>
                          <a:ea typeface="Nimbus Sans"/>
                          <a:cs typeface="Nimbus Sans"/>
                        </a:rPr>
                        <a:t>W2</a:t>
                      </a:r>
                    </a:p>
                  </a:txBody>
                  <a:tcPr marL="114300" marR="114300" marT="76200" marB="76200" anchor="t">
                    <a:lnL w="6191">
                      <a:solidFill>
                        <a:srgbClr val="C8D5DF"/>
                      </a:solidFill>
                      <a:prstDash val="solid"/>
                    </a:lnL>
                    <a:lnR w="6191">
                      <a:solidFill>
                        <a:srgbClr val="C8D5DF"/>
                      </a:solidFill>
                      <a:prstDash val="solid"/>
                    </a:lnR>
                    <a:lnB w="6191">
                      <a:solidFill>
                        <a:srgbClr val="C8D5DF"/>
                      </a:solidFill>
                      <a:prstDash val="solid"/>
                    </a:lnB>
                    <a:solidFill>
                      <a:srgbClr val="FFFFFF"/>
                    </a:solidFill>
                  </a:tcPr>
                </a:tc>
                <a:tc>
                  <a:txBody>
                    <a:bodyPr/>
                    <a:lstStyle/>
                    <a:p>
                      <a:pPr algn="l"/>
                      <a:r>
                        <a:rPr sz="1575" b="0">
                          <a:solidFill>
                            <a:srgbClr val="182C40"/>
                          </a:solidFill>
                          <a:latin typeface="Nimbus Sans"/>
                          <a:ea typeface="Nimbus Sans"/>
                          <a:cs typeface="Nimbus Sans"/>
                        </a:rPr>
                        <a:t>Market size and segment tests</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r>
                        <a:rPr sz="1575" b="0">
                          <a:solidFill>
                            <a:srgbClr val="182C40"/>
                          </a:solidFill>
                          <a:latin typeface="Nimbus Sans"/>
                          <a:ea typeface="Nimbus Sans"/>
                          <a:cs typeface="Nimbus Sans"/>
                        </a:rPr>
                        <a:t>Sizing model, weighted segment memo and sensitivity test</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r>
                        <a:rPr sz="1575" b="0">
                          <a:solidFill>
                            <a:srgbClr val="182C40"/>
                          </a:solidFill>
                          <a:latin typeface="Nimbus Sans"/>
                          <a:ea typeface="Nimbus Sans"/>
                          <a:cs typeface="Nimbus Sans"/>
                        </a:rPr>
                        <a:t>Provisional beachhead</a:t>
                      </a:r>
                    </a:p>
                  </a:txBody>
                  <a:tcPr marL="114300" marR="114300" marT="76200" marB="76200" anchor="t">
                    <a:lnR w="6191">
                      <a:solidFill>
                        <a:srgbClr val="C8D5DF"/>
                      </a:solidFill>
                      <a:prstDash val="solid"/>
                    </a:lnR>
                    <a:lnB w="6191">
                      <a:solidFill>
                        <a:srgbClr val="C8D5DF"/>
                      </a:solidFill>
                      <a:prstDash val="solid"/>
                    </a:lnB>
                    <a:solidFill>
                      <a:srgbClr val="FFFFFF"/>
                    </a:solidFill>
                  </a:tcPr>
                </a:tc>
              </a:tr>
              <a:tr h="733425">
                <a:tc>
                  <a:txBody>
                    <a:bodyPr/>
                    <a:lstStyle/>
                    <a:p>
                      <a:r>
                        <a:rPr sz="1800" b="1">
                          <a:solidFill>
                            <a:srgbClr val="173B5E"/>
                          </a:solidFill>
                          <a:latin typeface="Nimbus Sans"/>
                          <a:ea typeface="Nimbus Sans"/>
                          <a:cs typeface="Nimbus Sans"/>
                        </a:rPr>
                        <a:t>W3</a:t>
                      </a:r>
                    </a:p>
                  </a:txBody>
                  <a:tcPr marL="114300" marR="114300" marT="76200" marB="76200" anchor="t">
                    <a:lnL w="6191">
                      <a:solidFill>
                        <a:srgbClr val="C8D5DF"/>
                      </a:solidFill>
                      <a:prstDash val="solid"/>
                    </a:lnL>
                    <a:lnR w="6191">
                      <a:solidFill>
                        <a:srgbClr val="C8D5DF"/>
                      </a:solidFill>
                      <a:prstDash val="solid"/>
                    </a:lnR>
                    <a:lnB w="6191">
                      <a:solidFill>
                        <a:srgbClr val="C8D5DF"/>
                      </a:solidFill>
                      <a:prstDash val="solid"/>
                    </a:lnB>
                    <a:solidFill>
                      <a:srgbClr val="FFFFFF"/>
                    </a:solidFill>
                  </a:tcPr>
                </a:tc>
                <a:tc>
                  <a:txBody>
                    <a:bodyPr/>
                    <a:lstStyle/>
                    <a:p>
                      <a:pPr algn="l"/>
                      <a:r>
                        <a:rPr sz="1575" b="0">
                          <a:solidFill>
                            <a:srgbClr val="182C40"/>
                          </a:solidFill>
                          <a:latin typeface="Nimbus Sans"/>
                          <a:ea typeface="Nimbus Sans"/>
                          <a:cs typeface="Nimbus Sans"/>
                        </a:rPr>
                        <a:t>Alternatives and peer economics</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r>
                        <a:rPr sz="1575" b="0">
                          <a:solidFill>
                            <a:srgbClr val="182C40"/>
                          </a:solidFill>
                          <a:latin typeface="Nimbus Sans"/>
                          <a:ea typeface="Nimbus Sans"/>
                          <a:cs typeface="Nimbus Sans"/>
                        </a:rPr>
                        <a:t>Competitor database and filing benchmark</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r>
                        <a:rPr sz="1575" b="0">
                          <a:solidFill>
                            <a:srgbClr val="182C40"/>
                          </a:solidFill>
                          <a:latin typeface="Nimbus Sans"/>
                          <a:ea typeface="Nimbus Sans"/>
                          <a:cs typeface="Nimbus Sans"/>
                        </a:rPr>
                        <a:t>Midpoint scope review</a:t>
                      </a:r>
                    </a:p>
                  </a:txBody>
                  <a:tcPr marL="114300" marR="114300" marT="76200" marB="76200" anchor="t">
                    <a:lnR w="6191">
                      <a:solidFill>
                        <a:srgbClr val="C8D5DF"/>
                      </a:solidFill>
                      <a:prstDash val="solid"/>
                    </a:lnR>
                    <a:lnB w="6191">
                      <a:solidFill>
                        <a:srgbClr val="C8D5DF"/>
                      </a:solidFill>
                      <a:prstDash val="solid"/>
                    </a:lnB>
                    <a:solidFill>
                      <a:srgbClr val="FFFFFF"/>
                    </a:solidFill>
                  </a:tcPr>
                </a:tc>
              </a:tr>
              <a:tr h="733425">
                <a:tc>
                  <a:txBody>
                    <a:bodyPr/>
                    <a:lstStyle/>
                    <a:p>
                      <a:r>
                        <a:rPr sz="1800" b="1">
                          <a:solidFill>
                            <a:srgbClr val="173B5E"/>
                          </a:solidFill>
                          <a:latin typeface="Nimbus Sans"/>
                          <a:ea typeface="Nimbus Sans"/>
                          <a:cs typeface="Nimbus Sans"/>
                        </a:rPr>
                        <a:t>W4</a:t>
                      </a:r>
                    </a:p>
                  </a:txBody>
                  <a:tcPr marL="114300" marR="114300" marT="76200" marB="76200" anchor="t">
                    <a:lnL w="6191">
                      <a:solidFill>
                        <a:srgbClr val="C8D5DF"/>
                      </a:solidFill>
                      <a:prstDash val="solid"/>
                    </a:lnL>
                    <a:lnR w="6191">
                      <a:solidFill>
                        <a:srgbClr val="C8D5DF"/>
                      </a:solidFill>
                      <a:prstDash val="solid"/>
                    </a:lnR>
                    <a:lnB w="6191">
                      <a:solidFill>
                        <a:srgbClr val="C8D5DF"/>
                      </a:solidFill>
                      <a:prstDash val="solid"/>
                    </a:lnB>
                    <a:solidFill>
                      <a:srgbClr val="FFFFFF"/>
                    </a:solidFill>
                  </a:tcPr>
                </a:tc>
                <a:tc>
                  <a:txBody>
                    <a:bodyPr/>
                    <a:lstStyle/>
                    <a:p>
                      <a:pPr algn="l"/>
                      <a:r>
                        <a:rPr sz="1575" b="0">
                          <a:solidFill>
                            <a:srgbClr val="182C40"/>
                          </a:solidFill>
                          <a:latin typeface="Nimbus Sans"/>
                          <a:ea typeface="Nimbus Sans"/>
                          <a:cs typeface="Nimbus Sans"/>
                        </a:rPr>
                        <a:t>Buyer workflow and adoption gates</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r>
                        <a:rPr sz="1575" b="0">
                          <a:solidFill>
                            <a:srgbClr val="182C40"/>
                          </a:solidFill>
                          <a:latin typeface="Nimbus Sans"/>
                          <a:ea typeface="Nimbus Sans"/>
                          <a:cs typeface="Nimbus Sans"/>
                        </a:rPr>
                        <a:t>Personas, process maps, pilot BRD and Fari secondary test</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r>
                        <a:rPr sz="1575" b="0">
                          <a:solidFill>
                            <a:srgbClr val="182C40"/>
                          </a:solidFill>
                          <a:latin typeface="Nimbus Sans"/>
                          <a:ea typeface="Nimbus Sans"/>
                          <a:cs typeface="Nimbus Sans"/>
                        </a:rPr>
                        <a:t>Pilot requirements</a:t>
                      </a:r>
                    </a:p>
                  </a:txBody>
                  <a:tcPr marL="114300" marR="114300" marT="76200" marB="76200" anchor="t">
                    <a:lnR w="6191">
                      <a:solidFill>
                        <a:srgbClr val="C8D5DF"/>
                      </a:solidFill>
                      <a:prstDash val="solid"/>
                    </a:lnR>
                    <a:lnB w="6191">
                      <a:solidFill>
                        <a:srgbClr val="C8D5DF"/>
                      </a:solidFill>
                      <a:prstDash val="solid"/>
                    </a:lnB>
                    <a:solidFill>
                      <a:srgbClr val="FFFFFF"/>
                    </a:solidFill>
                  </a:tcPr>
                </a:tc>
              </a:tr>
              <a:tr h="733425">
                <a:tc>
                  <a:txBody>
                    <a:bodyPr/>
                    <a:lstStyle/>
                    <a:p>
                      <a:r>
                        <a:rPr sz="1800" b="1">
                          <a:solidFill>
                            <a:srgbClr val="173B5E"/>
                          </a:solidFill>
                          <a:latin typeface="Nimbus Sans"/>
                          <a:ea typeface="Nimbus Sans"/>
                          <a:cs typeface="Nimbus Sans"/>
                        </a:rPr>
                        <a:t>W5</a:t>
                      </a:r>
                    </a:p>
                  </a:txBody>
                  <a:tcPr marL="114300" marR="114300" marT="76200" marB="76200" anchor="t">
                    <a:lnL w="6191">
                      <a:solidFill>
                        <a:srgbClr val="C8D5DF"/>
                      </a:solidFill>
                      <a:prstDash val="solid"/>
                    </a:lnL>
                    <a:lnR w="6191">
                      <a:solidFill>
                        <a:srgbClr val="C8D5DF"/>
                      </a:solidFill>
                      <a:prstDash val="solid"/>
                    </a:lnR>
                    <a:lnB w="6191">
                      <a:solidFill>
                        <a:srgbClr val="C8D5DF"/>
                      </a:solidFill>
                      <a:prstDash val="solid"/>
                    </a:lnB>
                    <a:solidFill>
                      <a:srgbClr val="FFFFFF"/>
                    </a:solidFill>
                  </a:tcPr>
                </a:tc>
                <a:tc>
                  <a:txBody>
                    <a:bodyPr/>
                    <a:lstStyle/>
                    <a:p>
                      <a:pPr algn="l"/>
                      <a:r>
                        <a:rPr sz="1575" b="0">
                          <a:solidFill>
                            <a:srgbClr val="182C40"/>
                          </a:solidFill>
                          <a:latin typeface="Nimbus Sans"/>
                          <a:ea typeface="Nimbus Sans"/>
                          <a:cs typeface="Nimbus Sans"/>
                        </a:rPr>
                        <a:t>Value and commercial-model tests</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r>
                        <a:rPr sz="1575" b="0">
                          <a:solidFill>
                            <a:srgbClr val="182C40"/>
                          </a:solidFill>
                          <a:latin typeface="Nimbus Sans"/>
                          <a:ea typeface="Nimbus Sans"/>
                          <a:cs typeface="Nimbus Sans"/>
                        </a:rPr>
                        <a:t>ROI, unit economics, sensitivities and KPI framework</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r>
                        <a:rPr sz="1575" b="0">
                          <a:solidFill>
                            <a:srgbClr val="182C40"/>
                          </a:solidFill>
                          <a:latin typeface="Nimbus Sans"/>
                          <a:ea typeface="Nimbus Sans"/>
                          <a:cs typeface="Nimbus Sans"/>
                        </a:rPr>
                        <a:t>Proposed proof targets</a:t>
                      </a:r>
                    </a:p>
                  </a:txBody>
                  <a:tcPr marL="114300" marR="114300" marT="76200" marB="76200" anchor="t">
                    <a:lnR w="6191">
                      <a:solidFill>
                        <a:srgbClr val="C8D5DF"/>
                      </a:solidFill>
                      <a:prstDash val="solid"/>
                    </a:lnR>
                    <a:lnB w="6191">
                      <a:solidFill>
                        <a:srgbClr val="C8D5DF"/>
                      </a:solidFill>
                      <a:prstDash val="solid"/>
                    </a:lnB>
                    <a:solidFill>
                      <a:srgbClr val="FFFFFF"/>
                    </a:solidFill>
                  </a:tcPr>
                </a:tc>
              </a:tr>
              <a:tr h="733425">
                <a:tc>
                  <a:txBody>
                    <a:bodyPr/>
                    <a:lstStyle/>
                    <a:p>
                      <a:r>
                        <a:rPr sz="1800" b="1">
                          <a:solidFill>
                            <a:srgbClr val="173B5E"/>
                          </a:solidFill>
                          <a:latin typeface="Nimbus Sans"/>
                          <a:ea typeface="Nimbus Sans"/>
                          <a:cs typeface="Nimbus Sans"/>
                        </a:rPr>
                        <a:t>W6</a:t>
                      </a:r>
                    </a:p>
                  </a:txBody>
                  <a:tcPr marL="114300" marR="114300" marT="76200" marB="76200" anchor="t">
                    <a:lnL w="6191">
                      <a:solidFill>
                        <a:srgbClr val="C8D5DF"/>
                      </a:solidFill>
                      <a:prstDash val="solid"/>
                    </a:lnL>
                    <a:lnR w="6191">
                      <a:solidFill>
                        <a:srgbClr val="C8D5DF"/>
                      </a:solidFill>
                      <a:prstDash val="solid"/>
                    </a:lnR>
                    <a:lnB w="6191">
                      <a:solidFill>
                        <a:srgbClr val="C8D5DF"/>
                      </a:solidFill>
                      <a:prstDash val="solid"/>
                    </a:lnB>
                    <a:solidFill>
                      <a:srgbClr val="FFFFFF"/>
                    </a:solidFill>
                  </a:tcPr>
                </a:tc>
                <a:tc>
                  <a:txBody>
                    <a:bodyPr/>
                    <a:lstStyle/>
                    <a:p>
                      <a:pPr algn="l"/>
                      <a:r>
                        <a:rPr sz="1575" b="0">
                          <a:solidFill>
                            <a:srgbClr val="182C40"/>
                          </a:solidFill>
                          <a:latin typeface="Nimbus Sans"/>
                          <a:ea typeface="Nimbus Sans"/>
                          <a:cs typeface="Nimbus Sans"/>
                        </a:rPr>
                        <a:t>Channel, offer and pilot synthesis</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r>
                        <a:rPr sz="1575" b="0">
                          <a:solidFill>
                            <a:srgbClr val="182C40"/>
                          </a:solidFill>
                          <a:latin typeface="Nimbus Sans"/>
                          <a:ea typeface="Nimbus Sans"/>
                          <a:cs typeface="Nimbus Sans"/>
                        </a:rPr>
                        <a:t>GTM memo and executive recommendation</a:t>
                      </a:r>
                    </a:p>
                  </a:txBody>
                  <a:tcPr marL="114300" marR="114300" marT="76200" marB="76200" anchor="t">
                    <a:lnR w="6191">
                      <a:solidFill>
                        <a:srgbClr val="C8D5DF"/>
                      </a:solidFill>
                      <a:prstDash val="solid"/>
                    </a:lnR>
                    <a:lnB w="6191">
                      <a:solidFill>
                        <a:srgbClr val="C8D5DF"/>
                      </a:solidFill>
                      <a:prstDash val="solid"/>
                    </a:lnB>
                    <a:solidFill>
                      <a:srgbClr val="FFFFFF"/>
                    </a:solidFill>
                  </a:tcPr>
                </a:tc>
                <a:tc>
                  <a:txBody>
                    <a:bodyPr/>
                    <a:lstStyle/>
                    <a:p>
                      <a:r>
                        <a:rPr sz="1575" b="0">
                          <a:solidFill>
                            <a:srgbClr val="182C40"/>
                          </a:solidFill>
                          <a:latin typeface="Nimbus Sans"/>
                          <a:ea typeface="Nimbus Sans"/>
                          <a:cs typeface="Nimbus Sans"/>
                        </a:rPr>
                        <a:t>Launch, revise or defer</a:t>
                      </a:r>
                    </a:p>
                  </a:txBody>
                  <a:tcPr marL="114300" marR="114300" marT="76200" marB="76200" anchor="t">
                    <a:lnR w="6191">
                      <a:solidFill>
                        <a:srgbClr val="C8D5DF"/>
                      </a:solidFill>
                      <a:prstDash val="solid"/>
                    </a:lnR>
                    <a:lnB w="6191">
                      <a:solidFill>
                        <a:srgbClr val="C8D5DF"/>
                      </a:solidFill>
                      <a:prstDash val="solid"/>
                    </a:lnB>
                    <a:solidFill>
                      <a:srgbClr val="FFFFFF"/>
                    </a:solidFill>
                  </a:tcPr>
                </a:tc>
              </a:tr>
            </a:tbl>
          </a:graphicData>
        </a:graphic>
      </p:graphicFrame>
      <p:sp>
        <p:nvSpPr>
          <p:cNvPr id="7" name="text-5">
            <a:extLst xmlns:a="http://schemas.openxmlformats.org/drawingml/2006/main">
              <a:ext uri="{FF2B5EF4-FFF2-40B4-BE49-F238E27FC236}">
                <a16:creationId xmlns:a16="http://schemas.microsoft.com/office/drawing/2014/main" id="{92D70147-68B2-45CD-A562-BB89533C48C4}"/>
              </a:ext>
            </a:extLst>
          </p:cNvPr>
          <p:cNvSpPr>
            <a:spLocks xmlns:a="http://schemas.openxmlformats.org/drawingml/2006/main" noGrp="1"/>
          </p:cNvSpPr>
          <p:nvPr/>
        </p:nvSpPr>
        <p:spPr>
          <a:xfrm xmlns:a="http://schemas.openxmlformats.org/drawingml/2006/main">
            <a:off x="10953750" y="152400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3B5E"/>
                </a:solidFill>
                <a:latin typeface="Nimbus Sans"/>
                <a:ea typeface="Nimbus Sans"/>
                <a:cs typeface="Nimbus Sans"/>
              </a:defRPr>
            </a:defPPr>
            <a:lvl1pPr>
              <a:buNone/>
              <a:defRPr sz="2175" b="1">
                <a:solidFill>
                  <a:srgbClr val="173B5E"/>
                </a:solidFill>
                <a:latin typeface="Nimbus Sans"/>
                <a:ea typeface="Nimbus Sans"/>
                <a:cs typeface="Nimbus Sans"/>
              </a:defRPr>
            </a:lvl1pPr>
            <a:lvl2pPr>
              <a:buNone/>
              <a:defRPr sz="2175" b="1">
                <a:solidFill>
                  <a:srgbClr val="173B5E"/>
                </a:solidFill>
                <a:latin typeface="Nimbus Sans"/>
                <a:ea typeface="Nimbus Sans"/>
                <a:cs typeface="Nimbus Sans"/>
              </a:defRPr>
            </a:lvl2pPr>
            <a:lvl3pPr>
              <a:buNone/>
              <a:defRPr sz="2175" b="1">
                <a:solidFill>
                  <a:srgbClr val="173B5E"/>
                </a:solidFill>
                <a:latin typeface="Nimbus Sans"/>
                <a:ea typeface="Nimbus Sans"/>
                <a:cs typeface="Nimbus Sans"/>
              </a:defRPr>
            </a:lvl3pPr>
            <a:lvl4pPr>
              <a:buNone/>
              <a:defRPr sz="2175" b="1">
                <a:solidFill>
                  <a:srgbClr val="173B5E"/>
                </a:solidFill>
                <a:latin typeface="Nimbus Sans"/>
                <a:ea typeface="Nimbus Sans"/>
                <a:cs typeface="Nimbus Sans"/>
              </a:defRPr>
            </a:lvl4pPr>
            <a:lvl5pPr>
              <a:buNone/>
              <a:defRPr sz="2175" b="1">
                <a:solidFill>
                  <a:srgbClr val="173B5E"/>
                </a:solidFill>
                <a:latin typeface="Nimbus Sans"/>
                <a:ea typeface="Nimbus Sans"/>
                <a:cs typeface="Nimbus Sans"/>
              </a:defRPr>
            </a:lvl5pPr>
            <a:lvl6pPr>
              <a:buNone/>
              <a:defRPr sz="2175" b="1">
                <a:solidFill>
                  <a:srgbClr val="173B5E"/>
                </a:solidFill>
                <a:latin typeface="Nimbus Sans"/>
                <a:ea typeface="Nimbus Sans"/>
                <a:cs typeface="Nimbus Sans"/>
              </a:defRPr>
            </a:lvl6pPr>
            <a:lvl7pPr>
              <a:buNone/>
              <a:defRPr sz="2175" b="1">
                <a:solidFill>
                  <a:srgbClr val="173B5E"/>
                </a:solidFill>
                <a:latin typeface="Nimbus Sans"/>
                <a:ea typeface="Nimbus Sans"/>
                <a:cs typeface="Nimbus Sans"/>
              </a:defRPr>
            </a:lvl7pPr>
            <a:lvl8pPr>
              <a:buNone/>
              <a:defRPr sz="2175" b="1">
                <a:solidFill>
                  <a:srgbClr val="173B5E"/>
                </a:solidFill>
                <a:latin typeface="Nimbus Sans"/>
                <a:ea typeface="Nimbus Sans"/>
                <a:cs typeface="Nimbus Sans"/>
              </a:defRPr>
            </a:lvl8pPr>
            <a:lvl9pPr>
              <a:buNone/>
              <a:defRPr sz="2175" b="1">
                <a:solidFill>
                  <a:srgbClr val="173B5E"/>
                </a:solidFill>
                <a:latin typeface="Nimbus Sans"/>
                <a:ea typeface="Nimbus Sans"/>
                <a:cs typeface="Nimbus Sans"/>
              </a:defRPr>
            </a:lvl9pPr>
          </a:lstStyle>
          <a:p xmlns:a="http://schemas.openxmlformats.org/drawingml/2006/main">
            <a:pPr>
              <a:buNone/>
              <a:defRPr sz="2175" b="1">
                <a:solidFill>
                  <a:srgbClr val="173B5E"/>
                </a:solidFill>
                <a:latin typeface="Nimbus Sans"/>
                <a:ea typeface="Nimbus Sans"/>
                <a:cs typeface="Nimbus Sans"/>
              </a:defRPr>
            </a:pPr>
            <a:r>
              <a:rPr sz="2175" b="1">
                <a:solidFill>
                  <a:srgbClr val="173B5E"/>
                </a:solidFill>
                <a:latin typeface="Nimbus Sans"/>
                <a:ea typeface="Nimbus Sans"/>
                <a:cs typeface="Nimbus Sans"/>
              </a:rPr>
              <a:t>Platform continuity</a:t>
            </a:r>
          </a:p>
        </p:txBody>
      </p:sp>
      <p:sp>
        <p:nvSpPr>
          <p:cNvPr id="8" name="text-6">
            <a:extLst xmlns:a="http://schemas.openxmlformats.org/drawingml/2006/main">
              <a:ext uri="{FF2B5EF4-FFF2-40B4-BE49-F238E27FC236}">
                <a16:creationId xmlns:a16="http://schemas.microsoft.com/office/drawing/2014/main" id="{71AF3929-1A80-4860-A5BA-4F3FD370F085}"/>
              </a:ext>
            </a:extLst>
          </p:cNvPr>
          <p:cNvSpPr>
            <a:spLocks xmlns:a="http://schemas.openxmlformats.org/drawingml/2006/main" noGrp="1"/>
          </p:cNvSpPr>
          <p:nvPr/>
        </p:nvSpPr>
        <p:spPr>
          <a:xfrm xmlns:a="http://schemas.openxmlformats.org/drawingml/2006/main">
            <a:off x="10953750" y="2009775"/>
            <a:ext cx="3714750" cy="1076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182C40"/>
                </a:solidFill>
                <a:latin typeface="Nimbus Sans"/>
                <a:ea typeface="Nimbus Sans"/>
                <a:cs typeface="Nimbus Sans"/>
              </a:defRPr>
            </a:defPPr>
            <a:lvl1pPr>
              <a:buNone/>
              <a:defRPr sz="1800" b="0">
                <a:solidFill>
                  <a:srgbClr val="182C40"/>
                </a:solidFill>
                <a:latin typeface="Nimbus Sans"/>
                <a:ea typeface="Nimbus Sans"/>
                <a:cs typeface="Nimbus Sans"/>
              </a:defRPr>
            </a:lvl1pPr>
            <a:lvl2pPr>
              <a:buNone/>
              <a:defRPr sz="1800" b="0">
                <a:solidFill>
                  <a:srgbClr val="182C40"/>
                </a:solidFill>
                <a:latin typeface="Nimbus Sans"/>
                <a:ea typeface="Nimbus Sans"/>
                <a:cs typeface="Nimbus Sans"/>
              </a:defRPr>
            </a:lvl2pPr>
            <a:lvl3pPr>
              <a:buNone/>
              <a:defRPr sz="1800" b="0">
                <a:solidFill>
                  <a:srgbClr val="182C40"/>
                </a:solidFill>
                <a:latin typeface="Nimbus Sans"/>
                <a:ea typeface="Nimbus Sans"/>
                <a:cs typeface="Nimbus Sans"/>
              </a:defRPr>
            </a:lvl3pPr>
            <a:lvl4pPr>
              <a:buNone/>
              <a:defRPr sz="1800" b="0">
                <a:solidFill>
                  <a:srgbClr val="182C40"/>
                </a:solidFill>
                <a:latin typeface="Nimbus Sans"/>
                <a:ea typeface="Nimbus Sans"/>
                <a:cs typeface="Nimbus Sans"/>
              </a:defRPr>
            </a:lvl4pPr>
            <a:lvl5pPr>
              <a:buNone/>
              <a:defRPr sz="1800" b="0">
                <a:solidFill>
                  <a:srgbClr val="182C40"/>
                </a:solidFill>
                <a:latin typeface="Nimbus Sans"/>
                <a:ea typeface="Nimbus Sans"/>
                <a:cs typeface="Nimbus Sans"/>
              </a:defRPr>
            </a:lvl5pPr>
            <a:lvl6pPr>
              <a:buNone/>
              <a:defRPr sz="1800" b="0">
                <a:solidFill>
                  <a:srgbClr val="182C40"/>
                </a:solidFill>
                <a:latin typeface="Nimbus Sans"/>
                <a:ea typeface="Nimbus Sans"/>
                <a:cs typeface="Nimbus Sans"/>
              </a:defRPr>
            </a:lvl6pPr>
            <a:lvl7pPr>
              <a:buNone/>
              <a:defRPr sz="1800" b="0">
                <a:solidFill>
                  <a:srgbClr val="182C40"/>
                </a:solidFill>
                <a:latin typeface="Nimbus Sans"/>
                <a:ea typeface="Nimbus Sans"/>
                <a:cs typeface="Nimbus Sans"/>
              </a:defRPr>
            </a:lvl7pPr>
            <a:lvl8pPr>
              <a:buNone/>
              <a:defRPr sz="1800" b="0">
                <a:solidFill>
                  <a:srgbClr val="182C40"/>
                </a:solidFill>
                <a:latin typeface="Nimbus Sans"/>
                <a:ea typeface="Nimbus Sans"/>
                <a:cs typeface="Nimbus Sans"/>
              </a:defRPr>
            </a:lvl8pPr>
            <a:lvl9pPr>
              <a:buNone/>
              <a:defRPr sz="1800" b="0">
                <a:solidFill>
                  <a:srgbClr val="182C40"/>
                </a:solidFill>
                <a:latin typeface="Nimbus Sans"/>
                <a:ea typeface="Nimbus Sans"/>
                <a:cs typeface="Nimbus Sans"/>
              </a:defRPr>
            </a:lvl9pPr>
          </a:lstStyle>
          <a:p xmlns:a="http://schemas.openxmlformats.org/drawingml/2006/main">
            <a:pPr>
              <a:buNone/>
              <a:defRPr sz="1800" b="0">
                <a:solidFill>
                  <a:srgbClr val="182C40"/>
                </a:solidFill>
                <a:latin typeface="Nimbus Sans"/>
                <a:ea typeface="Nimbus Sans"/>
                <a:cs typeface="Nimbus Sans"/>
              </a:defRPr>
            </a:pPr>
            <a:r>
              <a:rPr sz="1800" b="0">
                <a:solidFill>
                  <a:srgbClr val="182C40"/>
                </a:solidFill>
                <a:latin typeface="Nimbus Sans"/>
                <a:ea typeface="Nimbus Sans"/>
                <a:cs typeface="Nimbus Sans"/>
              </a:rPr>
              <a:t>Rover remains the main hardware case. Sentinel is the security co-anchor. Its standalone offer remains unverified.</a:t>
            </a:r>
          </a:p>
        </p:txBody>
      </p:sp>
      <p:sp>
        <p:nvSpPr>
          <p:cNvPr id="9" name="text-7">
            <a:extLst xmlns:a="http://schemas.openxmlformats.org/drawingml/2006/main">
              <a:ext uri="{FF2B5EF4-FFF2-40B4-BE49-F238E27FC236}">
                <a16:creationId xmlns:a16="http://schemas.microsoft.com/office/drawing/2014/main" id="{6258E028-E37D-4618-B58F-B69ED2E368B9}"/>
              </a:ext>
            </a:extLst>
          </p:cNvPr>
          <p:cNvSpPr>
            <a:spLocks xmlns:a="http://schemas.openxmlformats.org/drawingml/2006/main" noGrp="1"/>
          </p:cNvSpPr>
          <p:nvPr/>
        </p:nvSpPr>
        <p:spPr>
          <a:xfrm xmlns:a="http://schemas.openxmlformats.org/drawingml/2006/main">
            <a:off x="10953750" y="3209925"/>
            <a:ext cx="3714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182C40"/>
                </a:solidFill>
                <a:latin typeface="Nimbus Sans"/>
                <a:ea typeface="Nimbus Sans"/>
                <a:cs typeface="Nimbus Sans"/>
              </a:defRPr>
            </a:defPPr>
            <a:lvl1pPr>
              <a:buNone/>
              <a:defRPr sz="1800" b="0">
                <a:solidFill>
                  <a:srgbClr val="182C40"/>
                </a:solidFill>
                <a:latin typeface="Nimbus Sans"/>
                <a:ea typeface="Nimbus Sans"/>
                <a:cs typeface="Nimbus Sans"/>
              </a:defRPr>
            </a:lvl1pPr>
            <a:lvl2pPr>
              <a:buNone/>
              <a:defRPr sz="1800" b="0">
                <a:solidFill>
                  <a:srgbClr val="182C40"/>
                </a:solidFill>
                <a:latin typeface="Nimbus Sans"/>
                <a:ea typeface="Nimbus Sans"/>
                <a:cs typeface="Nimbus Sans"/>
              </a:defRPr>
            </a:lvl2pPr>
            <a:lvl3pPr>
              <a:buNone/>
              <a:defRPr sz="1800" b="0">
                <a:solidFill>
                  <a:srgbClr val="182C40"/>
                </a:solidFill>
                <a:latin typeface="Nimbus Sans"/>
                <a:ea typeface="Nimbus Sans"/>
                <a:cs typeface="Nimbus Sans"/>
              </a:defRPr>
            </a:lvl3pPr>
            <a:lvl4pPr>
              <a:buNone/>
              <a:defRPr sz="1800" b="0">
                <a:solidFill>
                  <a:srgbClr val="182C40"/>
                </a:solidFill>
                <a:latin typeface="Nimbus Sans"/>
                <a:ea typeface="Nimbus Sans"/>
                <a:cs typeface="Nimbus Sans"/>
              </a:defRPr>
            </a:lvl4pPr>
            <a:lvl5pPr>
              <a:buNone/>
              <a:defRPr sz="1800" b="0">
                <a:solidFill>
                  <a:srgbClr val="182C40"/>
                </a:solidFill>
                <a:latin typeface="Nimbus Sans"/>
                <a:ea typeface="Nimbus Sans"/>
                <a:cs typeface="Nimbus Sans"/>
              </a:defRPr>
            </a:lvl5pPr>
            <a:lvl6pPr>
              <a:buNone/>
              <a:defRPr sz="1800" b="0">
                <a:solidFill>
                  <a:srgbClr val="182C40"/>
                </a:solidFill>
                <a:latin typeface="Nimbus Sans"/>
                <a:ea typeface="Nimbus Sans"/>
                <a:cs typeface="Nimbus Sans"/>
              </a:defRPr>
            </a:lvl6pPr>
            <a:lvl7pPr>
              <a:buNone/>
              <a:defRPr sz="1800" b="0">
                <a:solidFill>
                  <a:srgbClr val="182C40"/>
                </a:solidFill>
                <a:latin typeface="Nimbus Sans"/>
                <a:ea typeface="Nimbus Sans"/>
                <a:cs typeface="Nimbus Sans"/>
              </a:defRPr>
            </a:lvl7pPr>
            <a:lvl8pPr>
              <a:buNone/>
              <a:defRPr sz="1800" b="0">
                <a:solidFill>
                  <a:srgbClr val="182C40"/>
                </a:solidFill>
                <a:latin typeface="Nimbus Sans"/>
                <a:ea typeface="Nimbus Sans"/>
                <a:cs typeface="Nimbus Sans"/>
              </a:defRPr>
            </a:lvl8pPr>
            <a:lvl9pPr>
              <a:buNone/>
              <a:defRPr sz="1800" b="0">
                <a:solidFill>
                  <a:srgbClr val="182C40"/>
                </a:solidFill>
                <a:latin typeface="Nimbus Sans"/>
                <a:ea typeface="Nimbus Sans"/>
                <a:cs typeface="Nimbus Sans"/>
              </a:defRPr>
            </a:lvl9pPr>
          </a:lstStyle>
          <a:p xmlns:a="http://schemas.openxmlformats.org/drawingml/2006/main">
            <a:pPr>
              <a:buNone/>
              <a:defRPr sz="1800" b="0">
                <a:solidFill>
                  <a:srgbClr val="182C40"/>
                </a:solidFill>
                <a:latin typeface="Nimbus Sans"/>
                <a:ea typeface="Nimbus Sans"/>
                <a:cs typeface="Nimbus Sans"/>
              </a:defRPr>
            </a:pPr>
            <a:r>
              <a:rPr sz="1800" b="0">
                <a:solidFill>
                  <a:srgbClr val="182C40"/>
                </a:solidFill>
                <a:latin typeface="Nimbus Sans"/>
                <a:ea typeface="Nimbus Sans"/>
                <a:cs typeface="Nimbus Sans"/>
              </a:rPr>
              <a:t>Fari is a provisional senior-living test in W4, subject to scope confirmation. Senpai and Humanoid remain W6 options.</a:t>
            </a:r>
          </a:p>
        </p:txBody>
      </p:sp>
      <p:sp>
        <p:nvSpPr>
          <p:cNvPr id="10" name="text-8">
            <a:extLst xmlns:a="http://schemas.openxmlformats.org/drawingml/2006/main">
              <a:ext uri="{FF2B5EF4-FFF2-40B4-BE49-F238E27FC236}">
                <a16:creationId xmlns:a16="http://schemas.microsoft.com/office/drawing/2014/main" id="{E1D49141-29F6-4909-989D-B704ADDFA846}"/>
              </a:ext>
            </a:extLst>
          </p:cNvPr>
          <p:cNvSpPr>
            <a:spLocks xmlns:a="http://schemas.openxmlformats.org/drawingml/2006/main" noGrp="1"/>
          </p:cNvSpPr>
          <p:nvPr/>
        </p:nvSpPr>
        <p:spPr>
          <a:xfrm xmlns:a="http://schemas.openxmlformats.org/drawingml/2006/main">
            <a:off x="10953750" y="4524375"/>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3B5E"/>
                </a:solidFill>
                <a:latin typeface="Nimbus Sans"/>
                <a:ea typeface="Nimbus Sans"/>
                <a:cs typeface="Nimbus Sans"/>
              </a:defRPr>
            </a:defPPr>
            <a:lvl1pPr>
              <a:buNone/>
              <a:defRPr sz="2175" b="1">
                <a:solidFill>
                  <a:srgbClr val="173B5E"/>
                </a:solidFill>
                <a:latin typeface="Nimbus Sans"/>
                <a:ea typeface="Nimbus Sans"/>
                <a:cs typeface="Nimbus Sans"/>
              </a:defRPr>
            </a:lvl1pPr>
            <a:lvl2pPr>
              <a:buNone/>
              <a:defRPr sz="2175" b="1">
                <a:solidFill>
                  <a:srgbClr val="173B5E"/>
                </a:solidFill>
                <a:latin typeface="Nimbus Sans"/>
                <a:ea typeface="Nimbus Sans"/>
                <a:cs typeface="Nimbus Sans"/>
              </a:defRPr>
            </a:lvl2pPr>
            <a:lvl3pPr>
              <a:buNone/>
              <a:defRPr sz="2175" b="1">
                <a:solidFill>
                  <a:srgbClr val="173B5E"/>
                </a:solidFill>
                <a:latin typeface="Nimbus Sans"/>
                <a:ea typeface="Nimbus Sans"/>
                <a:cs typeface="Nimbus Sans"/>
              </a:defRPr>
            </a:lvl3pPr>
            <a:lvl4pPr>
              <a:buNone/>
              <a:defRPr sz="2175" b="1">
                <a:solidFill>
                  <a:srgbClr val="173B5E"/>
                </a:solidFill>
                <a:latin typeface="Nimbus Sans"/>
                <a:ea typeface="Nimbus Sans"/>
                <a:cs typeface="Nimbus Sans"/>
              </a:defRPr>
            </a:lvl4pPr>
            <a:lvl5pPr>
              <a:buNone/>
              <a:defRPr sz="2175" b="1">
                <a:solidFill>
                  <a:srgbClr val="173B5E"/>
                </a:solidFill>
                <a:latin typeface="Nimbus Sans"/>
                <a:ea typeface="Nimbus Sans"/>
                <a:cs typeface="Nimbus Sans"/>
              </a:defRPr>
            </a:lvl5pPr>
            <a:lvl6pPr>
              <a:buNone/>
              <a:defRPr sz="2175" b="1">
                <a:solidFill>
                  <a:srgbClr val="173B5E"/>
                </a:solidFill>
                <a:latin typeface="Nimbus Sans"/>
                <a:ea typeface="Nimbus Sans"/>
                <a:cs typeface="Nimbus Sans"/>
              </a:defRPr>
            </a:lvl6pPr>
            <a:lvl7pPr>
              <a:buNone/>
              <a:defRPr sz="2175" b="1">
                <a:solidFill>
                  <a:srgbClr val="173B5E"/>
                </a:solidFill>
                <a:latin typeface="Nimbus Sans"/>
                <a:ea typeface="Nimbus Sans"/>
                <a:cs typeface="Nimbus Sans"/>
              </a:defRPr>
            </a:lvl7pPr>
            <a:lvl8pPr>
              <a:buNone/>
              <a:defRPr sz="2175" b="1">
                <a:solidFill>
                  <a:srgbClr val="173B5E"/>
                </a:solidFill>
                <a:latin typeface="Nimbus Sans"/>
                <a:ea typeface="Nimbus Sans"/>
                <a:cs typeface="Nimbus Sans"/>
              </a:defRPr>
            </a:lvl8pPr>
            <a:lvl9pPr>
              <a:buNone/>
              <a:defRPr sz="2175" b="1">
                <a:solidFill>
                  <a:srgbClr val="173B5E"/>
                </a:solidFill>
                <a:latin typeface="Nimbus Sans"/>
                <a:ea typeface="Nimbus Sans"/>
                <a:cs typeface="Nimbus Sans"/>
              </a:defRPr>
            </a:lvl9pPr>
          </a:lstStyle>
          <a:p xmlns:a="http://schemas.openxmlformats.org/drawingml/2006/main">
            <a:pPr>
              <a:buNone/>
              <a:defRPr sz="2175" b="1">
                <a:solidFill>
                  <a:srgbClr val="173B5E"/>
                </a:solidFill>
                <a:latin typeface="Nimbus Sans"/>
                <a:ea typeface="Nimbus Sans"/>
                <a:cs typeface="Nimbus Sans"/>
              </a:defRPr>
            </a:pPr>
            <a:r>
              <a:rPr sz="2175" b="1">
                <a:solidFill>
                  <a:srgbClr val="173B5E"/>
                </a:solidFill>
                <a:latin typeface="Nimbus Sans"/>
                <a:ea typeface="Nimbus Sans"/>
                <a:cs typeface="Nimbus Sans"/>
              </a:rPr>
              <a:t>Decision discipline</a:t>
            </a:r>
          </a:p>
        </p:txBody>
      </p:sp>
      <p:sp>
        <p:nvSpPr>
          <p:cNvPr id="11" name="text-9">
            <a:extLst xmlns:a="http://schemas.openxmlformats.org/drawingml/2006/main">
              <a:ext uri="{FF2B5EF4-FFF2-40B4-BE49-F238E27FC236}">
                <a16:creationId xmlns:a16="http://schemas.microsoft.com/office/drawing/2014/main" id="{2FE52A3A-F082-4D60-8ED9-881A5F81B3DE}"/>
              </a:ext>
            </a:extLst>
          </p:cNvPr>
          <p:cNvSpPr>
            <a:spLocks xmlns:a="http://schemas.openxmlformats.org/drawingml/2006/main" noGrp="1"/>
          </p:cNvSpPr>
          <p:nvPr/>
        </p:nvSpPr>
        <p:spPr>
          <a:xfrm xmlns:a="http://schemas.openxmlformats.org/drawingml/2006/main">
            <a:off x="10953750" y="5010150"/>
            <a:ext cx="3714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182C40"/>
                </a:solidFill>
                <a:latin typeface="Nimbus Sans"/>
                <a:ea typeface="Nimbus Sans"/>
                <a:cs typeface="Nimbus Sans"/>
              </a:defRPr>
            </a:defPPr>
            <a:lvl1pPr>
              <a:buNone/>
              <a:defRPr sz="1800" b="0">
                <a:solidFill>
                  <a:srgbClr val="182C40"/>
                </a:solidFill>
                <a:latin typeface="Nimbus Sans"/>
                <a:ea typeface="Nimbus Sans"/>
                <a:cs typeface="Nimbus Sans"/>
              </a:defRPr>
            </a:lvl1pPr>
            <a:lvl2pPr>
              <a:buNone/>
              <a:defRPr sz="1800" b="0">
                <a:solidFill>
                  <a:srgbClr val="182C40"/>
                </a:solidFill>
                <a:latin typeface="Nimbus Sans"/>
                <a:ea typeface="Nimbus Sans"/>
                <a:cs typeface="Nimbus Sans"/>
              </a:defRPr>
            </a:lvl2pPr>
            <a:lvl3pPr>
              <a:buNone/>
              <a:defRPr sz="1800" b="0">
                <a:solidFill>
                  <a:srgbClr val="182C40"/>
                </a:solidFill>
                <a:latin typeface="Nimbus Sans"/>
                <a:ea typeface="Nimbus Sans"/>
                <a:cs typeface="Nimbus Sans"/>
              </a:defRPr>
            </a:lvl3pPr>
            <a:lvl4pPr>
              <a:buNone/>
              <a:defRPr sz="1800" b="0">
                <a:solidFill>
                  <a:srgbClr val="182C40"/>
                </a:solidFill>
                <a:latin typeface="Nimbus Sans"/>
                <a:ea typeface="Nimbus Sans"/>
                <a:cs typeface="Nimbus Sans"/>
              </a:defRPr>
            </a:lvl4pPr>
            <a:lvl5pPr>
              <a:buNone/>
              <a:defRPr sz="1800" b="0">
                <a:solidFill>
                  <a:srgbClr val="182C40"/>
                </a:solidFill>
                <a:latin typeface="Nimbus Sans"/>
                <a:ea typeface="Nimbus Sans"/>
                <a:cs typeface="Nimbus Sans"/>
              </a:defRPr>
            </a:lvl5pPr>
            <a:lvl6pPr>
              <a:buNone/>
              <a:defRPr sz="1800" b="0">
                <a:solidFill>
                  <a:srgbClr val="182C40"/>
                </a:solidFill>
                <a:latin typeface="Nimbus Sans"/>
                <a:ea typeface="Nimbus Sans"/>
                <a:cs typeface="Nimbus Sans"/>
              </a:defRPr>
            </a:lvl6pPr>
            <a:lvl7pPr>
              <a:buNone/>
              <a:defRPr sz="1800" b="0">
                <a:solidFill>
                  <a:srgbClr val="182C40"/>
                </a:solidFill>
                <a:latin typeface="Nimbus Sans"/>
                <a:ea typeface="Nimbus Sans"/>
                <a:cs typeface="Nimbus Sans"/>
              </a:defRPr>
            </a:lvl7pPr>
            <a:lvl8pPr>
              <a:buNone/>
              <a:defRPr sz="1800" b="0">
                <a:solidFill>
                  <a:srgbClr val="182C40"/>
                </a:solidFill>
                <a:latin typeface="Nimbus Sans"/>
                <a:ea typeface="Nimbus Sans"/>
                <a:cs typeface="Nimbus Sans"/>
              </a:defRPr>
            </a:lvl8pPr>
            <a:lvl9pPr>
              <a:buNone/>
              <a:defRPr sz="1800" b="0">
                <a:solidFill>
                  <a:srgbClr val="182C40"/>
                </a:solidFill>
                <a:latin typeface="Nimbus Sans"/>
                <a:ea typeface="Nimbus Sans"/>
                <a:cs typeface="Nimbus Sans"/>
              </a:defRPr>
            </a:lvl9pPr>
          </a:lstStyle>
          <a:p xmlns:a="http://schemas.openxmlformats.org/drawingml/2006/main">
            <a:pPr>
              <a:buNone/>
              <a:defRPr sz="1800" b="0">
                <a:solidFill>
                  <a:srgbClr val="182C40"/>
                </a:solidFill>
                <a:latin typeface="Nimbus Sans"/>
                <a:ea typeface="Nimbus Sans"/>
                <a:cs typeface="Nimbus Sans"/>
              </a:defRPr>
            </a:pPr>
            <a:r>
              <a:rPr sz="1800" b="0">
                <a:solidFill>
                  <a:srgbClr val="182C40"/>
                </a:solidFill>
                <a:latin typeface="Nimbus Sans"/>
                <a:ea typeface="Nimbus Sans"/>
                <a:cs typeface="Nimbus Sans"/>
              </a:rPr>
              <a:t>The W3 review can change scope. Missing readiness or economic evidence can support a defer decision in W6.</a:t>
            </a:r>
          </a:p>
        </p:txBody>
      </p:sp>
      <p:sp>
        <p:nvSpPr>
          <p:cNvPr id="12" name="text-10">
            <a:extLst xmlns:a="http://schemas.openxmlformats.org/drawingml/2006/main">
              <a:ext uri="{FF2B5EF4-FFF2-40B4-BE49-F238E27FC236}">
                <a16:creationId xmlns:a16="http://schemas.microsoft.com/office/drawing/2014/main" id="{C51C1531-43B5-4692-B75A-68EB2B19D2A0}"/>
              </a:ext>
            </a:extLst>
          </p:cNvPr>
          <p:cNvSpPr>
            <a:spLocks xmlns:a="http://schemas.openxmlformats.org/drawingml/2006/main" noGrp="1"/>
          </p:cNvSpPr>
          <p:nvPr/>
        </p:nvSpPr>
        <p:spPr>
          <a:xfrm xmlns:a="http://schemas.openxmlformats.org/drawingml/2006/main">
            <a:off x="571500" y="6619875"/>
            <a:ext cx="1409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3B5E"/>
                </a:solidFill>
                <a:latin typeface="Nimbus Sans"/>
                <a:ea typeface="Nimbus Sans"/>
                <a:cs typeface="Nimbus Sans"/>
              </a:defRPr>
            </a:defPPr>
            <a:lvl1pPr>
              <a:buNone/>
              <a:defRPr sz="2175" b="1">
                <a:solidFill>
                  <a:srgbClr val="173B5E"/>
                </a:solidFill>
                <a:latin typeface="Nimbus Sans"/>
                <a:ea typeface="Nimbus Sans"/>
                <a:cs typeface="Nimbus Sans"/>
              </a:defRPr>
            </a:lvl1pPr>
            <a:lvl2pPr>
              <a:buNone/>
              <a:defRPr sz="2175" b="1">
                <a:solidFill>
                  <a:srgbClr val="173B5E"/>
                </a:solidFill>
                <a:latin typeface="Nimbus Sans"/>
                <a:ea typeface="Nimbus Sans"/>
                <a:cs typeface="Nimbus Sans"/>
              </a:defRPr>
            </a:lvl2pPr>
            <a:lvl3pPr>
              <a:buNone/>
              <a:defRPr sz="2175" b="1">
                <a:solidFill>
                  <a:srgbClr val="173B5E"/>
                </a:solidFill>
                <a:latin typeface="Nimbus Sans"/>
                <a:ea typeface="Nimbus Sans"/>
                <a:cs typeface="Nimbus Sans"/>
              </a:defRPr>
            </a:lvl3pPr>
            <a:lvl4pPr>
              <a:buNone/>
              <a:defRPr sz="2175" b="1">
                <a:solidFill>
                  <a:srgbClr val="173B5E"/>
                </a:solidFill>
                <a:latin typeface="Nimbus Sans"/>
                <a:ea typeface="Nimbus Sans"/>
                <a:cs typeface="Nimbus Sans"/>
              </a:defRPr>
            </a:lvl4pPr>
            <a:lvl5pPr>
              <a:buNone/>
              <a:defRPr sz="2175" b="1">
                <a:solidFill>
                  <a:srgbClr val="173B5E"/>
                </a:solidFill>
                <a:latin typeface="Nimbus Sans"/>
                <a:ea typeface="Nimbus Sans"/>
                <a:cs typeface="Nimbus Sans"/>
              </a:defRPr>
            </a:lvl5pPr>
            <a:lvl6pPr>
              <a:buNone/>
              <a:defRPr sz="2175" b="1">
                <a:solidFill>
                  <a:srgbClr val="173B5E"/>
                </a:solidFill>
                <a:latin typeface="Nimbus Sans"/>
                <a:ea typeface="Nimbus Sans"/>
                <a:cs typeface="Nimbus Sans"/>
              </a:defRPr>
            </a:lvl6pPr>
            <a:lvl7pPr>
              <a:buNone/>
              <a:defRPr sz="2175" b="1">
                <a:solidFill>
                  <a:srgbClr val="173B5E"/>
                </a:solidFill>
                <a:latin typeface="Nimbus Sans"/>
                <a:ea typeface="Nimbus Sans"/>
                <a:cs typeface="Nimbus Sans"/>
              </a:defRPr>
            </a:lvl7pPr>
            <a:lvl8pPr>
              <a:buNone/>
              <a:defRPr sz="2175" b="1">
                <a:solidFill>
                  <a:srgbClr val="173B5E"/>
                </a:solidFill>
                <a:latin typeface="Nimbus Sans"/>
                <a:ea typeface="Nimbus Sans"/>
                <a:cs typeface="Nimbus Sans"/>
              </a:defRPr>
            </a:lvl8pPr>
            <a:lvl9pPr>
              <a:buNone/>
              <a:defRPr sz="2175" b="1">
                <a:solidFill>
                  <a:srgbClr val="173B5E"/>
                </a:solidFill>
                <a:latin typeface="Nimbus Sans"/>
                <a:ea typeface="Nimbus Sans"/>
                <a:cs typeface="Nimbus Sans"/>
              </a:defRPr>
            </a:lvl9pPr>
          </a:lstStyle>
          <a:p xmlns:a="http://schemas.openxmlformats.org/drawingml/2006/main">
            <a:pPr>
              <a:buNone/>
              <a:defRPr sz="2175" b="1">
                <a:solidFill>
                  <a:srgbClr val="173B5E"/>
                </a:solidFill>
                <a:latin typeface="Nimbus Sans"/>
                <a:ea typeface="Nimbus Sans"/>
                <a:cs typeface="Nimbus Sans"/>
              </a:defRPr>
            </a:pPr>
            <a:r>
              <a:rPr sz="2175" b="1">
                <a:solidFill>
                  <a:srgbClr val="173B5E"/>
                </a:solidFill>
                <a:latin typeface="Nimbus Sans"/>
                <a:ea typeface="Nimbus Sans"/>
                <a:cs typeface="Nimbus Sans"/>
              </a:rPr>
              <a:t>Shared evidence and assumptions</a:t>
            </a:r>
          </a:p>
        </p:txBody>
      </p:sp>
      <p:sp>
        <p:nvSpPr>
          <p:cNvPr id="13" name="text-11">
            <a:extLst xmlns:a="http://schemas.openxmlformats.org/drawingml/2006/main">
              <a:ext uri="{FF2B5EF4-FFF2-40B4-BE49-F238E27FC236}">
                <a16:creationId xmlns:a16="http://schemas.microsoft.com/office/drawing/2014/main" id="{5A2DE07A-D932-4211-9121-AA94A19EA623}"/>
              </a:ext>
            </a:extLst>
          </p:cNvPr>
          <p:cNvSpPr>
            <a:spLocks xmlns:a="http://schemas.openxmlformats.org/drawingml/2006/main" noGrp="1"/>
          </p:cNvSpPr>
          <p:nvPr/>
        </p:nvSpPr>
        <p:spPr>
          <a:xfrm xmlns:a="http://schemas.openxmlformats.org/drawingml/2006/main">
            <a:off x="571500" y="7048500"/>
            <a:ext cx="14097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182C40"/>
                </a:solidFill>
                <a:latin typeface="Nimbus Sans"/>
                <a:ea typeface="Nimbus Sans"/>
                <a:cs typeface="Nimbus Sans"/>
              </a:defRPr>
            </a:defPPr>
            <a:lvl1pPr>
              <a:buNone/>
              <a:defRPr sz="1725" b="0">
                <a:solidFill>
                  <a:srgbClr val="182C40"/>
                </a:solidFill>
                <a:latin typeface="Nimbus Sans"/>
                <a:ea typeface="Nimbus Sans"/>
                <a:cs typeface="Nimbus Sans"/>
              </a:defRPr>
            </a:lvl1pPr>
            <a:lvl2pPr>
              <a:buNone/>
              <a:defRPr sz="1725" b="0">
                <a:solidFill>
                  <a:srgbClr val="182C40"/>
                </a:solidFill>
                <a:latin typeface="Nimbus Sans"/>
                <a:ea typeface="Nimbus Sans"/>
                <a:cs typeface="Nimbus Sans"/>
              </a:defRPr>
            </a:lvl2pPr>
            <a:lvl3pPr>
              <a:buNone/>
              <a:defRPr sz="1725" b="0">
                <a:solidFill>
                  <a:srgbClr val="182C40"/>
                </a:solidFill>
                <a:latin typeface="Nimbus Sans"/>
                <a:ea typeface="Nimbus Sans"/>
                <a:cs typeface="Nimbus Sans"/>
              </a:defRPr>
            </a:lvl3pPr>
            <a:lvl4pPr>
              <a:buNone/>
              <a:defRPr sz="1725" b="0">
                <a:solidFill>
                  <a:srgbClr val="182C40"/>
                </a:solidFill>
                <a:latin typeface="Nimbus Sans"/>
                <a:ea typeface="Nimbus Sans"/>
                <a:cs typeface="Nimbus Sans"/>
              </a:defRPr>
            </a:lvl4pPr>
            <a:lvl5pPr>
              <a:buNone/>
              <a:defRPr sz="1725" b="0">
                <a:solidFill>
                  <a:srgbClr val="182C40"/>
                </a:solidFill>
                <a:latin typeface="Nimbus Sans"/>
                <a:ea typeface="Nimbus Sans"/>
                <a:cs typeface="Nimbus Sans"/>
              </a:defRPr>
            </a:lvl5pPr>
            <a:lvl6pPr>
              <a:buNone/>
              <a:defRPr sz="1725" b="0">
                <a:solidFill>
                  <a:srgbClr val="182C40"/>
                </a:solidFill>
                <a:latin typeface="Nimbus Sans"/>
                <a:ea typeface="Nimbus Sans"/>
                <a:cs typeface="Nimbus Sans"/>
              </a:defRPr>
            </a:lvl6pPr>
            <a:lvl7pPr>
              <a:buNone/>
              <a:defRPr sz="1725" b="0">
                <a:solidFill>
                  <a:srgbClr val="182C40"/>
                </a:solidFill>
                <a:latin typeface="Nimbus Sans"/>
                <a:ea typeface="Nimbus Sans"/>
                <a:cs typeface="Nimbus Sans"/>
              </a:defRPr>
            </a:lvl7pPr>
            <a:lvl8pPr>
              <a:buNone/>
              <a:defRPr sz="1725" b="0">
                <a:solidFill>
                  <a:srgbClr val="182C40"/>
                </a:solidFill>
                <a:latin typeface="Nimbus Sans"/>
                <a:ea typeface="Nimbus Sans"/>
                <a:cs typeface="Nimbus Sans"/>
              </a:defRPr>
            </a:lvl8pPr>
            <a:lvl9pPr>
              <a:buNone/>
              <a:defRPr sz="1725" b="0">
                <a:solidFill>
                  <a:srgbClr val="182C40"/>
                </a:solidFill>
                <a:latin typeface="Nimbus Sans"/>
                <a:ea typeface="Nimbus Sans"/>
                <a:cs typeface="Nimbus Sans"/>
              </a:defRPr>
            </a:lvl9pPr>
          </a:lstStyle>
          <a:p xmlns:a="http://schemas.openxmlformats.org/drawingml/2006/main">
            <a:pPr>
              <a:buNone/>
              <a:defRPr sz="1725" b="0">
                <a:solidFill>
                  <a:srgbClr val="182C40"/>
                </a:solidFill>
                <a:latin typeface="Nimbus Sans"/>
                <a:ea typeface="Nimbus Sans"/>
                <a:cs typeface="Nimbus Sans"/>
              </a:defRPr>
            </a:pPr>
            <a:r>
              <a:rPr sz="1725" b="0">
                <a:solidFill>
                  <a:srgbClr val="182C40"/>
                </a:solidFill>
                <a:latin typeface="Nimbus Sans"/>
                <a:ea typeface="Nimbus Sans"/>
                <a:cs typeface="Nimbus Sans"/>
              </a:rPr>
              <a:t>The source log and assumptions register are initialised. Use the same source names and question topics across files. Every numerical input needs a dated source or an explicit assumption.</a:t>
            </a:r>
          </a:p>
        </p:txBody>
      </p:sp>
      <p:sp>
        <p:nvSpPr>
          <p:cNvPr id="14" name="text-12">
            <a:extLst xmlns:a="http://schemas.openxmlformats.org/drawingml/2006/main">
              <a:ext uri="{FF2B5EF4-FFF2-40B4-BE49-F238E27FC236}">
                <a16:creationId xmlns:a16="http://schemas.microsoft.com/office/drawing/2014/main" id="{5E1DD27A-E155-42A7-8140-E7D3991C6075}"/>
              </a:ext>
            </a:extLst>
          </p:cNvPr>
          <p:cNvSpPr>
            <a:spLocks xmlns:a="http://schemas.openxmlformats.org/drawingml/2006/main" noGrp="1"/>
          </p:cNvSpPr>
          <p:nvPr/>
        </p:nvSpPr>
        <p:spPr>
          <a:xfrm xmlns:a="http://schemas.openxmlformats.org/drawingml/2006/main">
            <a:off x="571500" y="7705725"/>
            <a:ext cx="1409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52677A"/>
                </a:solidFill>
                <a:latin typeface="Nimbus Sans"/>
                <a:ea typeface="Nimbus Sans"/>
                <a:cs typeface="Nimbus Sans"/>
              </a:defRPr>
            </a:defPPr>
            <a:lvl1pPr>
              <a:buNone/>
              <a:defRPr sz="1425" b="0">
                <a:solidFill>
                  <a:srgbClr val="52677A"/>
                </a:solidFill>
                <a:latin typeface="Nimbus Sans"/>
                <a:ea typeface="Nimbus Sans"/>
                <a:cs typeface="Nimbus Sans"/>
              </a:defRPr>
            </a:lvl1pPr>
            <a:lvl2pPr>
              <a:buNone/>
              <a:defRPr sz="1425" b="0">
                <a:solidFill>
                  <a:srgbClr val="52677A"/>
                </a:solidFill>
                <a:latin typeface="Nimbus Sans"/>
                <a:ea typeface="Nimbus Sans"/>
                <a:cs typeface="Nimbus Sans"/>
              </a:defRPr>
            </a:lvl2pPr>
            <a:lvl3pPr>
              <a:buNone/>
              <a:defRPr sz="1425" b="0">
                <a:solidFill>
                  <a:srgbClr val="52677A"/>
                </a:solidFill>
                <a:latin typeface="Nimbus Sans"/>
                <a:ea typeface="Nimbus Sans"/>
                <a:cs typeface="Nimbus Sans"/>
              </a:defRPr>
            </a:lvl3pPr>
            <a:lvl4pPr>
              <a:buNone/>
              <a:defRPr sz="1425" b="0">
                <a:solidFill>
                  <a:srgbClr val="52677A"/>
                </a:solidFill>
                <a:latin typeface="Nimbus Sans"/>
                <a:ea typeface="Nimbus Sans"/>
                <a:cs typeface="Nimbus Sans"/>
              </a:defRPr>
            </a:lvl4pPr>
            <a:lvl5pPr>
              <a:buNone/>
              <a:defRPr sz="1425" b="0">
                <a:solidFill>
                  <a:srgbClr val="52677A"/>
                </a:solidFill>
                <a:latin typeface="Nimbus Sans"/>
                <a:ea typeface="Nimbus Sans"/>
                <a:cs typeface="Nimbus Sans"/>
              </a:defRPr>
            </a:lvl5pPr>
            <a:lvl6pPr>
              <a:buNone/>
              <a:defRPr sz="1425" b="0">
                <a:solidFill>
                  <a:srgbClr val="52677A"/>
                </a:solidFill>
                <a:latin typeface="Nimbus Sans"/>
                <a:ea typeface="Nimbus Sans"/>
                <a:cs typeface="Nimbus Sans"/>
              </a:defRPr>
            </a:lvl6pPr>
            <a:lvl7pPr>
              <a:buNone/>
              <a:defRPr sz="1425" b="0">
                <a:solidFill>
                  <a:srgbClr val="52677A"/>
                </a:solidFill>
                <a:latin typeface="Nimbus Sans"/>
                <a:ea typeface="Nimbus Sans"/>
                <a:cs typeface="Nimbus Sans"/>
              </a:defRPr>
            </a:lvl7pPr>
            <a:lvl8pPr>
              <a:buNone/>
              <a:defRPr sz="1425" b="0">
                <a:solidFill>
                  <a:srgbClr val="52677A"/>
                </a:solidFill>
                <a:latin typeface="Nimbus Sans"/>
                <a:ea typeface="Nimbus Sans"/>
                <a:cs typeface="Nimbus Sans"/>
              </a:defRPr>
            </a:lvl8pPr>
            <a:lvl9pPr>
              <a:buNone/>
              <a:defRPr sz="1425" b="0">
                <a:solidFill>
                  <a:srgbClr val="52677A"/>
                </a:solidFill>
                <a:latin typeface="Nimbus Sans"/>
                <a:ea typeface="Nimbus Sans"/>
                <a:cs typeface="Nimbus Sans"/>
              </a:defRPr>
            </a:lvl9pPr>
          </a:lstStyle>
          <a:p xmlns:a="http://schemas.openxmlformats.org/drawingml/2006/main">
            <a:pPr>
              <a:buNone/>
              <a:defRPr sz="1425" b="0">
                <a:solidFill>
                  <a:srgbClr val="52677A"/>
                </a:solidFill>
                <a:latin typeface="Nimbus Sans"/>
                <a:ea typeface="Nimbus Sans"/>
                <a:cs typeface="Nimbus Sans"/>
              </a:defRPr>
            </a:pPr>
            <a:r>
              <a:rPr sz="1425" b="0">
                <a:solidFill>
                  <a:srgbClr val="52677A"/>
                </a:solidFill>
                <a:latin typeface="Nimbus Sans"/>
                <a:ea typeface="Nimbus Sans"/>
                <a:cs typeface="Nimbus Sans"/>
              </a:rPr>
              <a:t>Public evidence is the default. External interviews require prior written approval. Synthetic pilot data tests the dashboard only.</a:t>
            </a:r>
          </a:p>
        </p:txBody>
      </p:sp>
    </p:spTree>
    <p:extLst>
      <p:ext uri="{BB962C8B-B14F-4D97-AF65-F5344CB8AC3E}">
        <p14:creationId xmlns:p14="http://schemas.microsoft.com/office/powerpoint/2010/main" val="11738887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2026-10-27T17:33:56.5350000Z</dcterms:created>
  <dcterms:modified xsi:type="dcterms:W3CDTF">2026-10-27T17:33:56.5350000Z</dcterms:modified>
</coreProperties>
</file>